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</ns0:sldIdLst>
  <ns0:sldSz cx="12192000" cy="6858000" type="screen4x3"/>
  <ns0:notesSz cx="6858000" cy="9144000"/>
  <ns0:embeddedFontLst>
    <ns0:embeddedFont>
      <ns0:font typeface="Inter"/>
      <ns0:bold ns1:id="rIdFont17"/>
      <ns0:regular ns1:id="rIdFont18"/>
    </ns0:embeddedFont>
    <ns0:embeddedFont>
      <ns0:font typeface="Playfair Display"/>
      <ns0:italic ns1:id="rIdFont19"/>
      <ns0:bold ns1:id="rIdFont2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Font17" Type="http://schemas.openxmlformats.org/officeDocument/2006/relationships/font" Target="fonts/37340869-34c1-4543-839b-e434d0209f0d.fntdata" /><ns0:Relationship Id="rIdFont18" Type="http://schemas.openxmlformats.org/officeDocument/2006/relationships/font" Target="fonts/59daf081-ff5f-4bf3-a24c-c3474ba7a46c.fntdata" /><ns0:Relationship Id="rIdFont19" Type="http://schemas.openxmlformats.org/officeDocument/2006/relationships/font" Target="fonts/f2d27229-67f0-488d-b4de-d79839c5720a.fntdata" /><ns0:Relationship Id="rIdFont20" Type="http://schemas.openxmlformats.org/officeDocument/2006/relationships/font" Target="fonts/6310315c-aa80-4545-bba1-a7032d88eca7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C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09600" y="4659510"/>
            <a:ext cx="609600" cy="381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2160389"/>
            <a:ext cx="9525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ADE80"/>
                </a:solidFill>
                <a:latin typeface="Inter"/>
              </a:rPr>
              <a:t>AI FOR GOOD HACKATHON SUBMISSION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579489"/>
            <a:ext cx="10001250" cy="754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b="1" sz="5400" i="0" u="none">
                <a:solidFill>
                  <a:srgbClr val="FAFAF9"/>
                </a:solidFill>
                <a:latin typeface="Playfair Display"/>
              </a:rPr>
              <a:t>The Price of "New"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562350"/>
            <a:ext cx="58102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D6D3D1"/>
                </a:solidFill>
                <a:latin typeface="Inter"/>
              </a:rPr>
              <a:t>A 30-second generative film exposing the hidden environmental cost of fast fashion.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1800225"/>
            <a:ext cx="10972800" cy="44481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00225"/>
            <a:ext cx="10972800" cy="4448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3567112"/>
            <a:ext cx="9144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60960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C1917"/>
                </a:solidFill>
                <a:latin typeface="Playfair Display"/>
              </a:rPr>
              <a:t>The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2192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7534E"/>
                </a:solidFill>
                <a:latin typeface="Inter"/>
              </a:rPr>
              <a:t>Working 30-second short film generated via ComfyUI.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01800" y="4543425"/>
            <a:ext cx="381000" cy="1905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05351" y="4543425"/>
            <a:ext cx="381000" cy="1905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08901" y="4543425"/>
            <a:ext cx="381000" cy="1905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381000" y="1914525"/>
            <a:ext cx="12954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B91C1C"/>
                </a:solidFill>
                <a:latin typeface="Inter"/>
              </a:rPr>
              <a:t>PROBLEM 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381000" y="2257425"/>
            <a:ext cx="129540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1C1917"/>
                </a:solidFill>
                <a:latin typeface="Playfair Display"/>
              </a:rPr>
              <a:t>The true cost of the fashion industry.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80269" y="3629025"/>
            <a:ext cx="2024062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1C1917"/>
                </a:solidFill>
                <a:latin typeface="Inter"/>
              </a:rPr>
              <a:t>10%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7597" y="4714875"/>
            <a:ext cx="286940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57534E"/>
                </a:solidFill>
                <a:latin typeface="Inter"/>
              </a:rPr>
              <a:t>Global carbon emissions.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2148" y="3629025"/>
            <a:ext cx="2107406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1C1917"/>
                </a:solidFill>
                <a:latin typeface="Inter"/>
              </a:rPr>
              <a:t>92M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4694" y="4714875"/>
            <a:ext cx="326231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57534E"/>
                </a:solidFill>
                <a:latin typeface="Inter"/>
              </a:rPr>
              <a:t>Tons of annual textile waste.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6135" y="3629025"/>
            <a:ext cx="2726531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1C1917"/>
                </a:solidFill>
                <a:latin typeface="Inter"/>
              </a:rPr>
              <a:t>2,700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8276" y="4714875"/>
            <a:ext cx="27622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57534E"/>
                </a:solidFill>
                <a:latin typeface="Inter"/>
              </a:rPr>
              <a:t>Liters of water per shirt.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1876425"/>
            <a:ext cx="10972800" cy="1590675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48100"/>
            <a:ext cx="3505200" cy="1676400"/>
          </a:xfrm>
          <a:prstGeom prst="rect">
            <a:avLst/>
          </a:prstGeom>
          <a:noFill/>
          <a:ln w="9525">
            <a:solidFill>
              <a:srgbClr val="D6D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43400" y="3848100"/>
            <a:ext cx="3505200" cy="1676400"/>
          </a:xfrm>
          <a:prstGeom prst="rect">
            <a:avLst/>
          </a:prstGeom>
          <a:noFill/>
          <a:ln w="9525">
            <a:solidFill>
              <a:srgbClr val="D6D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77200" y="3848100"/>
            <a:ext cx="3505200" cy="1676400"/>
          </a:xfrm>
          <a:prstGeom prst="rect">
            <a:avLst/>
          </a:prstGeom>
          <a:noFill/>
          <a:ln w="9525">
            <a:solidFill>
              <a:srgbClr val="D6D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C1917"/>
                </a:solidFill>
                <a:latin typeface="Playfair Display"/>
              </a:rPr>
              <a:t>SDG Alignment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2192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7534E"/>
                </a:solidFill>
                <a:latin typeface="Inter"/>
              </a:rPr>
              <a:t>Addressing systemic issues across multiple goals.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2257425"/>
            <a:ext cx="1019175" cy="828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5400" i="0" u="none">
                <a:solidFill>
                  <a:srgbClr val="FFFFFF"/>
                </a:solidFill>
                <a:latin typeface="Inter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28825" y="2314575"/>
            <a:ext cx="6925865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FFFFF"/>
                </a:solidFill>
                <a:latin typeface="Playfair Display"/>
              </a:rPr>
              <a:t>Climate Action (Primary)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8825" y="2800350"/>
            <a:ext cx="659606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BBF7D0"/>
                </a:solidFill>
                <a:latin typeface="Inter"/>
              </a:rPr>
              <a:t>Directly challenging the emission-heavy production cycle.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162425"/>
            <a:ext cx="3595687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66534"/>
                </a:solidFill>
                <a:latin typeface="Inter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4686300"/>
            <a:ext cx="3775471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C1917"/>
                </a:solidFill>
                <a:latin typeface="Playfair Display"/>
              </a:rPr>
              <a:t>Responsible Consumption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5019675"/>
            <a:ext cx="35956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57534E"/>
                </a:solidFill>
                <a:latin typeface="Inter"/>
              </a:rPr>
              <a:t>Combating over-purchasing habits.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7725" y="4162425"/>
            <a:ext cx="3595687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66534"/>
                </a:solidFill>
                <a:latin typeface="Inter"/>
              </a:rPr>
              <a:t>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7725" y="4686300"/>
            <a:ext cx="3775471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C1917"/>
                </a:solidFill>
                <a:latin typeface="Playfair Display"/>
              </a:rPr>
              <a:t>Decent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725" y="5019675"/>
            <a:ext cx="35956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57534E"/>
                </a:solidFill>
                <a:latin typeface="Inter"/>
              </a:rPr>
              <a:t>Highlighting hidden human costs.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525" y="4162425"/>
            <a:ext cx="3595687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66534"/>
                </a:solidFill>
                <a:latin typeface="Inter"/>
              </a:rPr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525" y="4686300"/>
            <a:ext cx="3775471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C1917"/>
                </a:solidFill>
                <a:latin typeface="Playfair Display"/>
              </a:rPr>
              <a:t>Life on Land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1525" y="5019675"/>
            <a:ext cx="35956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57534E"/>
                </a:solidFill>
                <a:latin typeface="Inter"/>
              </a:rPr>
              <a:t>Addressing physical textile waste.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743325"/>
            <a:ext cx="133350" cy="152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124325"/>
            <a:ext cx="133350" cy="152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505325"/>
            <a:ext cx="133350" cy="152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-381000" y="2009775"/>
            <a:ext cx="12954000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1C1917"/>
                </a:solidFill>
                <a:latin typeface="Playfair Display"/>
              </a:rPr>
              <a:t>Defining the Viewer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124200"/>
            <a:ext cx="6594574" cy="352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66534"/>
                </a:solidFill>
                <a:latin typeface="Playfair Display"/>
              </a:rPr>
              <a:t>Target Audience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7962" y="3124200"/>
            <a:ext cx="5634037" cy="352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B91C1C"/>
                </a:solidFill>
                <a:latin typeface="Playfair Display"/>
              </a:rPr>
              <a:t>Current Belief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7962" y="3705225"/>
            <a:ext cx="5119687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1" u="none">
                <a:solidFill>
                  <a:srgbClr val="57534E"/>
                </a:solidFill>
                <a:latin typeface="Playfair Display"/>
              </a:rPr>
              <a:t>"Buying new is cheap, harmless, and necessary to stay relevant."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7962" y="4573785"/>
            <a:ext cx="56340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Inter"/>
              </a:rPr>
              <a:t>*Film intentionally excludes established minimalists.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5350" y="3705225"/>
            <a:ext cx="5994796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1C1917"/>
                </a:solidFill>
                <a:latin typeface="Inter"/>
              </a:rPr>
              <a:t>Young, trend-conscious consumers.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5350" y="4086225"/>
            <a:ext cx="5994796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1C1917"/>
                </a:solidFill>
                <a:latin typeface="Inter"/>
              </a:rPr>
              <a:t>Frequent buyers of fast fashion.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350" y="4467225"/>
            <a:ext cx="5994796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1C1917"/>
                </a:solidFill>
                <a:latin typeface="Inter"/>
              </a:rPr>
              <a:t>Social media scrollers.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3181350"/>
            <a:ext cx="28575" cy="228600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638550"/>
            <a:ext cx="28575" cy="228600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4095750"/>
            <a:ext cx="28575" cy="457200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2076450"/>
            <a:ext cx="6858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66534"/>
                </a:solidFill>
                <a:latin typeface="Inter"/>
              </a:rPr>
              <a:t>TECHNICAL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419350"/>
            <a:ext cx="72009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1C1917"/>
                </a:solidFill>
                <a:latin typeface="Playfair Display"/>
              </a:rPr>
              <a:t>Node-based Stable Diffusion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181350"/>
            <a:ext cx="6705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57534E"/>
                </a:solidFill>
                <a:latin typeface="Inter"/>
              </a:rPr>
              <a:t>ComfyUI Pipeline:</a:t>
            </a:r>
            <a:r>
              <a:rPr b="0" sz="1500" i="0" u="none">
                <a:solidFill>
                  <a:srgbClr val="57534E"/>
                </a:solidFill>
                <a:latin typeface="Inter"/>
              </a:rPr>
              <a:t> Full JSON workflow submitted.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638550"/>
            <a:ext cx="6705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57534E"/>
                </a:solidFill>
                <a:latin typeface="Inter"/>
              </a:rPr>
              <a:t>Shot List:</a:t>
            </a:r>
            <a:r>
              <a:rPr b="0" sz="1500" i="0" u="none">
                <a:solidFill>
                  <a:srgbClr val="57534E"/>
                </a:solidFill>
                <a:latin typeface="Inter"/>
              </a:rPr>
              <a:t> 8 distinct generated sequences.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095750"/>
            <a:ext cx="5429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57534E"/>
                </a:solidFill>
                <a:latin typeface="Inter"/>
              </a:rPr>
              <a:t>Visual Arc:</a:t>
            </a:r>
            <a:r>
              <a:rPr b="0" sz="1500" i="0" u="none">
                <a:solidFill>
                  <a:srgbClr val="57534E"/>
                </a:solidFill>
                <a:latin typeface="Inter"/>
              </a:rPr>
              <a:t> Transitioning from retail glamour to landfill reality.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900362"/>
            <a:ext cx="3454449" cy="21717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8849" y="2900362"/>
            <a:ext cx="3454449" cy="21717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8099" y="2900362"/>
            <a:ext cx="3454449" cy="21717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400" y="3290887"/>
            <a:ext cx="2667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700" y="3290887"/>
            <a:ext cx="2286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2849" y="3290887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-381000" y="1785937"/>
            <a:ext cx="12954000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1C1917"/>
                </a:solidFill>
                <a:latin typeface="Playfair Display"/>
              </a:rPr>
              <a:t>Why this format works.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2888" y="3824287"/>
            <a:ext cx="1787723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1C1917"/>
                </a:solidFill>
                <a:latin typeface="Playfair Display"/>
              </a:rPr>
              <a:t>Visual Shock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950" y="4281487"/>
            <a:ext cx="334174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57534E"/>
                </a:solidFill>
                <a:latin typeface="Inter"/>
              </a:rPr>
              <a:t>Juxtaposes retail beauty with environmental destruction.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39592" y="3824287"/>
            <a:ext cx="2512814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1C1917"/>
                </a:solidFill>
                <a:latin typeface="Playfair Display"/>
              </a:rPr>
              <a:t>Format Alignment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5199" y="4281487"/>
            <a:ext cx="334174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57534E"/>
                </a:solidFill>
                <a:latin typeface="Inter"/>
              </a:rPr>
              <a:t>Designed to disrupt short-form social media scrolling.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86341" y="3824287"/>
            <a:ext cx="2537817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1C1917"/>
                </a:solidFill>
                <a:latin typeface="Playfair Display"/>
              </a:rPr>
              <a:t>Emotional Anchor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4449" y="4281487"/>
            <a:ext cx="334174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57534E"/>
                </a:solidFill>
                <a:latin typeface="Inter"/>
              </a:rPr>
              <a:t>Making abstract climate data feel immediate and personal.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0" y="1380232"/>
            <a:ext cx="5715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470796" y="2142232"/>
            <a:ext cx="3250406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1C1917"/>
                </a:solidFill>
                <a:latin typeface="Playfair Display"/>
              </a:rPr>
              <a:t>Ethical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009007"/>
            <a:ext cx="9906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B91C1C"/>
                </a:solidFill>
                <a:latin typeface="Playfair Display"/>
              </a:rPr>
              <a:t>The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466207"/>
            <a:ext cx="771525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57534E"/>
                </a:solidFill>
                <a:latin typeface="Inter"/>
              </a:rPr>
              <a:t>Generated climate imagery is powerful, creating a risk of misleading viewers into believing synthetic events are real documentaries.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433887"/>
            <a:ext cx="9906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66534"/>
                </a:solidFill>
                <a:latin typeface="Playfair Display"/>
              </a:rPr>
              <a:t>The Mitigation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891087"/>
            <a:ext cx="771525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57534E"/>
                </a:solidFill>
                <a:latin typeface="Inter"/>
              </a:rPr>
              <a:t>Maintaining a highly stylized visual aesthetic and providing clear, upfront disclosure of AI generation.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83110" y="2667000"/>
            <a:ext cx="6225778" cy="1019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6000" i="0" u="none">
                <a:solidFill>
                  <a:srgbClr val="FAFAF9"/>
                </a:solidFill>
                <a:latin typeface="Playfair Display"/>
              </a:rPr>
              <a:t>Wear it again.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14750" y="3914775"/>
            <a:ext cx="47625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A8A29E"/>
                </a:solidFill>
                <a:latin typeface="Inter"/>
              </a:rPr>
              <a:t>Buy less. Choose well. Make it last.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7630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478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38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638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4098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4098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19175"/>
            <a:ext cx="857250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90700"/>
            <a:ext cx="857250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95562"/>
            <a:ext cx="857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2037754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Playfair Display"/>
              </a:rPr>
              <a:t>Image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6875" y="1062037"/>
            <a:ext cx="100845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https://images.stockcake.com/public/b/f/d/bfd6ca91-bf2f-4bfe-ae09-ec976fae15ca_medium/civilization-s-rusted-remains-stockcake.jpg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6875" y="1262062"/>
            <a:ext cx="21193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stockcake.com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1833562"/>
            <a:ext cx="6334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https://aestheticamagazine.com/wp-content/uploads/2022/08/007_Girard_90349B.jpg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6875" y="2033587"/>
            <a:ext cx="297656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aestheticamagazine.com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2562225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https://substackcdn.com/image/fetch/$s_!K_Gu!,f_auto,q_auto:good,fl_progressive:steep/https%3A%2F%2Fsubstack-post-media.s3.amazonaws.com%2Fpublic%2Fimages%2F2e06388b-269e-42d2-ac87-97fecc3c9323_800x443.gif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2914650"/>
            <a:ext cx="179784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fuser.studio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