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A3E250-339C-4EB1-B463-6D407F2D1063}" v="19" dt="2026-09-10T14:25:08.9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9" d="100"/>
          <a:sy n="159" d="100"/>
        </p:scale>
        <p:origin x="33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bër Deda (24123722)" userId="82020293-ce95-4489-9746-9af268362182" providerId="ADAL" clId="{AC35A373-FD11-4BF7-B329-9C76BE4DAEFF}"/>
    <pc:docChg chg="undo custSel modSld">
      <pc:chgData name="Arbër Deda (24123722)" userId="82020293-ce95-4489-9746-9af268362182" providerId="ADAL" clId="{AC35A373-FD11-4BF7-B329-9C76BE4DAEFF}" dt="2026-09-10T14:25:28.417" v="610" actId="207"/>
      <pc:docMkLst>
        <pc:docMk/>
      </pc:docMkLst>
      <pc:sldChg chg="modSp mod">
        <pc:chgData name="Arbër Deda (24123722)" userId="82020293-ce95-4489-9746-9af268362182" providerId="ADAL" clId="{AC35A373-FD11-4BF7-B329-9C76BE4DAEFF}" dt="2026-09-10T14:18:53.693" v="473" actId="27636"/>
        <pc:sldMkLst>
          <pc:docMk/>
          <pc:sldMk cId="0" sldId="257"/>
        </pc:sldMkLst>
        <pc:spChg chg="mod">
          <ac:chgData name="Arbër Deda (24123722)" userId="82020293-ce95-4489-9746-9af268362182" providerId="ADAL" clId="{AC35A373-FD11-4BF7-B329-9C76BE4DAEFF}" dt="2026-09-10T14:13:46.065" v="0" actId="20577"/>
          <ac:spMkLst>
            <pc:docMk/>
            <pc:sldMk cId="0" sldId="257"/>
            <ac:spMk id="5" creationId="{00000000-0000-0000-0000-000000000000}"/>
          </ac:spMkLst>
        </pc:spChg>
        <pc:spChg chg="mod">
          <ac:chgData name="Arbër Deda (24123722)" userId="82020293-ce95-4489-9746-9af268362182" providerId="ADAL" clId="{AC35A373-FD11-4BF7-B329-9C76BE4DAEFF}" dt="2026-09-10T14:18:53.691" v="472" actId="27636"/>
          <ac:spMkLst>
            <pc:docMk/>
            <pc:sldMk cId="0" sldId="257"/>
            <ac:spMk id="12" creationId="{00000000-0000-0000-0000-000000000000}"/>
          </ac:spMkLst>
        </pc:spChg>
        <pc:spChg chg="mod">
          <ac:chgData name="Arbër Deda (24123722)" userId="82020293-ce95-4489-9746-9af268362182" providerId="ADAL" clId="{AC35A373-FD11-4BF7-B329-9C76BE4DAEFF}" dt="2026-09-10T14:18:53.693" v="473" actId="27636"/>
          <ac:spMkLst>
            <pc:docMk/>
            <pc:sldMk cId="0" sldId="257"/>
            <ac:spMk id="16" creationId="{00000000-0000-0000-0000-000000000000}"/>
          </ac:spMkLst>
        </pc:spChg>
        <pc:spChg chg="mod">
          <ac:chgData name="Arbër Deda (24123722)" userId="82020293-ce95-4489-9746-9af268362182" providerId="ADAL" clId="{AC35A373-FD11-4BF7-B329-9C76BE4DAEFF}" dt="2026-09-10T14:14:00.381" v="4" actId="20577"/>
          <ac:spMkLst>
            <pc:docMk/>
            <pc:sldMk cId="0" sldId="257"/>
            <ac:spMk id="27" creationId="{00000000-0000-0000-0000-000000000000}"/>
          </ac:spMkLst>
        </pc:spChg>
      </pc:sldChg>
      <pc:sldChg chg="modSp mod">
        <pc:chgData name="Arbër Deda (24123722)" userId="82020293-ce95-4489-9746-9af268362182" providerId="ADAL" clId="{AC35A373-FD11-4BF7-B329-9C76BE4DAEFF}" dt="2026-09-10T14:18:53.702" v="475" actId="27636"/>
        <pc:sldMkLst>
          <pc:docMk/>
          <pc:sldMk cId="0" sldId="258"/>
        </pc:sldMkLst>
        <pc:spChg chg="mod">
          <ac:chgData name="Arbër Deda (24123722)" userId="82020293-ce95-4489-9746-9af268362182" providerId="ADAL" clId="{AC35A373-FD11-4BF7-B329-9C76BE4DAEFF}" dt="2026-09-10T14:18:53.700" v="474" actId="27636"/>
          <ac:spMkLst>
            <pc:docMk/>
            <pc:sldMk cId="0" sldId="258"/>
            <ac:spMk id="16" creationId="{00000000-0000-0000-0000-000000000000}"/>
          </ac:spMkLst>
        </pc:spChg>
        <pc:spChg chg="mod">
          <ac:chgData name="Arbër Deda (24123722)" userId="82020293-ce95-4489-9746-9af268362182" providerId="ADAL" clId="{AC35A373-FD11-4BF7-B329-9C76BE4DAEFF}" dt="2026-09-10T14:18:53.702" v="475" actId="27636"/>
          <ac:spMkLst>
            <pc:docMk/>
            <pc:sldMk cId="0" sldId="258"/>
            <ac:spMk id="31" creationId="{00000000-0000-0000-0000-000000000000}"/>
          </ac:spMkLst>
        </pc:spChg>
      </pc:sldChg>
      <pc:sldChg chg="modSp mod">
        <pc:chgData name="Arbër Deda (24123722)" userId="82020293-ce95-4489-9746-9af268362182" providerId="ADAL" clId="{AC35A373-FD11-4BF7-B329-9C76BE4DAEFF}" dt="2026-09-10T14:18:11.056" v="444" actId="20577"/>
        <pc:sldMkLst>
          <pc:docMk/>
          <pc:sldMk cId="0" sldId="259"/>
        </pc:sldMkLst>
        <pc:spChg chg="mod">
          <ac:chgData name="Arbër Deda (24123722)" userId="82020293-ce95-4489-9746-9af268362182" providerId="ADAL" clId="{AC35A373-FD11-4BF7-B329-9C76BE4DAEFF}" dt="2026-09-10T14:15:43.652" v="117" actId="20577"/>
          <ac:spMkLst>
            <pc:docMk/>
            <pc:sldMk cId="0" sldId="259"/>
            <ac:spMk id="9" creationId="{00000000-0000-0000-0000-000000000000}"/>
          </ac:spMkLst>
        </pc:spChg>
        <pc:spChg chg="mod">
          <ac:chgData name="Arbër Deda (24123722)" userId="82020293-ce95-4489-9746-9af268362182" providerId="ADAL" clId="{AC35A373-FD11-4BF7-B329-9C76BE4DAEFF}" dt="2026-09-10T14:16:06.507" v="187" actId="20577"/>
          <ac:spMkLst>
            <pc:docMk/>
            <pc:sldMk cId="0" sldId="259"/>
            <ac:spMk id="12" creationId="{00000000-0000-0000-0000-000000000000}"/>
          </ac:spMkLst>
        </pc:spChg>
        <pc:spChg chg="mod">
          <ac:chgData name="Arbër Deda (24123722)" userId="82020293-ce95-4489-9746-9af268362182" providerId="ADAL" clId="{AC35A373-FD11-4BF7-B329-9C76BE4DAEFF}" dt="2026-09-10T14:17:32.117" v="364" actId="20577"/>
          <ac:spMkLst>
            <pc:docMk/>
            <pc:sldMk cId="0" sldId="259"/>
            <ac:spMk id="15" creationId="{00000000-0000-0000-0000-000000000000}"/>
          </ac:spMkLst>
        </pc:spChg>
        <pc:spChg chg="mod">
          <ac:chgData name="Arbër Deda (24123722)" userId="82020293-ce95-4489-9746-9af268362182" providerId="ADAL" clId="{AC35A373-FD11-4BF7-B329-9C76BE4DAEFF}" dt="2026-09-10T14:17:36.796" v="371" actId="20577"/>
          <ac:spMkLst>
            <pc:docMk/>
            <pc:sldMk cId="0" sldId="259"/>
            <ac:spMk id="17" creationId="{00000000-0000-0000-0000-000000000000}"/>
          </ac:spMkLst>
        </pc:spChg>
        <pc:spChg chg="mod">
          <ac:chgData name="Arbër Deda (24123722)" userId="82020293-ce95-4489-9746-9af268362182" providerId="ADAL" clId="{AC35A373-FD11-4BF7-B329-9C76BE4DAEFF}" dt="2026-09-10T14:17:51.395" v="429" actId="27636"/>
          <ac:spMkLst>
            <pc:docMk/>
            <pc:sldMk cId="0" sldId="259"/>
            <ac:spMk id="18" creationId="{00000000-0000-0000-0000-000000000000}"/>
          </ac:spMkLst>
        </pc:spChg>
        <pc:spChg chg="mod">
          <ac:chgData name="Arbër Deda (24123722)" userId="82020293-ce95-4489-9746-9af268362182" providerId="ADAL" clId="{AC35A373-FD11-4BF7-B329-9C76BE4DAEFF}" dt="2026-09-10T14:18:00.313" v="432" actId="113"/>
          <ac:spMkLst>
            <pc:docMk/>
            <pc:sldMk cId="0" sldId="259"/>
            <ac:spMk id="21" creationId="{00000000-0000-0000-0000-000000000000}"/>
          </ac:spMkLst>
        </pc:spChg>
        <pc:spChg chg="mod">
          <ac:chgData name="Arbër Deda (24123722)" userId="82020293-ce95-4489-9746-9af268362182" providerId="ADAL" clId="{AC35A373-FD11-4BF7-B329-9C76BE4DAEFF}" dt="2026-09-10T14:18:11.056" v="444" actId="20577"/>
          <ac:spMkLst>
            <pc:docMk/>
            <pc:sldMk cId="0" sldId="259"/>
            <ac:spMk id="22" creationId="{00000000-0000-0000-0000-000000000000}"/>
          </ac:spMkLst>
        </pc:spChg>
        <pc:spChg chg="mod">
          <ac:chgData name="Arbër Deda (24123722)" userId="82020293-ce95-4489-9746-9af268362182" providerId="ADAL" clId="{AC35A373-FD11-4BF7-B329-9C76BE4DAEFF}" dt="2026-09-10T14:18:06.450" v="436" actId="113"/>
          <ac:spMkLst>
            <pc:docMk/>
            <pc:sldMk cId="0" sldId="259"/>
            <ac:spMk id="23" creationId="{00000000-0000-0000-0000-000000000000}"/>
          </ac:spMkLst>
        </pc:spChg>
      </pc:sldChg>
      <pc:sldChg chg="modSp mod">
        <pc:chgData name="Arbër Deda (24123722)" userId="82020293-ce95-4489-9746-9af268362182" providerId="ADAL" clId="{AC35A373-FD11-4BF7-B329-9C76BE4DAEFF}" dt="2026-09-10T14:19:05.141" v="482"/>
        <pc:sldMkLst>
          <pc:docMk/>
          <pc:sldMk cId="0" sldId="260"/>
        </pc:sldMkLst>
        <pc:spChg chg="mod">
          <ac:chgData name="Arbër Deda (24123722)" userId="82020293-ce95-4489-9746-9af268362182" providerId="ADAL" clId="{AC35A373-FD11-4BF7-B329-9C76BE4DAEFF}" dt="2026-09-10T14:18:40.139" v="455" actId="20577"/>
          <ac:spMkLst>
            <pc:docMk/>
            <pc:sldMk cId="0" sldId="260"/>
            <ac:spMk id="13" creationId="{00000000-0000-0000-0000-000000000000}"/>
          </ac:spMkLst>
        </pc:spChg>
        <pc:spChg chg="mod">
          <ac:chgData name="Arbër Deda (24123722)" userId="82020293-ce95-4489-9746-9af268362182" providerId="ADAL" clId="{AC35A373-FD11-4BF7-B329-9C76BE4DAEFF}" dt="2026-09-10T14:18:57.981" v="478" actId="1076"/>
          <ac:spMkLst>
            <pc:docMk/>
            <pc:sldMk cId="0" sldId="260"/>
            <ac:spMk id="21" creationId="{00000000-0000-0000-0000-000000000000}"/>
          </ac:spMkLst>
        </pc:spChg>
        <pc:spChg chg="mod">
          <ac:chgData name="Arbër Deda (24123722)" userId="82020293-ce95-4489-9746-9af268362182" providerId="ADAL" clId="{AC35A373-FD11-4BF7-B329-9C76BE4DAEFF}" dt="2026-09-10T14:19:05.141" v="482"/>
          <ac:spMkLst>
            <pc:docMk/>
            <pc:sldMk cId="0" sldId="260"/>
            <ac:spMk id="24" creationId="{00000000-0000-0000-0000-000000000000}"/>
          </ac:spMkLst>
        </pc:spChg>
      </pc:sldChg>
      <pc:sldChg chg="addSp modSp mod">
        <pc:chgData name="Arbër Deda (24123722)" userId="82020293-ce95-4489-9746-9af268362182" providerId="ADAL" clId="{AC35A373-FD11-4BF7-B329-9C76BE4DAEFF}" dt="2026-09-10T14:23:39.182" v="590" actId="27636"/>
        <pc:sldMkLst>
          <pc:docMk/>
          <pc:sldMk cId="0" sldId="261"/>
        </pc:sldMkLst>
        <pc:spChg chg="mod">
          <ac:chgData name="Arbër Deda (24123722)" userId="82020293-ce95-4489-9746-9af268362182" providerId="ADAL" clId="{AC35A373-FD11-4BF7-B329-9C76BE4DAEFF}" dt="2026-09-10T14:20:19.580" v="518" actId="14100"/>
          <ac:spMkLst>
            <pc:docMk/>
            <pc:sldMk cId="0" sldId="261"/>
            <ac:spMk id="4" creationId="{00000000-0000-0000-0000-000000000000}"/>
          </ac:spMkLst>
        </pc:spChg>
        <pc:spChg chg="mod">
          <ac:chgData name="Arbër Deda (24123722)" userId="82020293-ce95-4489-9746-9af268362182" providerId="ADAL" clId="{AC35A373-FD11-4BF7-B329-9C76BE4DAEFF}" dt="2026-09-10T14:20:00.108" v="509" actId="1076"/>
          <ac:spMkLst>
            <pc:docMk/>
            <pc:sldMk cId="0" sldId="261"/>
            <ac:spMk id="5" creationId="{00000000-0000-0000-0000-000000000000}"/>
          </ac:spMkLst>
        </pc:spChg>
        <pc:spChg chg="mod">
          <ac:chgData name="Arbër Deda (24123722)" userId="82020293-ce95-4489-9746-9af268362182" providerId="ADAL" clId="{AC35A373-FD11-4BF7-B329-9C76BE4DAEFF}" dt="2026-09-10T14:22:43.891" v="573" actId="404"/>
          <ac:spMkLst>
            <pc:docMk/>
            <pc:sldMk cId="0" sldId="261"/>
            <ac:spMk id="6" creationId="{00000000-0000-0000-0000-000000000000}"/>
          </ac:spMkLst>
        </pc:spChg>
        <pc:spChg chg="mod">
          <ac:chgData name="Arbër Deda (24123722)" userId="82020293-ce95-4489-9746-9af268362182" providerId="ADAL" clId="{AC35A373-FD11-4BF7-B329-9C76BE4DAEFF}" dt="2026-09-10T14:20:04.521" v="511" actId="1076"/>
          <ac:spMkLst>
            <pc:docMk/>
            <pc:sldMk cId="0" sldId="261"/>
            <ac:spMk id="7" creationId="{00000000-0000-0000-0000-000000000000}"/>
          </ac:spMkLst>
        </pc:spChg>
        <pc:spChg chg="mod">
          <ac:chgData name="Arbër Deda (24123722)" userId="82020293-ce95-4489-9746-9af268362182" providerId="ADAL" clId="{AC35A373-FD11-4BF7-B329-9C76BE4DAEFF}" dt="2026-09-10T14:20:34.676" v="523" actId="1076"/>
          <ac:spMkLst>
            <pc:docMk/>
            <pc:sldMk cId="0" sldId="261"/>
            <ac:spMk id="8" creationId="{00000000-0000-0000-0000-000000000000}"/>
          </ac:spMkLst>
        </pc:spChg>
        <pc:spChg chg="mod">
          <ac:chgData name="Arbër Deda (24123722)" userId="82020293-ce95-4489-9746-9af268362182" providerId="ADAL" clId="{AC35A373-FD11-4BF7-B329-9C76BE4DAEFF}" dt="2026-09-10T14:20:28.599" v="520" actId="1076"/>
          <ac:spMkLst>
            <pc:docMk/>
            <pc:sldMk cId="0" sldId="261"/>
            <ac:spMk id="9" creationId="{00000000-0000-0000-0000-000000000000}"/>
          </ac:spMkLst>
        </pc:spChg>
        <pc:spChg chg="mod">
          <ac:chgData name="Arbër Deda (24123722)" userId="82020293-ce95-4489-9746-9af268362182" providerId="ADAL" clId="{AC35A373-FD11-4BF7-B329-9C76BE4DAEFF}" dt="2026-09-10T14:22:37.181" v="571" actId="404"/>
          <ac:spMkLst>
            <pc:docMk/>
            <pc:sldMk cId="0" sldId="261"/>
            <ac:spMk id="10" creationId="{00000000-0000-0000-0000-000000000000}"/>
          </ac:spMkLst>
        </pc:spChg>
        <pc:spChg chg="mod">
          <ac:chgData name="Arbër Deda (24123722)" userId="82020293-ce95-4489-9746-9af268362182" providerId="ADAL" clId="{AC35A373-FD11-4BF7-B329-9C76BE4DAEFF}" dt="2026-09-10T14:20:38.129" v="524" actId="1076"/>
          <ac:spMkLst>
            <pc:docMk/>
            <pc:sldMk cId="0" sldId="261"/>
            <ac:spMk id="11" creationId="{00000000-0000-0000-0000-000000000000}"/>
          </ac:spMkLst>
        </pc:spChg>
        <pc:spChg chg="mod">
          <ac:chgData name="Arbër Deda (24123722)" userId="82020293-ce95-4489-9746-9af268362182" providerId="ADAL" clId="{AC35A373-FD11-4BF7-B329-9C76BE4DAEFF}" dt="2026-09-10T14:20:41.777" v="525" actId="1076"/>
          <ac:spMkLst>
            <pc:docMk/>
            <pc:sldMk cId="0" sldId="261"/>
            <ac:spMk id="12" creationId="{00000000-0000-0000-0000-000000000000}"/>
          </ac:spMkLst>
        </pc:spChg>
        <pc:spChg chg="mod">
          <ac:chgData name="Arbër Deda (24123722)" userId="82020293-ce95-4489-9746-9af268362182" providerId="ADAL" clId="{AC35A373-FD11-4BF7-B329-9C76BE4DAEFF}" dt="2026-09-10T14:21:55.501" v="544" actId="20577"/>
          <ac:spMkLst>
            <pc:docMk/>
            <pc:sldMk cId="0" sldId="261"/>
            <ac:spMk id="13" creationId="{00000000-0000-0000-0000-000000000000}"/>
          </ac:spMkLst>
        </pc:spChg>
        <pc:spChg chg="mod">
          <ac:chgData name="Arbër Deda (24123722)" userId="82020293-ce95-4489-9746-9af268362182" providerId="ADAL" clId="{AC35A373-FD11-4BF7-B329-9C76BE4DAEFF}" dt="2026-09-10T14:22:51.783" v="575" actId="404"/>
          <ac:spMkLst>
            <pc:docMk/>
            <pc:sldMk cId="0" sldId="261"/>
            <ac:spMk id="14" creationId="{00000000-0000-0000-0000-000000000000}"/>
          </ac:spMkLst>
        </pc:spChg>
        <pc:spChg chg="mod">
          <ac:chgData name="Arbër Deda (24123722)" userId="82020293-ce95-4489-9746-9af268362182" providerId="ADAL" clId="{AC35A373-FD11-4BF7-B329-9C76BE4DAEFF}" dt="2026-09-10T14:21:28.457" v="528" actId="1076"/>
          <ac:spMkLst>
            <pc:docMk/>
            <pc:sldMk cId="0" sldId="261"/>
            <ac:spMk id="15" creationId="{00000000-0000-0000-0000-000000000000}"/>
          </ac:spMkLst>
        </pc:spChg>
        <pc:spChg chg="add mod">
          <ac:chgData name="Arbër Deda (24123722)" userId="82020293-ce95-4489-9746-9af268362182" providerId="ADAL" clId="{AC35A373-FD11-4BF7-B329-9C76BE4DAEFF}" dt="2026-09-10T14:21:45.279" v="532" actId="207"/>
          <ac:spMkLst>
            <pc:docMk/>
            <pc:sldMk cId="0" sldId="261"/>
            <ac:spMk id="21" creationId="{ED0C9CDD-2379-FAAC-5B1F-45EBA8E2FD43}"/>
          </ac:spMkLst>
        </pc:spChg>
        <pc:spChg chg="add mod">
          <ac:chgData name="Arbër Deda (24123722)" userId="82020293-ce95-4489-9746-9af268362182" providerId="ADAL" clId="{AC35A373-FD11-4BF7-B329-9C76BE4DAEFF}" dt="2026-09-10T14:23:00.545" v="584" actId="20577"/>
          <ac:spMkLst>
            <pc:docMk/>
            <pc:sldMk cId="0" sldId="261"/>
            <ac:spMk id="23" creationId="{3E4DE519-3980-2D49-5C08-1221B0B1CA62}"/>
          </ac:spMkLst>
        </pc:spChg>
        <pc:spChg chg="add mod">
          <ac:chgData name="Arbër Deda (24123722)" userId="82020293-ce95-4489-9746-9af268362182" providerId="ADAL" clId="{AC35A373-FD11-4BF7-B329-9C76BE4DAEFF}" dt="2026-09-10T14:23:24.005" v="586" actId="20577"/>
          <ac:spMkLst>
            <pc:docMk/>
            <pc:sldMk cId="0" sldId="261"/>
            <ac:spMk id="25" creationId="{6ADB4916-9A4C-FC30-94E2-3929E066EDEB}"/>
          </ac:spMkLst>
        </pc:spChg>
        <pc:spChg chg="add mod">
          <ac:chgData name="Arbër Deda (24123722)" userId="82020293-ce95-4489-9746-9af268362182" providerId="ADAL" clId="{AC35A373-FD11-4BF7-B329-9C76BE4DAEFF}" dt="2026-09-10T14:23:39.182" v="590" actId="27636"/>
          <ac:spMkLst>
            <pc:docMk/>
            <pc:sldMk cId="0" sldId="261"/>
            <ac:spMk id="27" creationId="{D0C41857-9637-0DA8-B1F3-EC0C03B3DB57}"/>
          </ac:spMkLst>
        </pc:spChg>
      </pc:sldChg>
      <pc:sldChg chg="modSp mod">
        <pc:chgData name="Arbër Deda (24123722)" userId="82020293-ce95-4489-9746-9af268362182" providerId="ADAL" clId="{AC35A373-FD11-4BF7-B329-9C76BE4DAEFF}" dt="2026-09-10T14:25:28.417" v="610" actId="207"/>
        <pc:sldMkLst>
          <pc:docMk/>
          <pc:sldMk cId="0" sldId="262"/>
        </pc:sldMkLst>
        <pc:spChg chg="mod">
          <ac:chgData name="Arbër Deda (24123722)" userId="82020293-ce95-4489-9746-9af268362182" providerId="ADAL" clId="{AC35A373-FD11-4BF7-B329-9C76BE4DAEFF}" dt="2026-09-10T14:24:24.676" v="593" actId="207"/>
          <ac:spMkLst>
            <pc:docMk/>
            <pc:sldMk cId="0" sldId="262"/>
            <ac:spMk id="6" creationId="{00000000-0000-0000-0000-000000000000}"/>
          </ac:spMkLst>
        </pc:spChg>
        <pc:spChg chg="mod">
          <ac:chgData name="Arbër Deda (24123722)" userId="82020293-ce95-4489-9746-9af268362182" providerId="ADAL" clId="{AC35A373-FD11-4BF7-B329-9C76BE4DAEFF}" dt="2026-09-10T14:24:31.512" v="594"/>
          <ac:spMkLst>
            <pc:docMk/>
            <pc:sldMk cId="0" sldId="262"/>
            <ac:spMk id="7" creationId="{00000000-0000-0000-0000-000000000000}"/>
          </ac:spMkLst>
        </pc:spChg>
        <pc:spChg chg="mod">
          <ac:chgData name="Arbër Deda (24123722)" userId="82020293-ce95-4489-9746-9af268362182" providerId="ADAL" clId="{AC35A373-FD11-4BF7-B329-9C76BE4DAEFF}" dt="2026-09-10T14:25:16.298" v="607" actId="207"/>
          <ac:spMkLst>
            <pc:docMk/>
            <pc:sldMk cId="0" sldId="262"/>
            <ac:spMk id="10" creationId="{00000000-0000-0000-0000-000000000000}"/>
          </ac:spMkLst>
        </pc:spChg>
        <pc:spChg chg="mod">
          <ac:chgData name="Arbër Deda (24123722)" userId="82020293-ce95-4489-9746-9af268362182" providerId="ADAL" clId="{AC35A373-FD11-4BF7-B329-9C76BE4DAEFF}" dt="2026-09-10T14:24:35.480" v="595"/>
          <ac:spMkLst>
            <pc:docMk/>
            <pc:sldMk cId="0" sldId="262"/>
            <ac:spMk id="11" creationId="{00000000-0000-0000-0000-000000000000}"/>
          </ac:spMkLst>
        </pc:spChg>
        <pc:spChg chg="mod">
          <ac:chgData name="Arbër Deda (24123722)" userId="82020293-ce95-4489-9746-9af268362182" providerId="ADAL" clId="{AC35A373-FD11-4BF7-B329-9C76BE4DAEFF}" dt="2026-09-10T14:25:11.891" v="606" actId="207"/>
          <ac:spMkLst>
            <pc:docMk/>
            <pc:sldMk cId="0" sldId="262"/>
            <ac:spMk id="14" creationId="{00000000-0000-0000-0000-000000000000}"/>
          </ac:spMkLst>
        </pc:spChg>
        <pc:spChg chg="mod">
          <ac:chgData name="Arbër Deda (24123722)" userId="82020293-ce95-4489-9746-9af268362182" providerId="ADAL" clId="{AC35A373-FD11-4BF7-B329-9C76BE4DAEFF}" dt="2026-09-10T14:24:38.610" v="596"/>
          <ac:spMkLst>
            <pc:docMk/>
            <pc:sldMk cId="0" sldId="262"/>
            <ac:spMk id="15" creationId="{00000000-0000-0000-0000-000000000000}"/>
          </ac:spMkLst>
        </pc:spChg>
        <pc:spChg chg="mod">
          <ac:chgData name="Arbër Deda (24123722)" userId="82020293-ce95-4489-9746-9af268362182" providerId="ADAL" clId="{AC35A373-FD11-4BF7-B329-9C76BE4DAEFF}" dt="2026-09-10T14:25:26.424" v="609" actId="207"/>
          <ac:spMkLst>
            <pc:docMk/>
            <pc:sldMk cId="0" sldId="262"/>
            <ac:spMk id="18" creationId="{00000000-0000-0000-0000-000000000000}"/>
          </ac:spMkLst>
        </pc:spChg>
        <pc:spChg chg="mod">
          <ac:chgData name="Arbër Deda (24123722)" userId="82020293-ce95-4489-9746-9af268362182" providerId="ADAL" clId="{AC35A373-FD11-4BF7-B329-9C76BE4DAEFF}" dt="2026-09-10T14:24:42.761" v="597"/>
          <ac:spMkLst>
            <pc:docMk/>
            <pc:sldMk cId="0" sldId="262"/>
            <ac:spMk id="19" creationId="{00000000-0000-0000-0000-000000000000}"/>
          </ac:spMkLst>
        </pc:spChg>
        <pc:spChg chg="mod">
          <ac:chgData name="Arbër Deda (24123722)" userId="82020293-ce95-4489-9746-9af268362182" providerId="ADAL" clId="{AC35A373-FD11-4BF7-B329-9C76BE4DAEFF}" dt="2026-09-10T14:25:28.417" v="610" actId="207"/>
          <ac:spMkLst>
            <pc:docMk/>
            <pc:sldMk cId="0" sldId="262"/>
            <ac:spMk id="22" creationId="{00000000-0000-0000-0000-000000000000}"/>
          </ac:spMkLst>
        </pc:spChg>
        <pc:spChg chg="mod">
          <ac:chgData name="Arbër Deda (24123722)" userId="82020293-ce95-4489-9746-9af268362182" providerId="ADAL" clId="{AC35A373-FD11-4BF7-B329-9C76BE4DAEFF}" dt="2026-09-10T14:24:47.145" v="601" actId="27636"/>
          <ac:spMkLst>
            <pc:docMk/>
            <pc:sldMk cId="0" sldId="262"/>
            <ac:spMk id="23" creationId="{00000000-0000-0000-0000-000000000000}"/>
          </ac:spMkLst>
        </pc:spChg>
        <pc:spChg chg="mod">
          <ac:chgData name="Arbër Deda (24123722)" userId="82020293-ce95-4489-9746-9af268362182" providerId="ADAL" clId="{AC35A373-FD11-4BF7-B329-9C76BE4DAEFF}" dt="2026-09-10T14:18:53.668" v="465" actId="27636"/>
          <ac:spMkLst>
            <pc:docMk/>
            <pc:sldMk cId="0" sldId="262"/>
            <ac:spMk id="2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1272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~20 seconds.
Opening: LearnBridge is our AI for Good hackathon prototype for SDG 4: Quality Education.
The core idea is simple: learning should not stop just because the internet connection stops.
It is made for students who can connect sometimes, but cannot rely on being online throughout the whole learning process.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~60 seconds.
Problem definition: normal online learning assumes stable internet, enough data, and enough time online.
Our user is not everyone: it is a secondary-school student like Lina who can connect only occasionally, often on a phone.
Two pieces of evidence support the problem: UNICEF/ITU reported 2.2 billion children and young people without home internet access, and UNESCO reported 273 million children and youth out of school globally in 2024.
LearnBridge is not for students who already have stable high-speed internet and a normal learning platform. It also cannot help someone with no device, no electricity, and no internet at all.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~60 seconds.
A teacher could technically email videos and PDFs. But the problem is not only sending files; it is keeping the learning process organized.
Over time, lessons, homework, corrections, deadlines and feedback spread over separate messages and file versions.
For a learner with only short online windows, searching through emails is a bad fit.
LearnBridge organizes the material by subject and lesson, and the student can explicitly download what they need for offline study.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~55 seconds.
The solution is a simple role-based workflow.
Teachers provide lessons, videos and homework. LearnBridge stores and organizes that content by lesson. Students can browse, open and download it.
The important design choice is offline-first: students do not need to stay connected while learning.
This slide also covers input, process and output, which is important for the rubric.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~45 seconds.
The required AI tool is important because it is a knockout criterion.
We used an AI app-building tool, Emergent, to generate and refine the prototype from our prompts.
We first planned the problem, target user, screens, data, style and what the app should not do.
Then Sofiia worked with the AI prompts and app builder. I worked on the documentation and hackathon questions. We both contributed to the concept and feature ideas.
We tested the application and adjusted the prompts when needed.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to 3 minutes. This slide is the bridge into the live demo.
Do not demonstrate every possible button. Show one clear user story from input to output.
Start as a teacher: log in, show the dashboard, create or open a lesson, and show homework publishing.
Then switch to student: log in, browse lessons, open the same lesson, view homework, click Download for Offline Learning, then open My Downloads.
If offline mode is reliable, disable network and show that the downloaded lesson can still be opened.
This proves the working prototype criterion: input goes in, the system processes it, and the intended output is shown.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~60 seconds.
Ethical reflection must be specific to the prototype. For each risk, explain consequence and mitigation.
First, LearnBridge still excludes students without any device, electricity or internet. That is an important limitation.
Second, because students may be children, privacy and secure accounts matter.
Third, shared devices create a specific offline risk: downloaded lessons or account information could be seen by others.
Fourth, teachers could upload incorrect, biased, inappropriate or copyrighted content, so a real version needs teacher verification and moderation.
Finally, large videos could use too much mobile data and storage, so content needs compression and clear file-size information.
End with: LearnBridge is not just file sharing. It is an offline-first learning environment designed around unreliable connectivity.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2B49"/>
        </a:solidFill>
        <a:effectLst/>
      </p:bgPr>
    </p:bg>
    <p:spTree>
      <p:nvGrpSpPr>
        <p:cNvPr id="1" name=""/>
        <p:cNvGrpSpPr/>
        <p:nvPr/>
      </p:nvGrpSpPr>
      <p:grpSpPr>
        <a:xfrm>
          <a:off x="0" y="0"/>
          <a:ext cx="0" cy="0"/>
          <a:chOff x="0" y="0"/>
          <a:chExt cx="0" cy="0"/>
        </a:xfrm>
      </p:grpSpPr>
      <p:sp>
        <p:nvSpPr>
          <p:cNvPr id="2" name="Shape 0"/>
          <p:cNvSpPr/>
          <p:nvPr/>
        </p:nvSpPr>
        <p:spPr>
          <a:xfrm>
            <a:off x="731520" y="685800"/>
            <a:ext cx="2057400" cy="420624"/>
          </a:xfrm>
          <a:prstGeom prst="roundRect">
            <a:avLst>
              <a:gd name="adj" fmla="val 10870"/>
            </a:avLst>
          </a:prstGeom>
          <a:solidFill>
            <a:srgbClr val="0F5F93"/>
          </a:solidFill>
          <a:ln w="12700">
            <a:solidFill>
              <a:srgbClr val="0F5F93"/>
            </a:solidFill>
            <a:prstDash val="solid"/>
          </a:ln>
        </p:spPr>
        <p:txBody>
          <a:bodyPr/>
          <a:lstStyle/>
          <a:p>
            <a:endParaRPr lang="nl-NL"/>
          </a:p>
        </p:txBody>
      </p:sp>
      <p:sp>
        <p:nvSpPr>
          <p:cNvPr id="3" name="Text 1"/>
          <p:cNvSpPr/>
          <p:nvPr/>
        </p:nvSpPr>
        <p:spPr>
          <a:xfrm>
            <a:off x="896112" y="804672"/>
            <a:ext cx="1737360" cy="146304"/>
          </a:xfrm>
          <a:prstGeom prst="rect">
            <a:avLst/>
          </a:prstGeom>
          <a:noFill/>
          <a:ln/>
        </p:spPr>
        <p:txBody>
          <a:bodyPr wrap="square" lIns="0" tIns="0" rIns="0" bIns="0" rtlCol="0" anchor="ctr"/>
          <a:lstStyle/>
          <a:p>
            <a:pPr marL="0" indent="0">
              <a:buNone/>
            </a:pPr>
            <a:r>
              <a:rPr lang="en-US" sz="1050" b="1" dirty="0">
                <a:solidFill>
                  <a:srgbClr val="FFFFFF"/>
                </a:solidFill>
                <a:latin typeface="Aptos" pitchFamily="34" charset="0"/>
                <a:ea typeface="Aptos" pitchFamily="34" charset="-122"/>
                <a:cs typeface="Aptos" pitchFamily="34" charset="-120"/>
              </a:rPr>
              <a:t>AI for Good · SDG 4</a:t>
            </a:r>
            <a:endParaRPr lang="en-US" sz="1050" dirty="0"/>
          </a:p>
        </p:txBody>
      </p:sp>
      <p:sp>
        <p:nvSpPr>
          <p:cNvPr id="4" name="Text 2"/>
          <p:cNvSpPr/>
          <p:nvPr/>
        </p:nvSpPr>
        <p:spPr>
          <a:xfrm>
            <a:off x="713232" y="1828800"/>
            <a:ext cx="6766560" cy="658368"/>
          </a:xfrm>
          <a:prstGeom prst="rect">
            <a:avLst/>
          </a:prstGeom>
          <a:noFill/>
          <a:ln/>
        </p:spPr>
        <p:txBody>
          <a:bodyPr wrap="square" lIns="0" tIns="0" rIns="0" bIns="0" rtlCol="0" anchor="ctr"/>
          <a:lstStyle/>
          <a:p>
            <a:pPr marL="0" indent="0">
              <a:buNone/>
            </a:pPr>
            <a:r>
              <a:rPr lang="en-US" sz="5200" b="1" dirty="0">
                <a:solidFill>
                  <a:srgbClr val="FFFFFF"/>
                </a:solidFill>
                <a:latin typeface="Aptos Display" pitchFamily="34" charset="0"/>
                <a:ea typeface="Aptos Display" pitchFamily="34" charset="-122"/>
                <a:cs typeface="Aptos Display" pitchFamily="34" charset="-120"/>
              </a:rPr>
              <a:t>LearnBridge</a:t>
            </a:r>
            <a:endParaRPr lang="en-US" sz="5200" dirty="0"/>
          </a:p>
        </p:txBody>
      </p:sp>
      <p:sp>
        <p:nvSpPr>
          <p:cNvPr id="5" name="Text 3"/>
          <p:cNvSpPr/>
          <p:nvPr/>
        </p:nvSpPr>
        <p:spPr>
          <a:xfrm>
            <a:off x="749808" y="2606040"/>
            <a:ext cx="6858000" cy="1005840"/>
          </a:xfrm>
          <a:prstGeom prst="rect">
            <a:avLst/>
          </a:prstGeom>
          <a:noFill/>
          <a:ln/>
        </p:spPr>
        <p:txBody>
          <a:bodyPr wrap="square" lIns="0" tIns="0" rIns="0" bIns="0" rtlCol="0" anchor="ctr"/>
          <a:lstStyle/>
          <a:p>
            <a:pPr marL="0" indent="0">
              <a:buNone/>
            </a:pPr>
            <a:r>
              <a:rPr lang="en-US" sz="2400" b="1" dirty="0">
                <a:solidFill>
                  <a:srgbClr val="CDEFFF"/>
                </a:solidFill>
                <a:latin typeface="Aptos Display" pitchFamily="34" charset="0"/>
                <a:ea typeface="Aptos Display" pitchFamily="34" charset="-122"/>
                <a:cs typeface="Aptos Display" pitchFamily="34" charset="-120"/>
              </a:rPr>
              <a:t>Learning should not stop</a:t>
            </a:r>
            <a:endParaRPr lang="en-US" sz="2400" dirty="0"/>
          </a:p>
          <a:p>
            <a:pPr marL="0" indent="0">
              <a:buNone/>
            </a:pPr>
            <a:r>
              <a:rPr lang="en-US" sz="2400" b="1" dirty="0">
                <a:solidFill>
                  <a:srgbClr val="CDEFFF"/>
                </a:solidFill>
                <a:latin typeface="Aptos Display" pitchFamily="34" charset="0"/>
                <a:ea typeface="Aptos Display" pitchFamily="34" charset="-122"/>
                <a:cs typeface="Aptos Display" pitchFamily="34" charset="-120"/>
              </a:rPr>
              <a:t>when the internet does.</a:t>
            </a:r>
            <a:endParaRPr lang="en-US" sz="2400" dirty="0"/>
          </a:p>
        </p:txBody>
      </p:sp>
      <p:sp>
        <p:nvSpPr>
          <p:cNvPr id="6" name="Text 4"/>
          <p:cNvSpPr/>
          <p:nvPr/>
        </p:nvSpPr>
        <p:spPr>
          <a:xfrm>
            <a:off x="768096" y="3840480"/>
            <a:ext cx="5852160" cy="310896"/>
          </a:xfrm>
          <a:prstGeom prst="rect">
            <a:avLst/>
          </a:prstGeom>
          <a:noFill/>
          <a:ln/>
        </p:spPr>
        <p:txBody>
          <a:bodyPr wrap="square" lIns="0" tIns="0" rIns="0" bIns="0" rtlCol="0" anchor="ctr"/>
          <a:lstStyle/>
          <a:p>
            <a:pPr marL="0" indent="0">
              <a:buNone/>
            </a:pPr>
            <a:r>
              <a:rPr lang="en-US" sz="1500" dirty="0">
                <a:solidFill>
                  <a:srgbClr val="D7E9F5"/>
                </a:solidFill>
                <a:latin typeface="Aptos" pitchFamily="34" charset="0"/>
                <a:ea typeface="Aptos" pitchFamily="34" charset="-122"/>
                <a:cs typeface="Aptos" pitchFamily="34" charset="-120"/>
              </a:rPr>
              <a:t>Offline-first learning for students with unreliable connectivity.</a:t>
            </a:r>
            <a:endParaRPr lang="en-US" sz="1500" dirty="0"/>
          </a:p>
        </p:txBody>
      </p:sp>
      <p:sp>
        <p:nvSpPr>
          <p:cNvPr id="7" name="Shape 5"/>
          <p:cNvSpPr/>
          <p:nvPr/>
        </p:nvSpPr>
        <p:spPr>
          <a:xfrm>
            <a:off x="8028432" y="960120"/>
            <a:ext cx="2971800" cy="4709160"/>
          </a:xfrm>
          <a:prstGeom prst="roundRect">
            <a:avLst>
              <a:gd name="adj" fmla="val 3692"/>
            </a:avLst>
          </a:prstGeom>
          <a:solidFill>
            <a:srgbClr val="0F3A5B"/>
          </a:solidFill>
          <a:ln w="13970">
            <a:solidFill>
              <a:srgbClr val="2C6A8C"/>
            </a:solidFill>
            <a:prstDash val="solid"/>
          </a:ln>
        </p:spPr>
        <p:txBody>
          <a:bodyPr/>
          <a:lstStyle/>
          <a:p>
            <a:endParaRPr lang="nl-NL"/>
          </a:p>
        </p:txBody>
      </p:sp>
      <p:sp>
        <p:nvSpPr>
          <p:cNvPr id="8" name="Shape 6"/>
          <p:cNvSpPr/>
          <p:nvPr/>
        </p:nvSpPr>
        <p:spPr>
          <a:xfrm>
            <a:off x="8394192" y="1298448"/>
            <a:ext cx="2240280" cy="3977640"/>
          </a:xfrm>
          <a:prstGeom prst="roundRect">
            <a:avLst>
              <a:gd name="adj" fmla="val 2449"/>
            </a:avLst>
          </a:prstGeom>
          <a:solidFill>
            <a:srgbClr val="FFFFFF"/>
          </a:solidFill>
          <a:ln w="12700">
            <a:solidFill>
              <a:srgbClr val="74A7C7"/>
            </a:solidFill>
            <a:prstDash val="solid"/>
          </a:ln>
        </p:spPr>
        <p:txBody>
          <a:bodyPr/>
          <a:lstStyle/>
          <a:p>
            <a:endParaRPr lang="nl-NL"/>
          </a:p>
        </p:txBody>
      </p:sp>
      <p:sp>
        <p:nvSpPr>
          <p:cNvPr id="9" name="Shape 7"/>
          <p:cNvSpPr/>
          <p:nvPr/>
        </p:nvSpPr>
        <p:spPr>
          <a:xfrm>
            <a:off x="8577072" y="1600200"/>
            <a:ext cx="1874520" cy="530352"/>
          </a:xfrm>
          <a:prstGeom prst="roundRect">
            <a:avLst>
              <a:gd name="adj" fmla="val 6897"/>
            </a:avLst>
          </a:prstGeom>
          <a:solidFill>
            <a:srgbClr val="1E70C1"/>
          </a:solidFill>
          <a:ln w="12700">
            <a:solidFill>
              <a:srgbClr val="1E70C1"/>
            </a:solidFill>
            <a:prstDash val="solid"/>
          </a:ln>
        </p:spPr>
        <p:txBody>
          <a:bodyPr/>
          <a:lstStyle/>
          <a:p>
            <a:endParaRPr lang="nl-NL"/>
          </a:p>
        </p:txBody>
      </p:sp>
      <p:sp>
        <p:nvSpPr>
          <p:cNvPr id="10" name="Text 8"/>
          <p:cNvSpPr/>
          <p:nvPr/>
        </p:nvSpPr>
        <p:spPr>
          <a:xfrm>
            <a:off x="8705088" y="1792224"/>
            <a:ext cx="1600200" cy="128016"/>
          </a:xfrm>
          <a:prstGeom prst="rect">
            <a:avLst/>
          </a:prstGeom>
          <a:noFill/>
          <a:ln/>
        </p:spPr>
        <p:txBody>
          <a:bodyPr wrap="square" lIns="0" tIns="0" rIns="0" bIns="0" rtlCol="0" anchor="ctr"/>
          <a:lstStyle/>
          <a:p>
            <a:pPr marL="0" indent="0" algn="ctr">
              <a:buNone/>
            </a:pPr>
            <a:r>
              <a:rPr lang="en-US" sz="850" b="1" dirty="0">
                <a:solidFill>
                  <a:srgbClr val="FFFFFF"/>
                </a:solidFill>
              </a:rPr>
              <a:t>Explore Lessons</a:t>
            </a:r>
            <a:endParaRPr lang="en-US" sz="850" dirty="0"/>
          </a:p>
        </p:txBody>
      </p:sp>
      <p:sp>
        <p:nvSpPr>
          <p:cNvPr id="11" name="Shape 9"/>
          <p:cNvSpPr/>
          <p:nvPr/>
        </p:nvSpPr>
        <p:spPr>
          <a:xfrm>
            <a:off x="8577072" y="2395728"/>
            <a:ext cx="1874520" cy="475488"/>
          </a:xfrm>
          <a:prstGeom prst="roundRect">
            <a:avLst>
              <a:gd name="adj" fmla="val 7692"/>
            </a:avLst>
          </a:prstGeom>
          <a:solidFill>
            <a:srgbClr val="DFF7F3"/>
          </a:solidFill>
          <a:ln w="12700">
            <a:solidFill>
              <a:srgbClr val="D5E7F0"/>
            </a:solidFill>
            <a:prstDash val="solid"/>
          </a:ln>
        </p:spPr>
        <p:txBody>
          <a:bodyPr/>
          <a:lstStyle/>
          <a:p>
            <a:endParaRPr lang="nl-NL"/>
          </a:p>
        </p:txBody>
      </p:sp>
      <p:sp>
        <p:nvSpPr>
          <p:cNvPr id="12" name="Text 10"/>
          <p:cNvSpPr/>
          <p:nvPr/>
        </p:nvSpPr>
        <p:spPr>
          <a:xfrm>
            <a:off x="8732520" y="2551176"/>
            <a:ext cx="1600200" cy="109728"/>
          </a:xfrm>
          <a:prstGeom prst="rect">
            <a:avLst/>
          </a:prstGeom>
          <a:noFill/>
          <a:ln/>
        </p:spPr>
        <p:txBody>
          <a:bodyPr wrap="square" lIns="0" tIns="0" rIns="0" bIns="0" rtlCol="0" anchor="ctr"/>
          <a:lstStyle/>
          <a:p>
            <a:pPr marL="0" indent="0">
              <a:buNone/>
            </a:pPr>
            <a:r>
              <a:rPr lang="en-US" sz="800" b="1" dirty="0">
                <a:solidFill>
                  <a:srgbClr val="132133"/>
                </a:solidFill>
              </a:rPr>
              <a:t>Mathematics</a:t>
            </a:r>
            <a:endParaRPr lang="en-US" sz="800" dirty="0"/>
          </a:p>
        </p:txBody>
      </p:sp>
      <p:sp>
        <p:nvSpPr>
          <p:cNvPr id="13" name="Shape 11"/>
          <p:cNvSpPr/>
          <p:nvPr/>
        </p:nvSpPr>
        <p:spPr>
          <a:xfrm>
            <a:off x="8577072" y="3081528"/>
            <a:ext cx="1874520" cy="475488"/>
          </a:xfrm>
          <a:prstGeom prst="roundRect">
            <a:avLst>
              <a:gd name="adj" fmla="val 7692"/>
            </a:avLst>
          </a:prstGeom>
          <a:solidFill>
            <a:srgbClr val="F4FAFD"/>
          </a:solidFill>
          <a:ln w="12700">
            <a:solidFill>
              <a:srgbClr val="D5E7F0"/>
            </a:solidFill>
            <a:prstDash val="solid"/>
          </a:ln>
        </p:spPr>
        <p:txBody>
          <a:bodyPr/>
          <a:lstStyle/>
          <a:p>
            <a:endParaRPr lang="nl-NL"/>
          </a:p>
        </p:txBody>
      </p:sp>
      <p:sp>
        <p:nvSpPr>
          <p:cNvPr id="14" name="Text 12"/>
          <p:cNvSpPr/>
          <p:nvPr/>
        </p:nvSpPr>
        <p:spPr>
          <a:xfrm>
            <a:off x="8732520" y="3236976"/>
            <a:ext cx="1600200" cy="109728"/>
          </a:xfrm>
          <a:prstGeom prst="rect">
            <a:avLst/>
          </a:prstGeom>
          <a:noFill/>
          <a:ln/>
        </p:spPr>
        <p:txBody>
          <a:bodyPr wrap="square" lIns="0" tIns="0" rIns="0" bIns="0" rtlCol="0" anchor="ctr"/>
          <a:lstStyle/>
          <a:p>
            <a:pPr marL="0" indent="0">
              <a:buNone/>
            </a:pPr>
            <a:r>
              <a:rPr lang="en-US" sz="800" dirty="0">
                <a:solidFill>
                  <a:srgbClr val="132133"/>
                </a:solidFill>
              </a:rPr>
              <a:t>English</a:t>
            </a:r>
            <a:endParaRPr lang="en-US" sz="800" dirty="0"/>
          </a:p>
        </p:txBody>
      </p:sp>
      <p:sp>
        <p:nvSpPr>
          <p:cNvPr id="15" name="Shape 13"/>
          <p:cNvSpPr/>
          <p:nvPr/>
        </p:nvSpPr>
        <p:spPr>
          <a:xfrm>
            <a:off x="8577072" y="3767328"/>
            <a:ext cx="1874520" cy="475488"/>
          </a:xfrm>
          <a:prstGeom prst="roundRect">
            <a:avLst>
              <a:gd name="adj" fmla="val 7692"/>
            </a:avLst>
          </a:prstGeom>
          <a:solidFill>
            <a:srgbClr val="F4FAFD"/>
          </a:solidFill>
          <a:ln w="12700">
            <a:solidFill>
              <a:srgbClr val="D5E7F0"/>
            </a:solidFill>
            <a:prstDash val="solid"/>
          </a:ln>
        </p:spPr>
        <p:txBody>
          <a:bodyPr/>
          <a:lstStyle/>
          <a:p>
            <a:endParaRPr lang="nl-NL"/>
          </a:p>
        </p:txBody>
      </p:sp>
      <p:sp>
        <p:nvSpPr>
          <p:cNvPr id="16" name="Text 14"/>
          <p:cNvSpPr/>
          <p:nvPr/>
        </p:nvSpPr>
        <p:spPr>
          <a:xfrm>
            <a:off x="8732520" y="3922776"/>
            <a:ext cx="1600200" cy="109728"/>
          </a:xfrm>
          <a:prstGeom prst="rect">
            <a:avLst/>
          </a:prstGeom>
          <a:noFill/>
          <a:ln/>
        </p:spPr>
        <p:txBody>
          <a:bodyPr wrap="square" lIns="0" tIns="0" rIns="0" bIns="0" rtlCol="0" anchor="ctr"/>
          <a:lstStyle/>
          <a:p>
            <a:pPr marL="0" indent="0">
              <a:buNone/>
            </a:pPr>
            <a:r>
              <a:rPr lang="en-US" sz="800" dirty="0">
                <a:solidFill>
                  <a:srgbClr val="132133"/>
                </a:solidFill>
              </a:rPr>
              <a:t>Science</a:t>
            </a:r>
            <a:endParaRPr lang="en-US" sz="800" dirty="0"/>
          </a:p>
        </p:txBody>
      </p:sp>
      <p:sp>
        <p:nvSpPr>
          <p:cNvPr id="17" name="Shape 15"/>
          <p:cNvSpPr/>
          <p:nvPr/>
        </p:nvSpPr>
        <p:spPr>
          <a:xfrm>
            <a:off x="9189720" y="4526280"/>
            <a:ext cx="640080" cy="640080"/>
          </a:xfrm>
          <a:prstGeom prst="ellipse">
            <a:avLst/>
          </a:prstGeom>
          <a:solidFill>
            <a:srgbClr val="D6F0FF"/>
          </a:solidFill>
          <a:ln w="12700">
            <a:solidFill>
              <a:srgbClr val="D6F0FF"/>
            </a:solidFill>
            <a:prstDash val="solid"/>
          </a:ln>
        </p:spPr>
        <p:txBody>
          <a:bodyPr/>
          <a:lstStyle/>
          <a:p>
            <a:endParaRPr lang="nl-NL"/>
          </a:p>
        </p:txBody>
      </p:sp>
      <p:sp>
        <p:nvSpPr>
          <p:cNvPr id="18" name="Text 16"/>
          <p:cNvSpPr/>
          <p:nvPr/>
        </p:nvSpPr>
        <p:spPr>
          <a:xfrm>
            <a:off x="9189720" y="4645152"/>
            <a:ext cx="640080" cy="320040"/>
          </a:xfrm>
          <a:prstGeom prst="rect">
            <a:avLst/>
          </a:prstGeom>
          <a:noFill/>
          <a:ln/>
        </p:spPr>
        <p:txBody>
          <a:bodyPr wrap="square" lIns="0" tIns="0" rIns="0" bIns="0" rtlCol="0" anchor="ctr"/>
          <a:lstStyle/>
          <a:p>
            <a:pPr marL="0" indent="0" algn="ctr">
              <a:buNone/>
            </a:pPr>
            <a:r>
              <a:rPr lang="en-US" sz="2000" b="1" dirty="0">
                <a:solidFill>
                  <a:srgbClr val="1E70C1"/>
                </a:solidFill>
                <a:latin typeface="Aptos" pitchFamily="34" charset="0"/>
                <a:ea typeface="Aptos" pitchFamily="34" charset="-122"/>
                <a:cs typeface="Aptos" pitchFamily="34" charset="-120"/>
              </a:rPr>
              <a:t>↓</a:t>
            </a:r>
            <a:endParaRPr lang="en-US" sz="2000" dirty="0"/>
          </a:p>
        </p:txBody>
      </p:sp>
      <p:sp>
        <p:nvSpPr>
          <p:cNvPr id="19" name="Text 17"/>
          <p:cNvSpPr/>
          <p:nvPr/>
        </p:nvSpPr>
        <p:spPr>
          <a:xfrm>
            <a:off x="502920" y="6629400"/>
            <a:ext cx="4114800" cy="109728"/>
          </a:xfrm>
          <a:prstGeom prst="rect">
            <a:avLst/>
          </a:prstGeom>
          <a:noFill/>
          <a:ln/>
        </p:spPr>
        <p:txBody>
          <a:bodyPr wrap="square" lIns="0" tIns="0" rIns="0" bIns="0" rtlCol="0" anchor="ctr"/>
          <a:lstStyle/>
          <a:p>
            <a:pPr marL="0" indent="0">
              <a:buNone/>
            </a:pPr>
            <a:r>
              <a:rPr lang="en-US" sz="750" dirty="0">
                <a:solidFill>
                  <a:srgbClr val="5D7080"/>
                </a:solidFill>
                <a:latin typeface="Aptos" pitchFamily="34" charset="0"/>
                <a:ea typeface="Aptos" pitchFamily="34" charset="-122"/>
                <a:cs typeface="Aptos" pitchFamily="34" charset="-120"/>
              </a:rPr>
              <a:t>LearnBridge · AI for Good · SDG 4</a:t>
            </a:r>
            <a:endParaRPr lang="en-US" sz="750" dirty="0"/>
          </a:p>
        </p:txBody>
      </p:sp>
      <p:sp>
        <p:nvSpPr>
          <p:cNvPr id="20" name="Text 18"/>
          <p:cNvSpPr/>
          <p:nvPr/>
        </p:nvSpPr>
        <p:spPr>
          <a:xfrm>
            <a:off x="11411712" y="6629400"/>
            <a:ext cx="274320" cy="109728"/>
          </a:xfrm>
          <a:prstGeom prst="rect">
            <a:avLst/>
          </a:prstGeom>
          <a:noFill/>
          <a:ln/>
        </p:spPr>
        <p:txBody>
          <a:bodyPr wrap="square" lIns="0" tIns="0" rIns="0" bIns="0" rtlCol="0" anchor="ctr"/>
          <a:lstStyle/>
          <a:p>
            <a:pPr marL="0" indent="0" algn="r">
              <a:buNone/>
            </a:pPr>
            <a:r>
              <a:rPr lang="en-US" sz="750" dirty="0">
                <a:solidFill>
                  <a:srgbClr val="5D7080"/>
                </a:solidFill>
                <a:latin typeface="Aptos" pitchFamily="34" charset="0"/>
                <a:ea typeface="Aptos" pitchFamily="34" charset="-122"/>
                <a:cs typeface="Aptos" pitchFamily="34" charset="-120"/>
              </a:rPr>
              <a:t>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BFF"/>
        </a:solidFill>
        <a:effectLst/>
      </p:bgPr>
    </p:bg>
    <p:spTree>
      <p:nvGrpSpPr>
        <p:cNvPr id="1" name=""/>
        <p:cNvGrpSpPr/>
        <p:nvPr/>
      </p:nvGrpSpPr>
      <p:grpSpPr>
        <a:xfrm>
          <a:off x="0" y="0"/>
          <a:ext cx="0" cy="0"/>
          <a:chOff x="0" y="0"/>
          <a:chExt cx="0" cy="0"/>
        </a:xfrm>
      </p:grpSpPr>
      <p:sp>
        <p:nvSpPr>
          <p:cNvPr id="2" name="Text 0"/>
          <p:cNvSpPr/>
          <p:nvPr/>
        </p:nvSpPr>
        <p:spPr>
          <a:xfrm>
            <a:off x="594360" y="438912"/>
            <a:ext cx="7680960" cy="502920"/>
          </a:xfrm>
          <a:prstGeom prst="rect">
            <a:avLst/>
          </a:prstGeom>
          <a:noFill/>
          <a:ln/>
        </p:spPr>
        <p:txBody>
          <a:bodyPr wrap="square" lIns="0" tIns="0" rIns="0" bIns="0" rtlCol="0" anchor="ctr">
            <a:normAutofit/>
          </a:bodyPr>
          <a:lstStyle/>
          <a:p>
            <a:pPr marL="0" indent="0">
              <a:buNone/>
            </a:pPr>
            <a:r>
              <a:rPr lang="en-US" sz="3000" b="1" dirty="0">
                <a:solidFill>
                  <a:srgbClr val="132133"/>
                </a:solidFill>
                <a:latin typeface="Aptos Display" pitchFamily="34" charset="0"/>
                <a:ea typeface="Aptos Display" pitchFamily="34" charset="-122"/>
                <a:cs typeface="Aptos Display" pitchFamily="34" charset="-120"/>
              </a:rPr>
              <a:t>The problem</a:t>
            </a:r>
            <a:endParaRPr lang="en-US" sz="3000" dirty="0"/>
          </a:p>
        </p:txBody>
      </p:sp>
      <p:sp>
        <p:nvSpPr>
          <p:cNvPr id="3" name="Text 1"/>
          <p:cNvSpPr/>
          <p:nvPr/>
        </p:nvSpPr>
        <p:spPr>
          <a:xfrm>
            <a:off x="612648" y="1005840"/>
            <a:ext cx="6583680" cy="237744"/>
          </a:xfrm>
          <a:prstGeom prst="rect">
            <a:avLst/>
          </a:prstGeom>
          <a:noFill/>
          <a:ln/>
        </p:spPr>
        <p:txBody>
          <a:bodyPr wrap="square" lIns="0" tIns="0" rIns="0" bIns="0" rtlCol="0" anchor="ctr"/>
          <a:lstStyle/>
          <a:p>
            <a:pPr marL="0" indent="0">
              <a:buNone/>
            </a:pPr>
            <a:r>
              <a:rPr lang="en-US" sz="1050" dirty="0">
                <a:solidFill>
                  <a:srgbClr val="526779"/>
                </a:solidFill>
                <a:latin typeface="Aptos" pitchFamily="34" charset="0"/>
                <a:ea typeface="Aptos" pitchFamily="34" charset="-122"/>
                <a:cs typeface="Aptos" pitchFamily="34" charset="-120"/>
              </a:rPr>
              <a:t>Online learning often assumes that students are always online.</a:t>
            </a:r>
            <a:endParaRPr lang="en-US" sz="1050" dirty="0"/>
          </a:p>
        </p:txBody>
      </p:sp>
      <p:sp>
        <p:nvSpPr>
          <p:cNvPr id="4" name="Shape 2"/>
          <p:cNvSpPr/>
          <p:nvPr/>
        </p:nvSpPr>
        <p:spPr>
          <a:xfrm>
            <a:off x="685800" y="1508760"/>
            <a:ext cx="2971800" cy="3566160"/>
          </a:xfrm>
          <a:prstGeom prst="roundRect">
            <a:avLst>
              <a:gd name="adj" fmla="val 3692"/>
            </a:avLst>
          </a:prstGeom>
          <a:solidFill>
            <a:srgbClr val="FFFFFF"/>
          </a:solidFill>
          <a:ln w="13970">
            <a:solidFill>
              <a:srgbClr val="D7E7F0"/>
            </a:solidFill>
            <a:prstDash val="solid"/>
          </a:ln>
          <a:effectLst>
            <a:outerShdw blurRad="19050" dist="50800" dir="2700000" algn="bl" rotWithShape="0">
              <a:srgbClr val="B8CCD7">
                <a:alpha val="18000"/>
              </a:srgbClr>
            </a:outerShdw>
          </a:effectLst>
        </p:spPr>
        <p:txBody>
          <a:bodyPr/>
          <a:lstStyle/>
          <a:p>
            <a:endParaRPr lang="nl-NL"/>
          </a:p>
        </p:txBody>
      </p:sp>
      <p:sp>
        <p:nvSpPr>
          <p:cNvPr id="5" name="Text 3"/>
          <p:cNvSpPr/>
          <p:nvPr/>
        </p:nvSpPr>
        <p:spPr>
          <a:xfrm>
            <a:off x="960120" y="1783080"/>
            <a:ext cx="2286000" cy="228600"/>
          </a:xfrm>
          <a:prstGeom prst="rect">
            <a:avLst/>
          </a:prstGeom>
          <a:noFill/>
          <a:ln/>
        </p:spPr>
        <p:txBody>
          <a:bodyPr wrap="square" lIns="0" tIns="0" rIns="0" bIns="0" rtlCol="0" anchor="ctr"/>
          <a:lstStyle/>
          <a:p>
            <a:pPr marL="0" indent="0">
              <a:buNone/>
            </a:pPr>
            <a:r>
              <a:rPr lang="en-US" sz="1600" b="1" dirty="0">
                <a:solidFill>
                  <a:srgbClr val="132133"/>
                </a:solidFill>
              </a:rPr>
              <a:t>A learner</a:t>
            </a:r>
            <a:endParaRPr lang="en-US" sz="1600" dirty="0"/>
          </a:p>
        </p:txBody>
      </p:sp>
      <p:sp>
        <p:nvSpPr>
          <p:cNvPr id="6" name="Text 4"/>
          <p:cNvSpPr/>
          <p:nvPr/>
        </p:nvSpPr>
        <p:spPr>
          <a:xfrm>
            <a:off x="960120" y="2240280"/>
            <a:ext cx="2286000" cy="320040"/>
          </a:xfrm>
          <a:prstGeom prst="rect">
            <a:avLst/>
          </a:prstGeom>
          <a:noFill/>
          <a:ln/>
        </p:spPr>
        <p:txBody>
          <a:bodyPr wrap="square" lIns="0" tIns="0" rIns="0" bIns="0" rtlCol="0" anchor="ctr"/>
          <a:lstStyle/>
          <a:p>
            <a:pPr marL="0" indent="0">
              <a:buNone/>
            </a:pPr>
            <a:r>
              <a:rPr lang="en-US" sz="2500" b="1" dirty="0">
                <a:solidFill>
                  <a:srgbClr val="1E70C1"/>
                </a:solidFill>
              </a:rPr>
              <a:t>Lina</a:t>
            </a:r>
            <a:endParaRPr lang="en-US" sz="2500" dirty="0"/>
          </a:p>
        </p:txBody>
      </p:sp>
      <p:sp>
        <p:nvSpPr>
          <p:cNvPr id="7" name="Text 5"/>
          <p:cNvSpPr/>
          <p:nvPr/>
        </p:nvSpPr>
        <p:spPr>
          <a:xfrm>
            <a:off x="987552" y="2724912"/>
            <a:ext cx="2240280" cy="1371600"/>
          </a:xfrm>
          <a:prstGeom prst="rect">
            <a:avLst/>
          </a:prstGeom>
          <a:noFill/>
          <a:ln/>
        </p:spPr>
        <p:txBody>
          <a:bodyPr wrap="square" lIns="0" tIns="0" rIns="0" bIns="0" rtlCol="0" anchor="ctr">
            <a:normAutofit/>
          </a:bodyPr>
          <a:lstStyle/>
          <a:p>
            <a:pPr marL="0" indent="0">
              <a:buNone/>
            </a:pPr>
            <a:r>
              <a:rPr lang="en-US" sz="1500" dirty="0">
                <a:solidFill>
                  <a:srgbClr val="526779"/>
                </a:solidFill>
              </a:rPr>
              <a:t>Secondary-school student</a:t>
            </a:r>
            <a:endParaRPr lang="en-US" sz="1500" dirty="0"/>
          </a:p>
          <a:p>
            <a:pPr marL="0" indent="0">
              <a:buNone/>
            </a:pPr>
            <a:r>
              <a:rPr lang="en-US" sz="1500" dirty="0">
                <a:solidFill>
                  <a:srgbClr val="526779"/>
                </a:solidFill>
              </a:rPr>
              <a:t>Only short Wi‑Fi access</a:t>
            </a:r>
            <a:endParaRPr lang="en-US" sz="1500" dirty="0"/>
          </a:p>
          <a:p>
            <a:pPr marL="0" indent="0">
              <a:buNone/>
            </a:pPr>
            <a:r>
              <a:rPr lang="en-US" sz="1500" dirty="0">
                <a:solidFill>
                  <a:srgbClr val="526779"/>
                </a:solidFill>
              </a:rPr>
              <a:t>Uses a phone</a:t>
            </a:r>
            <a:endParaRPr lang="en-US" sz="1500" dirty="0"/>
          </a:p>
          <a:p>
            <a:pPr marL="0" indent="0">
              <a:buNone/>
            </a:pPr>
            <a:r>
              <a:rPr lang="en-US" sz="1500" dirty="0">
                <a:solidFill>
                  <a:srgbClr val="526779"/>
                </a:solidFill>
              </a:rPr>
              <a:t>Needs structured lessons</a:t>
            </a:r>
            <a:endParaRPr lang="en-US" sz="1500" dirty="0"/>
          </a:p>
        </p:txBody>
      </p:sp>
      <p:sp>
        <p:nvSpPr>
          <p:cNvPr id="8" name="Shape 6"/>
          <p:cNvSpPr/>
          <p:nvPr/>
        </p:nvSpPr>
        <p:spPr>
          <a:xfrm>
            <a:off x="978408" y="4343400"/>
            <a:ext cx="1298448" cy="384048"/>
          </a:xfrm>
          <a:prstGeom prst="roundRect">
            <a:avLst>
              <a:gd name="adj" fmla="val 19048"/>
            </a:avLst>
          </a:prstGeom>
          <a:solidFill>
            <a:srgbClr val="18A7A0"/>
          </a:solidFill>
          <a:ln w="12700">
            <a:solidFill>
              <a:srgbClr val="18A7A0"/>
            </a:solidFill>
            <a:prstDash val="solid"/>
          </a:ln>
        </p:spPr>
        <p:txBody>
          <a:bodyPr/>
          <a:lstStyle/>
          <a:p>
            <a:endParaRPr lang="nl-NL"/>
          </a:p>
        </p:txBody>
      </p:sp>
      <p:sp>
        <p:nvSpPr>
          <p:cNvPr id="9" name="Text 7"/>
          <p:cNvSpPr/>
          <p:nvPr/>
        </p:nvSpPr>
        <p:spPr>
          <a:xfrm>
            <a:off x="1088136" y="4434840"/>
            <a:ext cx="107899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specific user</a:t>
            </a:r>
            <a:endParaRPr lang="en-US" sz="900" dirty="0"/>
          </a:p>
        </p:txBody>
      </p:sp>
      <p:sp>
        <p:nvSpPr>
          <p:cNvPr id="10" name="Shape 8"/>
          <p:cNvSpPr/>
          <p:nvPr/>
        </p:nvSpPr>
        <p:spPr>
          <a:xfrm>
            <a:off x="3977640" y="1481328"/>
            <a:ext cx="3337560" cy="1600200"/>
          </a:xfrm>
          <a:prstGeom prst="roundRect">
            <a:avLst>
              <a:gd name="adj" fmla="val 6857"/>
            </a:avLst>
          </a:prstGeom>
          <a:solidFill>
            <a:srgbClr val="EAF7FF"/>
          </a:solidFill>
          <a:ln w="13970">
            <a:solidFill>
              <a:srgbClr val="D7E7F0"/>
            </a:solidFill>
            <a:prstDash val="solid"/>
          </a:ln>
          <a:effectLst>
            <a:outerShdw blurRad="19050" dist="50800" dir="2700000" algn="bl" rotWithShape="0">
              <a:srgbClr val="B8CCD7">
                <a:alpha val="18000"/>
              </a:srgbClr>
            </a:outerShdw>
          </a:effectLst>
        </p:spPr>
        <p:txBody>
          <a:bodyPr/>
          <a:lstStyle/>
          <a:p>
            <a:endParaRPr lang="nl-NL"/>
          </a:p>
        </p:txBody>
      </p:sp>
      <p:sp>
        <p:nvSpPr>
          <p:cNvPr id="11" name="Text 9"/>
          <p:cNvSpPr/>
          <p:nvPr/>
        </p:nvSpPr>
        <p:spPr>
          <a:xfrm>
            <a:off x="4160520" y="1783080"/>
            <a:ext cx="1143000" cy="457200"/>
          </a:xfrm>
          <a:prstGeom prst="rect">
            <a:avLst/>
          </a:prstGeom>
          <a:noFill/>
          <a:ln/>
        </p:spPr>
        <p:txBody>
          <a:bodyPr wrap="square" lIns="0" tIns="0" rIns="0" bIns="0" rtlCol="0" anchor="ctr"/>
          <a:lstStyle/>
          <a:p>
            <a:pPr marL="0" indent="0">
              <a:buNone/>
            </a:pPr>
            <a:r>
              <a:rPr lang="en-US" sz="3400" b="1" dirty="0">
                <a:solidFill>
                  <a:srgbClr val="1E70C1"/>
                </a:solidFill>
              </a:rPr>
              <a:t>2.2B</a:t>
            </a:r>
            <a:endParaRPr lang="en-US" sz="3400" dirty="0"/>
          </a:p>
        </p:txBody>
      </p:sp>
      <p:sp>
        <p:nvSpPr>
          <p:cNvPr id="12" name="Text 10"/>
          <p:cNvSpPr/>
          <p:nvPr/>
        </p:nvSpPr>
        <p:spPr>
          <a:xfrm>
            <a:off x="5806440" y="1764792"/>
            <a:ext cx="1188720" cy="640080"/>
          </a:xfrm>
          <a:prstGeom prst="rect">
            <a:avLst/>
          </a:prstGeom>
          <a:noFill/>
          <a:ln/>
        </p:spPr>
        <p:txBody>
          <a:bodyPr wrap="square" lIns="0" tIns="0" rIns="0" bIns="0" rtlCol="0" anchor="ctr">
            <a:normAutofit fontScale="92500" lnSpcReduction="20000"/>
          </a:bodyPr>
          <a:lstStyle/>
          <a:p>
            <a:pPr marL="0" indent="0">
              <a:buNone/>
            </a:pPr>
            <a:r>
              <a:rPr lang="en-US" sz="1260" b="1" dirty="0">
                <a:solidFill>
                  <a:srgbClr val="132133"/>
                </a:solidFill>
              </a:rPr>
              <a:t>children &amp; young people lacked internet access at home</a:t>
            </a:r>
            <a:endParaRPr lang="en-US" sz="1260" dirty="0"/>
          </a:p>
        </p:txBody>
      </p:sp>
      <p:sp>
        <p:nvSpPr>
          <p:cNvPr id="13" name="Text 11"/>
          <p:cNvSpPr/>
          <p:nvPr/>
        </p:nvSpPr>
        <p:spPr>
          <a:xfrm>
            <a:off x="4279392" y="2697480"/>
            <a:ext cx="1828800" cy="137160"/>
          </a:xfrm>
          <a:prstGeom prst="rect">
            <a:avLst/>
          </a:prstGeom>
          <a:noFill/>
          <a:ln/>
        </p:spPr>
        <p:txBody>
          <a:bodyPr wrap="square" lIns="0" tIns="0" rIns="0" bIns="0" rtlCol="0" anchor="ctr"/>
          <a:lstStyle/>
          <a:p>
            <a:pPr marL="0" indent="0">
              <a:buNone/>
            </a:pPr>
            <a:r>
              <a:rPr lang="en-US" sz="850" dirty="0">
                <a:solidFill>
                  <a:srgbClr val="526779"/>
                </a:solidFill>
              </a:rPr>
              <a:t>UNICEF / ITU</a:t>
            </a:r>
            <a:endParaRPr lang="en-US" sz="850" dirty="0"/>
          </a:p>
        </p:txBody>
      </p:sp>
      <p:sp>
        <p:nvSpPr>
          <p:cNvPr id="14" name="Shape 12"/>
          <p:cNvSpPr/>
          <p:nvPr/>
        </p:nvSpPr>
        <p:spPr>
          <a:xfrm>
            <a:off x="3977640" y="3401568"/>
            <a:ext cx="3337560" cy="1600200"/>
          </a:xfrm>
          <a:prstGeom prst="roundRect">
            <a:avLst>
              <a:gd name="adj" fmla="val 6857"/>
            </a:avLst>
          </a:prstGeom>
          <a:solidFill>
            <a:srgbClr val="DFF7F3"/>
          </a:solidFill>
          <a:ln w="13970">
            <a:solidFill>
              <a:srgbClr val="D7E7F0"/>
            </a:solidFill>
            <a:prstDash val="solid"/>
          </a:ln>
          <a:effectLst>
            <a:outerShdw blurRad="19050" dist="50800" dir="2700000" algn="bl" rotWithShape="0">
              <a:srgbClr val="B8CCD7">
                <a:alpha val="18000"/>
              </a:srgbClr>
            </a:outerShdw>
          </a:effectLst>
        </p:spPr>
        <p:txBody>
          <a:bodyPr/>
          <a:lstStyle/>
          <a:p>
            <a:endParaRPr lang="nl-NL"/>
          </a:p>
        </p:txBody>
      </p:sp>
      <p:sp>
        <p:nvSpPr>
          <p:cNvPr id="15" name="Text 13"/>
          <p:cNvSpPr/>
          <p:nvPr/>
        </p:nvSpPr>
        <p:spPr>
          <a:xfrm>
            <a:off x="4114800" y="3703320"/>
            <a:ext cx="1325880" cy="457200"/>
          </a:xfrm>
          <a:prstGeom prst="rect">
            <a:avLst/>
          </a:prstGeom>
          <a:noFill/>
          <a:ln/>
        </p:spPr>
        <p:txBody>
          <a:bodyPr wrap="square" lIns="0" tIns="0" rIns="0" bIns="0" rtlCol="0" anchor="ctr"/>
          <a:lstStyle/>
          <a:p>
            <a:pPr marL="0" indent="0">
              <a:buNone/>
            </a:pPr>
            <a:r>
              <a:rPr lang="en-US" sz="3300" b="1" dirty="0">
                <a:solidFill>
                  <a:srgbClr val="18A7A0"/>
                </a:solidFill>
              </a:rPr>
              <a:t>273M</a:t>
            </a:r>
            <a:endParaRPr lang="en-US" sz="3300" dirty="0"/>
          </a:p>
        </p:txBody>
      </p:sp>
      <p:sp>
        <p:nvSpPr>
          <p:cNvPr id="16" name="Text 14"/>
          <p:cNvSpPr/>
          <p:nvPr/>
        </p:nvSpPr>
        <p:spPr>
          <a:xfrm>
            <a:off x="5806440" y="3703320"/>
            <a:ext cx="1188720" cy="640080"/>
          </a:xfrm>
          <a:prstGeom prst="rect">
            <a:avLst/>
          </a:prstGeom>
          <a:noFill/>
          <a:ln/>
        </p:spPr>
        <p:txBody>
          <a:bodyPr wrap="square" lIns="0" tIns="0" rIns="0" bIns="0" rtlCol="0" anchor="ctr">
            <a:normAutofit fontScale="92500"/>
          </a:bodyPr>
          <a:lstStyle/>
          <a:p>
            <a:pPr marL="0" indent="0">
              <a:buNone/>
            </a:pPr>
            <a:r>
              <a:rPr lang="en-US" sz="1230" b="1" dirty="0">
                <a:solidFill>
                  <a:srgbClr val="132133"/>
                </a:solidFill>
              </a:rPr>
              <a:t>children and youth were out of school globally in 2024</a:t>
            </a:r>
            <a:endParaRPr lang="en-US" sz="1230" dirty="0"/>
          </a:p>
        </p:txBody>
      </p:sp>
      <p:sp>
        <p:nvSpPr>
          <p:cNvPr id="17" name="Text 15"/>
          <p:cNvSpPr/>
          <p:nvPr/>
        </p:nvSpPr>
        <p:spPr>
          <a:xfrm>
            <a:off x="4279392" y="4617720"/>
            <a:ext cx="1828800" cy="137160"/>
          </a:xfrm>
          <a:prstGeom prst="rect">
            <a:avLst/>
          </a:prstGeom>
          <a:noFill/>
          <a:ln/>
        </p:spPr>
        <p:txBody>
          <a:bodyPr wrap="square" lIns="0" tIns="0" rIns="0" bIns="0" rtlCol="0" anchor="ctr"/>
          <a:lstStyle/>
          <a:p>
            <a:pPr marL="0" indent="0">
              <a:buNone/>
            </a:pPr>
            <a:r>
              <a:rPr lang="en-US" sz="850" dirty="0">
                <a:solidFill>
                  <a:srgbClr val="526779"/>
                </a:solidFill>
              </a:rPr>
              <a:t>UNESCO</a:t>
            </a:r>
            <a:endParaRPr lang="en-US" sz="850" dirty="0"/>
          </a:p>
        </p:txBody>
      </p:sp>
      <p:sp>
        <p:nvSpPr>
          <p:cNvPr id="18" name="Text 16"/>
          <p:cNvSpPr/>
          <p:nvPr/>
        </p:nvSpPr>
        <p:spPr>
          <a:xfrm>
            <a:off x="7909560" y="1143000"/>
            <a:ext cx="3108960" cy="228600"/>
          </a:xfrm>
          <a:prstGeom prst="rect">
            <a:avLst/>
          </a:prstGeom>
          <a:noFill/>
          <a:ln/>
        </p:spPr>
        <p:txBody>
          <a:bodyPr wrap="square" lIns="0" tIns="0" rIns="0" bIns="0" rtlCol="0" anchor="ctr"/>
          <a:lstStyle/>
          <a:p>
            <a:pPr marL="0" indent="0">
              <a:buNone/>
            </a:pPr>
            <a:r>
              <a:rPr lang="en-US" sz="1600" b="1" dirty="0">
                <a:solidFill>
                  <a:srgbClr val="132133"/>
                </a:solidFill>
              </a:rPr>
              <a:t>What goes wrong?</a:t>
            </a:r>
            <a:endParaRPr lang="en-US" sz="1600" dirty="0"/>
          </a:p>
        </p:txBody>
      </p:sp>
      <p:sp>
        <p:nvSpPr>
          <p:cNvPr id="19" name="Shape 17"/>
          <p:cNvSpPr/>
          <p:nvPr/>
        </p:nvSpPr>
        <p:spPr>
          <a:xfrm>
            <a:off x="7909560" y="1417320"/>
            <a:ext cx="2606040" cy="420624"/>
          </a:xfrm>
          <a:prstGeom prst="roundRect">
            <a:avLst>
              <a:gd name="adj" fmla="val 8696"/>
            </a:avLst>
          </a:prstGeom>
          <a:solidFill>
            <a:srgbClr val="FFFFFF"/>
          </a:solidFill>
          <a:ln w="12700">
            <a:solidFill>
              <a:srgbClr val="C9DCE8"/>
            </a:solidFill>
            <a:prstDash val="solid"/>
          </a:ln>
        </p:spPr>
        <p:txBody>
          <a:bodyPr/>
          <a:lstStyle/>
          <a:p>
            <a:endParaRPr lang="nl-NL"/>
          </a:p>
        </p:txBody>
      </p:sp>
      <p:sp>
        <p:nvSpPr>
          <p:cNvPr id="20" name="Text 18"/>
          <p:cNvSpPr/>
          <p:nvPr/>
        </p:nvSpPr>
        <p:spPr>
          <a:xfrm>
            <a:off x="8092440" y="1554480"/>
            <a:ext cx="2240280" cy="109728"/>
          </a:xfrm>
          <a:prstGeom prst="rect">
            <a:avLst/>
          </a:prstGeom>
          <a:noFill/>
          <a:ln/>
        </p:spPr>
        <p:txBody>
          <a:bodyPr wrap="square" lIns="0" tIns="0" rIns="0" bIns="0" rtlCol="0" anchor="ctr"/>
          <a:lstStyle/>
          <a:p>
            <a:pPr marL="0" indent="0">
              <a:buNone/>
            </a:pPr>
            <a:r>
              <a:rPr lang="en-US" sz="1050" dirty="0">
                <a:solidFill>
                  <a:srgbClr val="526779"/>
                </a:solidFill>
              </a:rPr>
              <a:t>Lesson video</a:t>
            </a:r>
            <a:endParaRPr lang="en-US" sz="1050" dirty="0"/>
          </a:p>
        </p:txBody>
      </p:sp>
      <p:sp>
        <p:nvSpPr>
          <p:cNvPr id="21" name="Shape 19"/>
          <p:cNvSpPr/>
          <p:nvPr/>
        </p:nvSpPr>
        <p:spPr>
          <a:xfrm>
            <a:off x="7909560" y="2148840"/>
            <a:ext cx="2606040" cy="420624"/>
          </a:xfrm>
          <a:prstGeom prst="roundRect">
            <a:avLst>
              <a:gd name="adj" fmla="val 8696"/>
            </a:avLst>
          </a:prstGeom>
          <a:solidFill>
            <a:srgbClr val="EEF4F7"/>
          </a:solidFill>
          <a:ln w="12700">
            <a:solidFill>
              <a:srgbClr val="C9DCE8"/>
            </a:solidFill>
            <a:prstDash val="solid"/>
          </a:ln>
        </p:spPr>
        <p:txBody>
          <a:bodyPr/>
          <a:lstStyle/>
          <a:p>
            <a:endParaRPr lang="nl-NL"/>
          </a:p>
        </p:txBody>
      </p:sp>
      <p:sp>
        <p:nvSpPr>
          <p:cNvPr id="22" name="Text 20"/>
          <p:cNvSpPr/>
          <p:nvPr/>
        </p:nvSpPr>
        <p:spPr>
          <a:xfrm>
            <a:off x="8092440" y="2286000"/>
            <a:ext cx="2240280" cy="109728"/>
          </a:xfrm>
          <a:prstGeom prst="rect">
            <a:avLst/>
          </a:prstGeom>
          <a:noFill/>
          <a:ln/>
        </p:spPr>
        <p:txBody>
          <a:bodyPr wrap="square" lIns="0" tIns="0" rIns="0" bIns="0" rtlCol="0" anchor="ctr"/>
          <a:lstStyle/>
          <a:p>
            <a:pPr marL="0" indent="0">
              <a:buNone/>
            </a:pPr>
            <a:r>
              <a:rPr lang="en-US" sz="1050" dirty="0">
                <a:solidFill>
                  <a:srgbClr val="526779"/>
                </a:solidFill>
              </a:rPr>
              <a:t>Homework</a:t>
            </a:r>
            <a:endParaRPr lang="en-US" sz="1050" dirty="0"/>
          </a:p>
        </p:txBody>
      </p:sp>
      <p:sp>
        <p:nvSpPr>
          <p:cNvPr id="23" name="Shape 21"/>
          <p:cNvSpPr/>
          <p:nvPr/>
        </p:nvSpPr>
        <p:spPr>
          <a:xfrm>
            <a:off x="7909560" y="2880360"/>
            <a:ext cx="2606040" cy="420624"/>
          </a:xfrm>
          <a:prstGeom prst="roundRect">
            <a:avLst>
              <a:gd name="adj" fmla="val 8696"/>
            </a:avLst>
          </a:prstGeom>
          <a:solidFill>
            <a:srgbClr val="FFFFFF"/>
          </a:solidFill>
          <a:ln w="12700">
            <a:solidFill>
              <a:srgbClr val="C9DCE8"/>
            </a:solidFill>
            <a:prstDash val="solid"/>
          </a:ln>
        </p:spPr>
        <p:txBody>
          <a:bodyPr/>
          <a:lstStyle/>
          <a:p>
            <a:endParaRPr lang="nl-NL"/>
          </a:p>
        </p:txBody>
      </p:sp>
      <p:sp>
        <p:nvSpPr>
          <p:cNvPr id="24" name="Text 22"/>
          <p:cNvSpPr/>
          <p:nvPr/>
        </p:nvSpPr>
        <p:spPr>
          <a:xfrm>
            <a:off x="8092440" y="3017520"/>
            <a:ext cx="2240280" cy="109728"/>
          </a:xfrm>
          <a:prstGeom prst="rect">
            <a:avLst/>
          </a:prstGeom>
          <a:noFill/>
          <a:ln/>
        </p:spPr>
        <p:txBody>
          <a:bodyPr wrap="square" lIns="0" tIns="0" rIns="0" bIns="0" rtlCol="0" anchor="ctr"/>
          <a:lstStyle/>
          <a:p>
            <a:pPr marL="0" indent="0">
              <a:buNone/>
            </a:pPr>
            <a:r>
              <a:rPr lang="en-US" sz="1050" dirty="0">
                <a:solidFill>
                  <a:srgbClr val="526779"/>
                </a:solidFill>
              </a:rPr>
              <a:t>Deadline</a:t>
            </a:r>
            <a:endParaRPr lang="en-US" sz="1050" dirty="0"/>
          </a:p>
        </p:txBody>
      </p:sp>
      <p:sp>
        <p:nvSpPr>
          <p:cNvPr id="25" name="Shape 23"/>
          <p:cNvSpPr/>
          <p:nvPr/>
        </p:nvSpPr>
        <p:spPr>
          <a:xfrm>
            <a:off x="7909560" y="3611880"/>
            <a:ext cx="2606040" cy="420624"/>
          </a:xfrm>
          <a:prstGeom prst="roundRect">
            <a:avLst>
              <a:gd name="adj" fmla="val 8696"/>
            </a:avLst>
          </a:prstGeom>
          <a:solidFill>
            <a:srgbClr val="EEF4F7"/>
          </a:solidFill>
          <a:ln w="12700">
            <a:solidFill>
              <a:srgbClr val="C9DCE8"/>
            </a:solidFill>
            <a:prstDash val="solid"/>
          </a:ln>
        </p:spPr>
        <p:txBody>
          <a:bodyPr/>
          <a:lstStyle/>
          <a:p>
            <a:endParaRPr lang="nl-NL"/>
          </a:p>
        </p:txBody>
      </p:sp>
      <p:sp>
        <p:nvSpPr>
          <p:cNvPr id="26" name="Text 24"/>
          <p:cNvSpPr/>
          <p:nvPr/>
        </p:nvSpPr>
        <p:spPr>
          <a:xfrm>
            <a:off x="8092440" y="3749040"/>
            <a:ext cx="2240280" cy="109728"/>
          </a:xfrm>
          <a:prstGeom prst="rect">
            <a:avLst/>
          </a:prstGeom>
          <a:noFill/>
          <a:ln/>
        </p:spPr>
        <p:txBody>
          <a:bodyPr wrap="square" lIns="0" tIns="0" rIns="0" bIns="0" rtlCol="0" anchor="ctr"/>
          <a:lstStyle/>
          <a:p>
            <a:pPr marL="0" indent="0">
              <a:buNone/>
            </a:pPr>
            <a:r>
              <a:rPr lang="en-US" sz="1050" dirty="0">
                <a:solidFill>
                  <a:srgbClr val="526779"/>
                </a:solidFill>
              </a:rPr>
              <a:t>Feedback</a:t>
            </a:r>
            <a:endParaRPr lang="en-US" sz="1050" dirty="0"/>
          </a:p>
        </p:txBody>
      </p:sp>
      <p:sp>
        <p:nvSpPr>
          <p:cNvPr id="27" name="Text 25"/>
          <p:cNvSpPr/>
          <p:nvPr/>
        </p:nvSpPr>
        <p:spPr>
          <a:xfrm>
            <a:off x="7909560" y="4416552"/>
            <a:ext cx="3108960" cy="429768"/>
          </a:xfrm>
          <a:prstGeom prst="rect">
            <a:avLst/>
          </a:prstGeom>
          <a:noFill/>
          <a:ln/>
        </p:spPr>
        <p:txBody>
          <a:bodyPr wrap="square" lIns="0" tIns="0" rIns="0" bIns="0" rtlCol="0" anchor="ctr">
            <a:normAutofit/>
          </a:bodyPr>
          <a:lstStyle/>
          <a:p>
            <a:pPr marL="0" indent="0">
              <a:buNone/>
            </a:pPr>
            <a:r>
              <a:rPr lang="en-US" sz="1280" b="1" dirty="0">
                <a:solidFill>
                  <a:srgbClr val="D64545"/>
                </a:solidFill>
              </a:rPr>
              <a:t>Scattered across tools → hard to follow with short connectivity windows</a:t>
            </a:r>
            <a:endParaRPr lang="en-US" sz="1280" dirty="0"/>
          </a:p>
        </p:txBody>
      </p:sp>
      <p:sp>
        <p:nvSpPr>
          <p:cNvPr id="28" name="Text 26"/>
          <p:cNvSpPr/>
          <p:nvPr/>
        </p:nvSpPr>
        <p:spPr>
          <a:xfrm>
            <a:off x="612648" y="6291072"/>
            <a:ext cx="10881360" cy="164592"/>
          </a:xfrm>
          <a:prstGeom prst="rect">
            <a:avLst/>
          </a:prstGeom>
          <a:noFill/>
          <a:ln/>
        </p:spPr>
        <p:txBody>
          <a:bodyPr wrap="square" lIns="0" tIns="0" rIns="0" bIns="0" rtlCol="0" anchor="ctr"/>
          <a:lstStyle/>
          <a:p>
            <a:pPr marL="0" indent="0">
              <a:buNone/>
            </a:pPr>
            <a:r>
              <a:rPr lang="en-US" sz="750" dirty="0">
                <a:solidFill>
                  <a:srgbClr val="708391"/>
                </a:solidFill>
                <a:latin typeface="Aptos" pitchFamily="34" charset="0"/>
                <a:ea typeface="Aptos" pitchFamily="34" charset="-122"/>
                <a:cs typeface="Aptos" pitchFamily="34" charset="-120"/>
              </a:rPr>
              <a:t>Evidence: UNICEF/ITU report on children and internet access at home; UNESCO out-of-school rate data (2024).</a:t>
            </a:r>
            <a:endParaRPr lang="en-US" sz="750" dirty="0"/>
          </a:p>
        </p:txBody>
      </p:sp>
      <p:sp>
        <p:nvSpPr>
          <p:cNvPr id="29" name="Text 27"/>
          <p:cNvSpPr/>
          <p:nvPr/>
        </p:nvSpPr>
        <p:spPr>
          <a:xfrm>
            <a:off x="502920" y="6629400"/>
            <a:ext cx="4114800" cy="109728"/>
          </a:xfrm>
          <a:prstGeom prst="rect">
            <a:avLst/>
          </a:prstGeom>
          <a:noFill/>
          <a:ln/>
        </p:spPr>
        <p:txBody>
          <a:bodyPr wrap="square" lIns="0" tIns="0" rIns="0" bIns="0" rtlCol="0" anchor="ctr"/>
          <a:lstStyle/>
          <a:p>
            <a:pPr marL="0" indent="0">
              <a:buNone/>
            </a:pPr>
            <a:r>
              <a:rPr lang="en-US" sz="750" dirty="0">
                <a:solidFill>
                  <a:srgbClr val="5D7080"/>
                </a:solidFill>
                <a:latin typeface="Aptos" pitchFamily="34" charset="0"/>
                <a:ea typeface="Aptos" pitchFamily="34" charset="-122"/>
                <a:cs typeface="Aptos" pitchFamily="34" charset="-120"/>
              </a:rPr>
              <a:t>LearnBridge · AI for Good · SDG 4</a:t>
            </a:r>
            <a:endParaRPr lang="en-US" sz="750" dirty="0"/>
          </a:p>
        </p:txBody>
      </p:sp>
      <p:sp>
        <p:nvSpPr>
          <p:cNvPr id="30" name="Text 28"/>
          <p:cNvSpPr/>
          <p:nvPr/>
        </p:nvSpPr>
        <p:spPr>
          <a:xfrm>
            <a:off x="11411712" y="6629400"/>
            <a:ext cx="274320" cy="109728"/>
          </a:xfrm>
          <a:prstGeom prst="rect">
            <a:avLst/>
          </a:prstGeom>
          <a:noFill/>
          <a:ln/>
        </p:spPr>
        <p:txBody>
          <a:bodyPr wrap="square" lIns="0" tIns="0" rIns="0" bIns="0" rtlCol="0" anchor="ctr"/>
          <a:lstStyle/>
          <a:p>
            <a:pPr marL="0" indent="0" algn="r">
              <a:buNone/>
            </a:pPr>
            <a:r>
              <a:rPr lang="en-US" sz="750" dirty="0">
                <a:solidFill>
                  <a:srgbClr val="5D7080"/>
                </a:solidFill>
                <a:latin typeface="Aptos" pitchFamily="34" charset="0"/>
                <a:ea typeface="Aptos" pitchFamily="34" charset="-122"/>
                <a:cs typeface="Aptos" pitchFamily="34" charset="-120"/>
              </a:rPr>
              <a:t>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BFF"/>
        </a:solidFill>
        <a:effectLst/>
      </p:bgPr>
    </p:bg>
    <p:spTree>
      <p:nvGrpSpPr>
        <p:cNvPr id="1" name=""/>
        <p:cNvGrpSpPr/>
        <p:nvPr/>
      </p:nvGrpSpPr>
      <p:grpSpPr>
        <a:xfrm>
          <a:off x="0" y="0"/>
          <a:ext cx="0" cy="0"/>
          <a:chOff x="0" y="0"/>
          <a:chExt cx="0" cy="0"/>
        </a:xfrm>
      </p:grpSpPr>
      <p:sp>
        <p:nvSpPr>
          <p:cNvPr id="2" name="Text 0"/>
          <p:cNvSpPr/>
          <p:nvPr/>
        </p:nvSpPr>
        <p:spPr>
          <a:xfrm>
            <a:off x="594360" y="438912"/>
            <a:ext cx="7680960" cy="502920"/>
          </a:xfrm>
          <a:prstGeom prst="rect">
            <a:avLst/>
          </a:prstGeom>
          <a:noFill/>
          <a:ln/>
        </p:spPr>
        <p:txBody>
          <a:bodyPr wrap="square" lIns="0" tIns="0" rIns="0" bIns="0" rtlCol="0" anchor="ctr">
            <a:normAutofit/>
          </a:bodyPr>
          <a:lstStyle/>
          <a:p>
            <a:pPr marL="0" indent="0">
              <a:buNone/>
            </a:pPr>
            <a:r>
              <a:rPr lang="en-US" sz="3000" b="1" dirty="0">
                <a:solidFill>
                  <a:srgbClr val="132133"/>
                </a:solidFill>
                <a:latin typeface="Aptos Display" pitchFamily="34" charset="0"/>
                <a:ea typeface="Aptos Display" pitchFamily="34" charset="-122"/>
                <a:cs typeface="Aptos Display" pitchFamily="34" charset="-120"/>
              </a:rPr>
              <a:t>Why email is not enough</a:t>
            </a:r>
            <a:endParaRPr lang="en-US" sz="3000" dirty="0"/>
          </a:p>
        </p:txBody>
      </p:sp>
      <p:sp>
        <p:nvSpPr>
          <p:cNvPr id="3" name="Text 1"/>
          <p:cNvSpPr/>
          <p:nvPr/>
        </p:nvSpPr>
        <p:spPr>
          <a:xfrm>
            <a:off x="612648" y="1005840"/>
            <a:ext cx="6583680" cy="237744"/>
          </a:xfrm>
          <a:prstGeom prst="rect">
            <a:avLst/>
          </a:prstGeom>
          <a:noFill/>
          <a:ln/>
        </p:spPr>
        <p:txBody>
          <a:bodyPr wrap="square" lIns="0" tIns="0" rIns="0" bIns="0" rtlCol="0" anchor="ctr"/>
          <a:lstStyle/>
          <a:p>
            <a:pPr marL="0" indent="0">
              <a:buNone/>
            </a:pPr>
            <a:r>
              <a:rPr lang="en-US" sz="1050" dirty="0">
                <a:solidFill>
                  <a:srgbClr val="526779"/>
                </a:solidFill>
                <a:latin typeface="Aptos" pitchFamily="34" charset="0"/>
                <a:ea typeface="Aptos" pitchFamily="34" charset="-122"/>
                <a:cs typeface="Aptos" pitchFamily="34" charset="-120"/>
              </a:rPr>
              <a:t>Email sends files. It does not organize a learning process.</a:t>
            </a:r>
            <a:endParaRPr lang="en-US" sz="1050" dirty="0"/>
          </a:p>
        </p:txBody>
      </p:sp>
      <p:sp>
        <p:nvSpPr>
          <p:cNvPr id="4" name="Shape 2"/>
          <p:cNvSpPr/>
          <p:nvPr/>
        </p:nvSpPr>
        <p:spPr>
          <a:xfrm>
            <a:off x="685800" y="1417320"/>
            <a:ext cx="4389120" cy="4206240"/>
          </a:xfrm>
          <a:prstGeom prst="roundRect">
            <a:avLst>
              <a:gd name="adj" fmla="val 2609"/>
            </a:avLst>
          </a:prstGeom>
          <a:solidFill>
            <a:srgbClr val="FFF7F2"/>
          </a:solidFill>
          <a:ln w="13970">
            <a:solidFill>
              <a:srgbClr val="FFD9C2"/>
            </a:solidFill>
            <a:prstDash val="solid"/>
          </a:ln>
          <a:effectLst>
            <a:outerShdw blurRad="19050" dist="50800" dir="2700000" algn="bl" rotWithShape="0">
              <a:srgbClr val="B8CCD7">
                <a:alpha val="18000"/>
              </a:srgbClr>
            </a:outerShdw>
          </a:effectLst>
        </p:spPr>
        <p:txBody>
          <a:bodyPr/>
          <a:lstStyle/>
          <a:p>
            <a:endParaRPr lang="nl-NL"/>
          </a:p>
        </p:txBody>
      </p:sp>
      <p:sp>
        <p:nvSpPr>
          <p:cNvPr id="5" name="Text 3"/>
          <p:cNvSpPr/>
          <p:nvPr/>
        </p:nvSpPr>
        <p:spPr>
          <a:xfrm>
            <a:off x="987552" y="1737360"/>
            <a:ext cx="2377440" cy="219456"/>
          </a:xfrm>
          <a:prstGeom prst="rect">
            <a:avLst/>
          </a:prstGeom>
          <a:noFill/>
          <a:ln/>
        </p:spPr>
        <p:txBody>
          <a:bodyPr wrap="square" lIns="0" tIns="0" rIns="0" bIns="0" rtlCol="0" anchor="ctr"/>
          <a:lstStyle/>
          <a:p>
            <a:pPr marL="0" indent="0">
              <a:buNone/>
            </a:pPr>
            <a:r>
              <a:rPr lang="en-US" sz="1600" b="1" dirty="0">
                <a:solidFill>
                  <a:srgbClr val="132133"/>
                </a:solidFill>
              </a:rPr>
              <a:t>Email / chat</a:t>
            </a:r>
            <a:endParaRPr lang="en-US" sz="1600" dirty="0"/>
          </a:p>
        </p:txBody>
      </p:sp>
      <p:sp>
        <p:nvSpPr>
          <p:cNvPr id="6" name="Shape 4"/>
          <p:cNvSpPr/>
          <p:nvPr/>
        </p:nvSpPr>
        <p:spPr>
          <a:xfrm>
            <a:off x="960120" y="2240280"/>
            <a:ext cx="3337560" cy="347472"/>
          </a:xfrm>
          <a:prstGeom prst="roundRect">
            <a:avLst>
              <a:gd name="adj" fmla="val 7895"/>
            </a:avLst>
          </a:prstGeom>
          <a:solidFill>
            <a:srgbClr val="FFFFFF"/>
          </a:solidFill>
          <a:ln w="12700">
            <a:solidFill>
              <a:srgbClr val="F6BE9C"/>
            </a:solidFill>
            <a:prstDash val="solid"/>
          </a:ln>
        </p:spPr>
        <p:txBody>
          <a:bodyPr/>
          <a:lstStyle/>
          <a:p>
            <a:endParaRPr lang="nl-NL"/>
          </a:p>
        </p:txBody>
      </p:sp>
      <p:sp>
        <p:nvSpPr>
          <p:cNvPr id="7" name="Text 5"/>
          <p:cNvSpPr/>
          <p:nvPr/>
        </p:nvSpPr>
        <p:spPr>
          <a:xfrm>
            <a:off x="1143000" y="2359152"/>
            <a:ext cx="2560320" cy="91440"/>
          </a:xfrm>
          <a:prstGeom prst="rect">
            <a:avLst/>
          </a:prstGeom>
          <a:noFill/>
          <a:ln/>
        </p:spPr>
        <p:txBody>
          <a:bodyPr wrap="square" lIns="0" tIns="0" rIns="0" bIns="0" rtlCol="0" anchor="ctr"/>
          <a:lstStyle/>
          <a:p>
            <a:pPr marL="0" indent="0">
              <a:buNone/>
            </a:pPr>
            <a:r>
              <a:rPr lang="en-US" sz="850" dirty="0">
                <a:solidFill>
                  <a:srgbClr val="526779"/>
                </a:solidFill>
              </a:rPr>
              <a:t>video_final.mp4</a:t>
            </a:r>
            <a:endParaRPr lang="en-US" sz="850" dirty="0"/>
          </a:p>
        </p:txBody>
      </p:sp>
      <p:sp>
        <p:nvSpPr>
          <p:cNvPr id="8" name="Shape 6"/>
          <p:cNvSpPr/>
          <p:nvPr/>
        </p:nvSpPr>
        <p:spPr>
          <a:xfrm>
            <a:off x="1188720" y="2715768"/>
            <a:ext cx="3337560" cy="347472"/>
          </a:xfrm>
          <a:prstGeom prst="roundRect">
            <a:avLst>
              <a:gd name="adj" fmla="val 7895"/>
            </a:avLst>
          </a:prstGeom>
          <a:solidFill>
            <a:srgbClr val="FFFFFF"/>
          </a:solidFill>
          <a:ln w="12700">
            <a:solidFill>
              <a:srgbClr val="F6BE9C"/>
            </a:solidFill>
            <a:prstDash val="solid"/>
          </a:ln>
        </p:spPr>
        <p:txBody>
          <a:bodyPr/>
          <a:lstStyle/>
          <a:p>
            <a:endParaRPr lang="nl-NL"/>
          </a:p>
        </p:txBody>
      </p:sp>
      <p:sp>
        <p:nvSpPr>
          <p:cNvPr id="9" name="Text 7"/>
          <p:cNvSpPr/>
          <p:nvPr/>
        </p:nvSpPr>
        <p:spPr>
          <a:xfrm>
            <a:off x="1371600" y="2834640"/>
            <a:ext cx="2560320" cy="91440"/>
          </a:xfrm>
          <a:prstGeom prst="rect">
            <a:avLst/>
          </a:prstGeom>
          <a:noFill/>
          <a:ln/>
        </p:spPr>
        <p:txBody>
          <a:bodyPr wrap="square" lIns="0" tIns="0" rIns="0" bIns="0" rtlCol="0" anchor="ctr"/>
          <a:lstStyle/>
          <a:p>
            <a:pPr marL="0" indent="0">
              <a:buNone/>
            </a:pPr>
            <a:r>
              <a:rPr lang="en-US" sz="850" dirty="0">
                <a:solidFill>
                  <a:srgbClr val="526779"/>
                </a:solidFill>
              </a:rPr>
              <a:t>homework_new.pdf</a:t>
            </a:r>
            <a:endParaRPr lang="en-US" sz="850" dirty="0"/>
          </a:p>
        </p:txBody>
      </p:sp>
      <p:sp>
        <p:nvSpPr>
          <p:cNvPr id="10" name="Shape 8"/>
          <p:cNvSpPr/>
          <p:nvPr/>
        </p:nvSpPr>
        <p:spPr>
          <a:xfrm>
            <a:off x="960120" y="3191256"/>
            <a:ext cx="3337560" cy="347472"/>
          </a:xfrm>
          <a:prstGeom prst="roundRect">
            <a:avLst>
              <a:gd name="adj" fmla="val 7895"/>
            </a:avLst>
          </a:prstGeom>
          <a:solidFill>
            <a:srgbClr val="FFFFFF"/>
          </a:solidFill>
          <a:ln w="12700">
            <a:solidFill>
              <a:srgbClr val="F6BE9C"/>
            </a:solidFill>
            <a:prstDash val="solid"/>
          </a:ln>
        </p:spPr>
        <p:txBody>
          <a:bodyPr/>
          <a:lstStyle/>
          <a:p>
            <a:endParaRPr lang="nl-NL"/>
          </a:p>
        </p:txBody>
      </p:sp>
      <p:sp>
        <p:nvSpPr>
          <p:cNvPr id="11" name="Text 9"/>
          <p:cNvSpPr/>
          <p:nvPr/>
        </p:nvSpPr>
        <p:spPr>
          <a:xfrm>
            <a:off x="1143000" y="3310128"/>
            <a:ext cx="2560320" cy="91440"/>
          </a:xfrm>
          <a:prstGeom prst="rect">
            <a:avLst/>
          </a:prstGeom>
          <a:noFill/>
          <a:ln/>
        </p:spPr>
        <p:txBody>
          <a:bodyPr wrap="square" lIns="0" tIns="0" rIns="0" bIns="0" rtlCol="0" anchor="ctr"/>
          <a:lstStyle/>
          <a:p>
            <a:pPr marL="0" indent="0">
              <a:buNone/>
            </a:pPr>
            <a:r>
              <a:rPr lang="en-US" sz="850" dirty="0">
                <a:solidFill>
                  <a:srgbClr val="526779"/>
                </a:solidFill>
              </a:rPr>
              <a:t>deadline update</a:t>
            </a:r>
            <a:endParaRPr lang="en-US" sz="850" dirty="0"/>
          </a:p>
        </p:txBody>
      </p:sp>
      <p:sp>
        <p:nvSpPr>
          <p:cNvPr id="12" name="Shape 10"/>
          <p:cNvSpPr/>
          <p:nvPr/>
        </p:nvSpPr>
        <p:spPr>
          <a:xfrm>
            <a:off x="1188720" y="3666744"/>
            <a:ext cx="3337560" cy="347472"/>
          </a:xfrm>
          <a:prstGeom prst="roundRect">
            <a:avLst>
              <a:gd name="adj" fmla="val 7895"/>
            </a:avLst>
          </a:prstGeom>
          <a:solidFill>
            <a:srgbClr val="FFFFFF"/>
          </a:solidFill>
          <a:ln w="12700">
            <a:solidFill>
              <a:srgbClr val="F6BE9C"/>
            </a:solidFill>
            <a:prstDash val="solid"/>
          </a:ln>
        </p:spPr>
        <p:txBody>
          <a:bodyPr/>
          <a:lstStyle/>
          <a:p>
            <a:endParaRPr lang="nl-NL"/>
          </a:p>
        </p:txBody>
      </p:sp>
      <p:sp>
        <p:nvSpPr>
          <p:cNvPr id="13" name="Text 11"/>
          <p:cNvSpPr/>
          <p:nvPr/>
        </p:nvSpPr>
        <p:spPr>
          <a:xfrm>
            <a:off x="1371600" y="3785616"/>
            <a:ext cx="2560320" cy="91440"/>
          </a:xfrm>
          <a:prstGeom prst="rect">
            <a:avLst/>
          </a:prstGeom>
          <a:noFill/>
          <a:ln/>
        </p:spPr>
        <p:txBody>
          <a:bodyPr wrap="square" lIns="0" tIns="0" rIns="0" bIns="0" rtlCol="0" anchor="ctr"/>
          <a:lstStyle/>
          <a:p>
            <a:pPr marL="0" indent="0">
              <a:buNone/>
            </a:pPr>
            <a:r>
              <a:rPr lang="en-US" sz="850" dirty="0">
                <a:solidFill>
                  <a:srgbClr val="526779"/>
                </a:solidFill>
              </a:rPr>
              <a:t>correction v2</a:t>
            </a:r>
            <a:endParaRPr lang="en-US" sz="850" dirty="0"/>
          </a:p>
        </p:txBody>
      </p:sp>
      <p:sp>
        <p:nvSpPr>
          <p:cNvPr id="14" name="Shape 12"/>
          <p:cNvSpPr/>
          <p:nvPr/>
        </p:nvSpPr>
        <p:spPr>
          <a:xfrm>
            <a:off x="960120" y="4142232"/>
            <a:ext cx="3337560" cy="347472"/>
          </a:xfrm>
          <a:prstGeom prst="roundRect">
            <a:avLst>
              <a:gd name="adj" fmla="val 7895"/>
            </a:avLst>
          </a:prstGeom>
          <a:solidFill>
            <a:srgbClr val="FFFFFF"/>
          </a:solidFill>
          <a:ln w="12700">
            <a:solidFill>
              <a:srgbClr val="F6BE9C"/>
            </a:solidFill>
            <a:prstDash val="solid"/>
          </a:ln>
        </p:spPr>
        <p:txBody>
          <a:bodyPr/>
          <a:lstStyle/>
          <a:p>
            <a:endParaRPr lang="nl-NL"/>
          </a:p>
        </p:txBody>
      </p:sp>
      <p:sp>
        <p:nvSpPr>
          <p:cNvPr id="15" name="Text 13"/>
          <p:cNvSpPr/>
          <p:nvPr/>
        </p:nvSpPr>
        <p:spPr>
          <a:xfrm>
            <a:off x="1143000" y="4261104"/>
            <a:ext cx="2560320" cy="91440"/>
          </a:xfrm>
          <a:prstGeom prst="rect">
            <a:avLst/>
          </a:prstGeom>
          <a:noFill/>
          <a:ln/>
        </p:spPr>
        <p:txBody>
          <a:bodyPr wrap="square" lIns="0" tIns="0" rIns="0" bIns="0" rtlCol="0" anchor="ctr"/>
          <a:lstStyle/>
          <a:p>
            <a:pPr marL="0" indent="0">
              <a:buNone/>
            </a:pPr>
            <a:r>
              <a:rPr lang="en-US" sz="850" dirty="0">
                <a:solidFill>
                  <a:srgbClr val="526779"/>
                </a:solidFill>
              </a:rPr>
              <a:t>feedback reply</a:t>
            </a:r>
            <a:endParaRPr lang="en-US" sz="850" dirty="0"/>
          </a:p>
        </p:txBody>
      </p:sp>
      <p:sp>
        <p:nvSpPr>
          <p:cNvPr id="16" name="Text 14"/>
          <p:cNvSpPr/>
          <p:nvPr/>
        </p:nvSpPr>
        <p:spPr>
          <a:xfrm>
            <a:off x="987552" y="4892040"/>
            <a:ext cx="3383280" cy="274320"/>
          </a:xfrm>
          <a:prstGeom prst="rect">
            <a:avLst/>
          </a:prstGeom>
          <a:noFill/>
          <a:ln/>
        </p:spPr>
        <p:txBody>
          <a:bodyPr wrap="square" lIns="0" tIns="0" rIns="0" bIns="0" rtlCol="0" anchor="ctr">
            <a:normAutofit fontScale="92500" lnSpcReduction="20000"/>
          </a:bodyPr>
          <a:lstStyle/>
          <a:p>
            <a:pPr marL="0" indent="0">
              <a:buNone/>
            </a:pPr>
            <a:r>
              <a:rPr lang="en-US" sz="1200" b="1" dirty="0">
                <a:solidFill>
                  <a:srgbClr val="D64545"/>
                </a:solidFill>
              </a:rPr>
              <a:t>Problem: students waste online time searching through scattered messages.</a:t>
            </a:r>
            <a:endParaRPr lang="en-US" sz="1200" dirty="0"/>
          </a:p>
        </p:txBody>
      </p:sp>
      <p:sp>
        <p:nvSpPr>
          <p:cNvPr id="17" name="Shape 15"/>
          <p:cNvSpPr/>
          <p:nvPr/>
        </p:nvSpPr>
        <p:spPr>
          <a:xfrm>
            <a:off x="7132320" y="1417320"/>
            <a:ext cx="4389120" cy="4206240"/>
          </a:xfrm>
          <a:prstGeom prst="roundRect">
            <a:avLst>
              <a:gd name="adj" fmla="val 2609"/>
            </a:avLst>
          </a:prstGeom>
          <a:solidFill>
            <a:srgbClr val="F4FCFB"/>
          </a:solidFill>
          <a:ln w="13970">
            <a:solidFill>
              <a:srgbClr val="BBEBE4"/>
            </a:solidFill>
            <a:prstDash val="solid"/>
          </a:ln>
          <a:effectLst>
            <a:outerShdw blurRad="19050" dist="50800" dir="2700000" algn="bl" rotWithShape="0">
              <a:srgbClr val="B8CCD7">
                <a:alpha val="18000"/>
              </a:srgbClr>
            </a:outerShdw>
          </a:effectLst>
        </p:spPr>
        <p:txBody>
          <a:bodyPr/>
          <a:lstStyle/>
          <a:p>
            <a:endParaRPr lang="nl-NL"/>
          </a:p>
        </p:txBody>
      </p:sp>
      <p:sp>
        <p:nvSpPr>
          <p:cNvPr id="18" name="Text 16"/>
          <p:cNvSpPr/>
          <p:nvPr/>
        </p:nvSpPr>
        <p:spPr>
          <a:xfrm>
            <a:off x="7406640" y="1737360"/>
            <a:ext cx="2377440" cy="219456"/>
          </a:xfrm>
          <a:prstGeom prst="rect">
            <a:avLst/>
          </a:prstGeom>
          <a:noFill/>
          <a:ln/>
        </p:spPr>
        <p:txBody>
          <a:bodyPr wrap="square" lIns="0" tIns="0" rIns="0" bIns="0" rtlCol="0" anchor="ctr"/>
          <a:lstStyle/>
          <a:p>
            <a:pPr marL="0" indent="0">
              <a:buNone/>
            </a:pPr>
            <a:r>
              <a:rPr lang="en-US" sz="1600" b="1" dirty="0">
                <a:solidFill>
                  <a:srgbClr val="132133"/>
                </a:solidFill>
              </a:rPr>
              <a:t>LearnBridge</a:t>
            </a:r>
            <a:endParaRPr lang="en-US" sz="1600" dirty="0"/>
          </a:p>
        </p:txBody>
      </p:sp>
      <p:sp>
        <p:nvSpPr>
          <p:cNvPr id="19" name="Shape 17"/>
          <p:cNvSpPr/>
          <p:nvPr/>
        </p:nvSpPr>
        <p:spPr>
          <a:xfrm>
            <a:off x="7406640" y="2240280"/>
            <a:ext cx="3337560" cy="384048"/>
          </a:xfrm>
          <a:prstGeom prst="roundRect">
            <a:avLst>
              <a:gd name="adj" fmla="val 9524"/>
            </a:avLst>
          </a:prstGeom>
          <a:solidFill>
            <a:srgbClr val="FFFFFF"/>
          </a:solidFill>
          <a:ln w="12700">
            <a:solidFill>
              <a:srgbClr val="B5E6E0"/>
            </a:solidFill>
            <a:prstDash val="solid"/>
          </a:ln>
        </p:spPr>
        <p:txBody>
          <a:bodyPr/>
          <a:lstStyle/>
          <a:p>
            <a:endParaRPr lang="nl-NL"/>
          </a:p>
        </p:txBody>
      </p:sp>
      <p:sp>
        <p:nvSpPr>
          <p:cNvPr id="20" name="Text 18"/>
          <p:cNvSpPr/>
          <p:nvPr/>
        </p:nvSpPr>
        <p:spPr>
          <a:xfrm>
            <a:off x="7589520" y="2377440"/>
            <a:ext cx="914400" cy="91440"/>
          </a:xfrm>
          <a:prstGeom prst="rect">
            <a:avLst/>
          </a:prstGeom>
          <a:noFill/>
          <a:ln/>
        </p:spPr>
        <p:txBody>
          <a:bodyPr wrap="square" lIns="0" tIns="0" rIns="0" bIns="0" rtlCol="0" anchor="ctr"/>
          <a:lstStyle/>
          <a:p>
            <a:pPr marL="0" indent="0">
              <a:buNone/>
            </a:pPr>
            <a:r>
              <a:rPr lang="en-US" sz="850" dirty="0">
                <a:solidFill>
                  <a:srgbClr val="526779"/>
                </a:solidFill>
              </a:rPr>
              <a:t>Subject</a:t>
            </a:r>
            <a:endParaRPr lang="en-US" sz="850" dirty="0"/>
          </a:p>
        </p:txBody>
      </p:sp>
      <p:sp>
        <p:nvSpPr>
          <p:cNvPr id="21" name="Text 19"/>
          <p:cNvSpPr/>
          <p:nvPr/>
        </p:nvSpPr>
        <p:spPr>
          <a:xfrm>
            <a:off x="8549640" y="2359152"/>
            <a:ext cx="1828800" cy="109728"/>
          </a:xfrm>
          <a:prstGeom prst="rect">
            <a:avLst/>
          </a:prstGeom>
          <a:noFill/>
          <a:ln/>
        </p:spPr>
        <p:txBody>
          <a:bodyPr wrap="square" lIns="0" tIns="0" rIns="0" bIns="0" rtlCol="0" anchor="ctr"/>
          <a:lstStyle/>
          <a:p>
            <a:pPr marL="0" indent="0">
              <a:buNone/>
            </a:pPr>
            <a:r>
              <a:rPr lang="en-US" sz="950" b="1" dirty="0">
                <a:solidFill>
                  <a:srgbClr val="132133"/>
                </a:solidFill>
              </a:rPr>
              <a:t>Mathematics</a:t>
            </a:r>
            <a:endParaRPr lang="en-US" sz="950" dirty="0"/>
          </a:p>
        </p:txBody>
      </p:sp>
      <p:sp>
        <p:nvSpPr>
          <p:cNvPr id="22" name="Shape 20"/>
          <p:cNvSpPr/>
          <p:nvPr/>
        </p:nvSpPr>
        <p:spPr>
          <a:xfrm>
            <a:off x="7406640" y="2770632"/>
            <a:ext cx="3337560" cy="384048"/>
          </a:xfrm>
          <a:prstGeom prst="roundRect">
            <a:avLst>
              <a:gd name="adj" fmla="val 9524"/>
            </a:avLst>
          </a:prstGeom>
          <a:solidFill>
            <a:srgbClr val="FFFFFF"/>
          </a:solidFill>
          <a:ln w="12700">
            <a:solidFill>
              <a:srgbClr val="B5E6E0"/>
            </a:solidFill>
            <a:prstDash val="solid"/>
          </a:ln>
        </p:spPr>
        <p:txBody>
          <a:bodyPr/>
          <a:lstStyle/>
          <a:p>
            <a:endParaRPr lang="nl-NL"/>
          </a:p>
        </p:txBody>
      </p:sp>
      <p:sp>
        <p:nvSpPr>
          <p:cNvPr id="23" name="Text 21"/>
          <p:cNvSpPr/>
          <p:nvPr/>
        </p:nvSpPr>
        <p:spPr>
          <a:xfrm>
            <a:off x="7589520" y="2907792"/>
            <a:ext cx="914400" cy="91440"/>
          </a:xfrm>
          <a:prstGeom prst="rect">
            <a:avLst/>
          </a:prstGeom>
          <a:noFill/>
          <a:ln/>
        </p:spPr>
        <p:txBody>
          <a:bodyPr wrap="square" lIns="0" tIns="0" rIns="0" bIns="0" rtlCol="0" anchor="ctr"/>
          <a:lstStyle/>
          <a:p>
            <a:pPr marL="0" indent="0">
              <a:buNone/>
            </a:pPr>
            <a:r>
              <a:rPr lang="en-US" sz="850" dirty="0">
                <a:solidFill>
                  <a:srgbClr val="526779"/>
                </a:solidFill>
              </a:rPr>
              <a:t>Lesson</a:t>
            </a:r>
            <a:endParaRPr lang="en-US" sz="850" dirty="0"/>
          </a:p>
        </p:txBody>
      </p:sp>
      <p:sp>
        <p:nvSpPr>
          <p:cNvPr id="24" name="Text 22"/>
          <p:cNvSpPr/>
          <p:nvPr/>
        </p:nvSpPr>
        <p:spPr>
          <a:xfrm>
            <a:off x="8549640" y="2889504"/>
            <a:ext cx="1828800" cy="109728"/>
          </a:xfrm>
          <a:prstGeom prst="rect">
            <a:avLst/>
          </a:prstGeom>
          <a:noFill/>
          <a:ln/>
        </p:spPr>
        <p:txBody>
          <a:bodyPr wrap="square" lIns="0" tIns="0" rIns="0" bIns="0" rtlCol="0" anchor="ctr"/>
          <a:lstStyle/>
          <a:p>
            <a:pPr marL="0" indent="0">
              <a:buNone/>
            </a:pPr>
            <a:r>
              <a:rPr lang="en-US" sz="950" b="1" dirty="0">
                <a:solidFill>
                  <a:srgbClr val="132133"/>
                </a:solidFill>
              </a:rPr>
              <a:t>Fractions</a:t>
            </a:r>
            <a:endParaRPr lang="en-US" sz="950" dirty="0"/>
          </a:p>
        </p:txBody>
      </p:sp>
      <p:sp>
        <p:nvSpPr>
          <p:cNvPr id="25" name="Shape 23"/>
          <p:cNvSpPr/>
          <p:nvPr/>
        </p:nvSpPr>
        <p:spPr>
          <a:xfrm>
            <a:off x="7406640" y="3300984"/>
            <a:ext cx="3337560" cy="384048"/>
          </a:xfrm>
          <a:prstGeom prst="roundRect">
            <a:avLst>
              <a:gd name="adj" fmla="val 9524"/>
            </a:avLst>
          </a:prstGeom>
          <a:solidFill>
            <a:srgbClr val="FFFFFF"/>
          </a:solidFill>
          <a:ln w="12700">
            <a:solidFill>
              <a:srgbClr val="B5E6E0"/>
            </a:solidFill>
            <a:prstDash val="solid"/>
          </a:ln>
        </p:spPr>
        <p:txBody>
          <a:bodyPr/>
          <a:lstStyle/>
          <a:p>
            <a:endParaRPr lang="nl-NL"/>
          </a:p>
        </p:txBody>
      </p:sp>
      <p:sp>
        <p:nvSpPr>
          <p:cNvPr id="26" name="Text 24"/>
          <p:cNvSpPr/>
          <p:nvPr/>
        </p:nvSpPr>
        <p:spPr>
          <a:xfrm>
            <a:off x="7589520" y="3438144"/>
            <a:ext cx="914400" cy="91440"/>
          </a:xfrm>
          <a:prstGeom prst="rect">
            <a:avLst/>
          </a:prstGeom>
          <a:noFill/>
          <a:ln/>
        </p:spPr>
        <p:txBody>
          <a:bodyPr wrap="square" lIns="0" tIns="0" rIns="0" bIns="0" rtlCol="0" anchor="ctr"/>
          <a:lstStyle/>
          <a:p>
            <a:pPr marL="0" indent="0">
              <a:buNone/>
            </a:pPr>
            <a:r>
              <a:rPr lang="en-US" sz="850" dirty="0">
                <a:solidFill>
                  <a:srgbClr val="526779"/>
                </a:solidFill>
              </a:rPr>
              <a:t>Homework</a:t>
            </a:r>
            <a:endParaRPr lang="en-US" sz="850" dirty="0"/>
          </a:p>
        </p:txBody>
      </p:sp>
      <p:sp>
        <p:nvSpPr>
          <p:cNvPr id="27" name="Text 25"/>
          <p:cNvSpPr/>
          <p:nvPr/>
        </p:nvSpPr>
        <p:spPr>
          <a:xfrm>
            <a:off x="8549640" y="3419856"/>
            <a:ext cx="1828800" cy="109728"/>
          </a:xfrm>
          <a:prstGeom prst="rect">
            <a:avLst/>
          </a:prstGeom>
          <a:noFill/>
          <a:ln/>
        </p:spPr>
        <p:txBody>
          <a:bodyPr wrap="square" lIns="0" tIns="0" rIns="0" bIns="0" rtlCol="0" anchor="ctr"/>
          <a:lstStyle/>
          <a:p>
            <a:pPr marL="0" indent="0">
              <a:buNone/>
            </a:pPr>
            <a:r>
              <a:rPr lang="en-US" sz="950" b="1" dirty="0">
                <a:solidFill>
                  <a:srgbClr val="132133"/>
                </a:solidFill>
              </a:rPr>
              <a:t>Worksheet</a:t>
            </a:r>
            <a:endParaRPr lang="en-US" sz="950" dirty="0"/>
          </a:p>
        </p:txBody>
      </p:sp>
      <p:sp>
        <p:nvSpPr>
          <p:cNvPr id="28" name="Shape 26"/>
          <p:cNvSpPr/>
          <p:nvPr/>
        </p:nvSpPr>
        <p:spPr>
          <a:xfrm>
            <a:off x="7406640" y="3831336"/>
            <a:ext cx="3337560" cy="384048"/>
          </a:xfrm>
          <a:prstGeom prst="roundRect">
            <a:avLst>
              <a:gd name="adj" fmla="val 9524"/>
            </a:avLst>
          </a:prstGeom>
          <a:solidFill>
            <a:srgbClr val="FFFFFF"/>
          </a:solidFill>
          <a:ln w="12700">
            <a:solidFill>
              <a:srgbClr val="B5E6E0"/>
            </a:solidFill>
            <a:prstDash val="solid"/>
          </a:ln>
        </p:spPr>
        <p:txBody>
          <a:bodyPr/>
          <a:lstStyle/>
          <a:p>
            <a:endParaRPr lang="nl-NL"/>
          </a:p>
        </p:txBody>
      </p:sp>
      <p:sp>
        <p:nvSpPr>
          <p:cNvPr id="29" name="Text 27"/>
          <p:cNvSpPr/>
          <p:nvPr/>
        </p:nvSpPr>
        <p:spPr>
          <a:xfrm>
            <a:off x="7589520" y="3968496"/>
            <a:ext cx="914400" cy="91440"/>
          </a:xfrm>
          <a:prstGeom prst="rect">
            <a:avLst/>
          </a:prstGeom>
          <a:noFill/>
          <a:ln/>
        </p:spPr>
        <p:txBody>
          <a:bodyPr wrap="square" lIns="0" tIns="0" rIns="0" bIns="0" rtlCol="0" anchor="ctr"/>
          <a:lstStyle/>
          <a:p>
            <a:pPr marL="0" indent="0">
              <a:buNone/>
            </a:pPr>
            <a:r>
              <a:rPr lang="en-US" sz="850" dirty="0">
                <a:solidFill>
                  <a:srgbClr val="526779"/>
                </a:solidFill>
              </a:rPr>
              <a:t>Status</a:t>
            </a:r>
            <a:endParaRPr lang="en-US" sz="850" dirty="0"/>
          </a:p>
        </p:txBody>
      </p:sp>
      <p:sp>
        <p:nvSpPr>
          <p:cNvPr id="30" name="Text 28"/>
          <p:cNvSpPr/>
          <p:nvPr/>
        </p:nvSpPr>
        <p:spPr>
          <a:xfrm>
            <a:off x="8549640" y="3950208"/>
            <a:ext cx="1828800" cy="109728"/>
          </a:xfrm>
          <a:prstGeom prst="rect">
            <a:avLst/>
          </a:prstGeom>
          <a:noFill/>
          <a:ln/>
        </p:spPr>
        <p:txBody>
          <a:bodyPr wrap="square" lIns="0" tIns="0" rIns="0" bIns="0" rtlCol="0" anchor="ctr"/>
          <a:lstStyle/>
          <a:p>
            <a:pPr marL="0" indent="0">
              <a:buNone/>
            </a:pPr>
            <a:r>
              <a:rPr lang="en-US" sz="950" b="1" dirty="0">
                <a:solidFill>
                  <a:srgbClr val="1C8C64"/>
                </a:solidFill>
              </a:rPr>
              <a:t>Available Offline</a:t>
            </a:r>
            <a:endParaRPr lang="en-US" sz="950" dirty="0"/>
          </a:p>
        </p:txBody>
      </p:sp>
      <p:sp>
        <p:nvSpPr>
          <p:cNvPr id="31" name="Text 29"/>
          <p:cNvSpPr/>
          <p:nvPr/>
        </p:nvSpPr>
        <p:spPr>
          <a:xfrm>
            <a:off x="7434072" y="4892040"/>
            <a:ext cx="3383280" cy="274320"/>
          </a:xfrm>
          <a:prstGeom prst="rect">
            <a:avLst/>
          </a:prstGeom>
          <a:noFill/>
          <a:ln/>
        </p:spPr>
        <p:txBody>
          <a:bodyPr wrap="square" lIns="0" tIns="0" rIns="0" bIns="0" rtlCol="0" anchor="ctr">
            <a:normAutofit fontScale="92500" lnSpcReduction="20000"/>
          </a:bodyPr>
          <a:lstStyle/>
          <a:p>
            <a:pPr marL="0" indent="0">
              <a:buNone/>
            </a:pPr>
            <a:r>
              <a:rPr lang="en-US" sz="1200" b="1" dirty="0">
                <a:solidFill>
                  <a:srgbClr val="1C8C64"/>
                </a:solidFill>
              </a:rPr>
              <a:t>Solution: one place for lessons, homework, deadlines and offline access.</a:t>
            </a:r>
            <a:endParaRPr lang="en-US" sz="1200" dirty="0"/>
          </a:p>
        </p:txBody>
      </p:sp>
      <p:sp>
        <p:nvSpPr>
          <p:cNvPr id="32" name="Shape 30"/>
          <p:cNvSpPr/>
          <p:nvPr/>
        </p:nvSpPr>
        <p:spPr>
          <a:xfrm>
            <a:off x="5413248" y="2834640"/>
            <a:ext cx="1051560" cy="786384"/>
          </a:xfrm>
          <a:prstGeom prst="chevron">
            <a:avLst/>
          </a:prstGeom>
          <a:solidFill>
            <a:srgbClr val="1E70C1"/>
          </a:solidFill>
          <a:ln w="12700">
            <a:solidFill>
              <a:srgbClr val="1E70C1"/>
            </a:solidFill>
            <a:prstDash val="solid"/>
          </a:ln>
        </p:spPr>
        <p:txBody>
          <a:bodyPr/>
          <a:lstStyle/>
          <a:p>
            <a:endParaRPr lang="nl-NL"/>
          </a:p>
        </p:txBody>
      </p:sp>
      <p:sp>
        <p:nvSpPr>
          <p:cNvPr id="33" name="Text 31"/>
          <p:cNvSpPr/>
          <p:nvPr/>
        </p:nvSpPr>
        <p:spPr>
          <a:xfrm>
            <a:off x="5257800" y="3749040"/>
            <a:ext cx="1371600" cy="182880"/>
          </a:xfrm>
          <a:prstGeom prst="rect">
            <a:avLst/>
          </a:prstGeom>
          <a:noFill/>
          <a:ln/>
        </p:spPr>
        <p:txBody>
          <a:bodyPr wrap="square" lIns="0" tIns="0" rIns="0" bIns="0" rtlCol="0" anchor="ctr"/>
          <a:lstStyle/>
          <a:p>
            <a:pPr marL="0" indent="0" algn="ctr">
              <a:buNone/>
            </a:pPr>
            <a:r>
              <a:rPr lang="en-US" sz="1050" b="1" dirty="0">
                <a:solidFill>
                  <a:srgbClr val="1E70C1"/>
                </a:solidFill>
              </a:rPr>
              <a:t>better fit</a:t>
            </a:r>
            <a:endParaRPr lang="en-US" sz="1050" dirty="0"/>
          </a:p>
        </p:txBody>
      </p:sp>
      <p:sp>
        <p:nvSpPr>
          <p:cNvPr id="34" name="Text 32"/>
          <p:cNvSpPr/>
          <p:nvPr/>
        </p:nvSpPr>
        <p:spPr>
          <a:xfrm>
            <a:off x="502920" y="6629400"/>
            <a:ext cx="4114800" cy="109728"/>
          </a:xfrm>
          <a:prstGeom prst="rect">
            <a:avLst/>
          </a:prstGeom>
          <a:noFill/>
          <a:ln/>
        </p:spPr>
        <p:txBody>
          <a:bodyPr wrap="square" lIns="0" tIns="0" rIns="0" bIns="0" rtlCol="0" anchor="ctr"/>
          <a:lstStyle/>
          <a:p>
            <a:pPr marL="0" indent="0">
              <a:buNone/>
            </a:pPr>
            <a:r>
              <a:rPr lang="en-US" sz="750" dirty="0">
                <a:solidFill>
                  <a:srgbClr val="5D7080"/>
                </a:solidFill>
                <a:latin typeface="Aptos" pitchFamily="34" charset="0"/>
                <a:ea typeface="Aptos" pitchFamily="34" charset="-122"/>
                <a:cs typeface="Aptos" pitchFamily="34" charset="-120"/>
              </a:rPr>
              <a:t>LearnBridge · AI for Good · SDG 4</a:t>
            </a:r>
            <a:endParaRPr lang="en-US" sz="750" dirty="0"/>
          </a:p>
        </p:txBody>
      </p:sp>
      <p:sp>
        <p:nvSpPr>
          <p:cNvPr id="35" name="Text 33"/>
          <p:cNvSpPr/>
          <p:nvPr/>
        </p:nvSpPr>
        <p:spPr>
          <a:xfrm>
            <a:off x="11411712" y="6629400"/>
            <a:ext cx="274320" cy="109728"/>
          </a:xfrm>
          <a:prstGeom prst="rect">
            <a:avLst/>
          </a:prstGeom>
          <a:noFill/>
          <a:ln/>
        </p:spPr>
        <p:txBody>
          <a:bodyPr wrap="square" lIns="0" tIns="0" rIns="0" bIns="0" rtlCol="0" anchor="ctr"/>
          <a:lstStyle/>
          <a:p>
            <a:pPr marL="0" indent="0" algn="r">
              <a:buNone/>
            </a:pPr>
            <a:r>
              <a:rPr lang="en-US" sz="750" dirty="0">
                <a:solidFill>
                  <a:srgbClr val="5D7080"/>
                </a:solidFill>
                <a:latin typeface="Aptos" pitchFamily="34" charset="0"/>
                <a:ea typeface="Aptos" pitchFamily="34" charset="-122"/>
                <a:cs typeface="Aptos" pitchFamily="34" charset="-120"/>
              </a:rPr>
              <a:t>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BFF"/>
        </a:solidFill>
        <a:effectLst/>
      </p:bgPr>
    </p:bg>
    <p:spTree>
      <p:nvGrpSpPr>
        <p:cNvPr id="1" name=""/>
        <p:cNvGrpSpPr/>
        <p:nvPr/>
      </p:nvGrpSpPr>
      <p:grpSpPr>
        <a:xfrm>
          <a:off x="0" y="0"/>
          <a:ext cx="0" cy="0"/>
          <a:chOff x="0" y="0"/>
          <a:chExt cx="0" cy="0"/>
        </a:xfrm>
      </p:grpSpPr>
      <p:sp>
        <p:nvSpPr>
          <p:cNvPr id="2" name="Text 0"/>
          <p:cNvSpPr/>
          <p:nvPr/>
        </p:nvSpPr>
        <p:spPr>
          <a:xfrm>
            <a:off x="594360" y="438912"/>
            <a:ext cx="7680960" cy="502920"/>
          </a:xfrm>
          <a:prstGeom prst="rect">
            <a:avLst/>
          </a:prstGeom>
          <a:noFill/>
          <a:ln/>
        </p:spPr>
        <p:txBody>
          <a:bodyPr wrap="square" lIns="0" tIns="0" rIns="0" bIns="0" rtlCol="0" anchor="ctr">
            <a:normAutofit/>
          </a:bodyPr>
          <a:lstStyle/>
          <a:p>
            <a:pPr marL="0" indent="0">
              <a:buNone/>
            </a:pPr>
            <a:r>
              <a:rPr lang="en-US" sz="3000" b="1" dirty="0">
                <a:solidFill>
                  <a:srgbClr val="132133"/>
                </a:solidFill>
                <a:latin typeface="Aptos Display" pitchFamily="34" charset="0"/>
                <a:ea typeface="Aptos Display" pitchFamily="34" charset="-122"/>
                <a:cs typeface="Aptos Display" pitchFamily="34" charset="-120"/>
              </a:rPr>
              <a:t>The solution</a:t>
            </a:r>
            <a:endParaRPr lang="en-US" sz="3000" dirty="0"/>
          </a:p>
        </p:txBody>
      </p:sp>
      <p:sp>
        <p:nvSpPr>
          <p:cNvPr id="3" name="Text 1"/>
          <p:cNvSpPr/>
          <p:nvPr/>
        </p:nvSpPr>
        <p:spPr>
          <a:xfrm>
            <a:off x="612648" y="1005840"/>
            <a:ext cx="6583680" cy="237744"/>
          </a:xfrm>
          <a:prstGeom prst="rect">
            <a:avLst/>
          </a:prstGeom>
          <a:noFill/>
          <a:ln/>
        </p:spPr>
        <p:txBody>
          <a:bodyPr wrap="square" lIns="0" tIns="0" rIns="0" bIns="0" rtlCol="0" anchor="ctr"/>
          <a:lstStyle/>
          <a:p>
            <a:pPr marL="0" indent="0">
              <a:buNone/>
            </a:pPr>
            <a:r>
              <a:rPr lang="en-US" sz="1050" dirty="0">
                <a:solidFill>
                  <a:srgbClr val="526779"/>
                </a:solidFill>
                <a:latin typeface="Aptos" pitchFamily="34" charset="0"/>
                <a:ea typeface="Aptos" pitchFamily="34" charset="-122"/>
                <a:cs typeface="Aptos" pitchFamily="34" charset="-120"/>
              </a:rPr>
              <a:t>A role-based, offline-first learning workflow.</a:t>
            </a:r>
            <a:endParaRPr lang="en-US" sz="1050" dirty="0"/>
          </a:p>
        </p:txBody>
      </p:sp>
      <p:sp>
        <p:nvSpPr>
          <p:cNvPr id="4" name="Shape 2"/>
          <p:cNvSpPr/>
          <p:nvPr/>
        </p:nvSpPr>
        <p:spPr>
          <a:xfrm>
            <a:off x="2834640" y="2176272"/>
            <a:ext cx="457200" cy="502920"/>
          </a:xfrm>
          <a:prstGeom prst="chevron">
            <a:avLst/>
          </a:prstGeom>
          <a:solidFill>
            <a:srgbClr val="A5C9DB"/>
          </a:solidFill>
          <a:ln w="12700">
            <a:solidFill>
              <a:srgbClr val="A5C9DB"/>
            </a:solidFill>
            <a:prstDash val="solid"/>
          </a:ln>
        </p:spPr>
        <p:txBody>
          <a:bodyPr/>
          <a:lstStyle/>
          <a:p>
            <a:endParaRPr lang="nl-NL"/>
          </a:p>
        </p:txBody>
      </p:sp>
      <p:sp>
        <p:nvSpPr>
          <p:cNvPr id="5" name="Shape 3"/>
          <p:cNvSpPr/>
          <p:nvPr/>
        </p:nvSpPr>
        <p:spPr>
          <a:xfrm>
            <a:off x="5669280" y="2176272"/>
            <a:ext cx="457200" cy="502920"/>
          </a:xfrm>
          <a:prstGeom prst="chevron">
            <a:avLst/>
          </a:prstGeom>
          <a:solidFill>
            <a:srgbClr val="A5C9DB"/>
          </a:solidFill>
          <a:ln w="12700">
            <a:solidFill>
              <a:srgbClr val="A5C9DB"/>
            </a:solidFill>
            <a:prstDash val="solid"/>
          </a:ln>
        </p:spPr>
        <p:txBody>
          <a:bodyPr/>
          <a:lstStyle/>
          <a:p>
            <a:endParaRPr lang="nl-NL"/>
          </a:p>
        </p:txBody>
      </p:sp>
      <p:sp>
        <p:nvSpPr>
          <p:cNvPr id="6" name="Shape 4"/>
          <p:cNvSpPr/>
          <p:nvPr/>
        </p:nvSpPr>
        <p:spPr>
          <a:xfrm>
            <a:off x="8503920" y="2176272"/>
            <a:ext cx="457200" cy="502920"/>
          </a:xfrm>
          <a:prstGeom prst="chevron">
            <a:avLst/>
          </a:prstGeom>
          <a:solidFill>
            <a:srgbClr val="A5C9DB"/>
          </a:solidFill>
          <a:ln w="12700">
            <a:solidFill>
              <a:srgbClr val="A5C9DB"/>
            </a:solidFill>
            <a:prstDash val="solid"/>
          </a:ln>
        </p:spPr>
        <p:txBody>
          <a:bodyPr/>
          <a:lstStyle/>
          <a:p>
            <a:endParaRPr lang="nl-NL"/>
          </a:p>
        </p:txBody>
      </p:sp>
      <p:sp>
        <p:nvSpPr>
          <p:cNvPr id="7" name="Shape 5"/>
          <p:cNvSpPr/>
          <p:nvPr/>
        </p:nvSpPr>
        <p:spPr>
          <a:xfrm>
            <a:off x="777240" y="1965960"/>
            <a:ext cx="2011680" cy="932688"/>
          </a:xfrm>
          <a:prstGeom prst="roundRect">
            <a:avLst>
              <a:gd name="adj" fmla="val 11765"/>
            </a:avLst>
          </a:prstGeom>
          <a:solidFill>
            <a:srgbClr val="DFF7F3"/>
          </a:solidFill>
          <a:ln w="13970">
            <a:solidFill>
              <a:srgbClr val="DFF7F3"/>
            </a:solidFill>
            <a:prstDash val="solid"/>
          </a:ln>
        </p:spPr>
        <p:txBody>
          <a:bodyPr/>
          <a:lstStyle/>
          <a:p>
            <a:endParaRPr lang="nl-NL"/>
          </a:p>
        </p:txBody>
      </p:sp>
      <p:sp>
        <p:nvSpPr>
          <p:cNvPr id="8" name="Text 6"/>
          <p:cNvSpPr/>
          <p:nvPr/>
        </p:nvSpPr>
        <p:spPr>
          <a:xfrm>
            <a:off x="941832" y="2130552"/>
            <a:ext cx="1682496" cy="182880"/>
          </a:xfrm>
          <a:prstGeom prst="rect">
            <a:avLst/>
          </a:prstGeom>
          <a:noFill/>
          <a:ln/>
        </p:spPr>
        <p:txBody>
          <a:bodyPr wrap="square" lIns="0" tIns="0" rIns="0" bIns="0" rtlCol="0" anchor="ctr"/>
          <a:lstStyle/>
          <a:p>
            <a:pPr marL="0" indent="0" algn="ctr">
              <a:buNone/>
            </a:pPr>
            <a:r>
              <a:rPr lang="en-US" sz="1600" b="1" dirty="0">
                <a:solidFill>
                  <a:srgbClr val="18A7A0"/>
                </a:solidFill>
              </a:rPr>
              <a:t>Teacher</a:t>
            </a:r>
            <a:endParaRPr lang="en-US" sz="1600" dirty="0"/>
          </a:p>
        </p:txBody>
      </p:sp>
      <p:sp>
        <p:nvSpPr>
          <p:cNvPr id="9" name="Text 7"/>
          <p:cNvSpPr/>
          <p:nvPr/>
        </p:nvSpPr>
        <p:spPr>
          <a:xfrm>
            <a:off x="941832" y="2377440"/>
            <a:ext cx="1728216" cy="457200"/>
          </a:xfrm>
          <a:prstGeom prst="rect">
            <a:avLst/>
          </a:prstGeom>
          <a:noFill/>
          <a:ln/>
        </p:spPr>
        <p:txBody>
          <a:bodyPr wrap="square" lIns="0" tIns="0" rIns="0" bIns="0" rtlCol="0" anchor="ctr">
            <a:normAutofit/>
          </a:bodyPr>
          <a:lstStyle/>
          <a:p>
            <a:pPr marL="0" indent="0" algn="ctr">
              <a:buNone/>
            </a:pPr>
            <a:r>
              <a:rPr lang="en-US" sz="1000" dirty="0">
                <a:solidFill>
                  <a:srgbClr val="132133"/>
                </a:solidFill>
              </a:rPr>
              <a:t>Creates class</a:t>
            </a:r>
            <a:br>
              <a:rPr lang="en-US" sz="1000" dirty="0">
                <a:solidFill>
                  <a:srgbClr val="132133"/>
                </a:solidFill>
              </a:rPr>
            </a:br>
            <a:r>
              <a:rPr lang="en-US" sz="1000" dirty="0">
                <a:solidFill>
                  <a:srgbClr val="132133"/>
                </a:solidFill>
              </a:rPr>
              <a:t>publishes lessons</a:t>
            </a:r>
            <a:endParaRPr lang="en-US" sz="1000" dirty="0"/>
          </a:p>
          <a:p>
            <a:pPr marL="0" indent="0" algn="ctr">
              <a:buNone/>
            </a:pPr>
            <a:r>
              <a:rPr lang="en-US" sz="1000" dirty="0">
                <a:solidFill>
                  <a:srgbClr val="132133"/>
                </a:solidFill>
              </a:rPr>
              <a:t>and homework</a:t>
            </a:r>
            <a:endParaRPr lang="en-US" sz="1000" dirty="0"/>
          </a:p>
        </p:txBody>
      </p:sp>
      <p:sp>
        <p:nvSpPr>
          <p:cNvPr id="10" name="Shape 8"/>
          <p:cNvSpPr/>
          <p:nvPr/>
        </p:nvSpPr>
        <p:spPr>
          <a:xfrm>
            <a:off x="3429000" y="1965960"/>
            <a:ext cx="2148840" cy="932688"/>
          </a:xfrm>
          <a:prstGeom prst="roundRect">
            <a:avLst>
              <a:gd name="adj" fmla="val 11765"/>
            </a:avLst>
          </a:prstGeom>
          <a:solidFill>
            <a:srgbClr val="EAF7FF"/>
          </a:solidFill>
          <a:ln w="13970">
            <a:solidFill>
              <a:srgbClr val="EAF7FF"/>
            </a:solidFill>
            <a:prstDash val="solid"/>
          </a:ln>
        </p:spPr>
        <p:txBody>
          <a:bodyPr/>
          <a:lstStyle/>
          <a:p>
            <a:endParaRPr lang="nl-NL"/>
          </a:p>
        </p:txBody>
      </p:sp>
      <p:sp>
        <p:nvSpPr>
          <p:cNvPr id="11" name="Text 9"/>
          <p:cNvSpPr/>
          <p:nvPr/>
        </p:nvSpPr>
        <p:spPr>
          <a:xfrm>
            <a:off x="3593592" y="2130552"/>
            <a:ext cx="1819656" cy="182880"/>
          </a:xfrm>
          <a:prstGeom prst="rect">
            <a:avLst/>
          </a:prstGeom>
          <a:noFill/>
          <a:ln/>
        </p:spPr>
        <p:txBody>
          <a:bodyPr wrap="square" lIns="0" tIns="0" rIns="0" bIns="0" rtlCol="0" anchor="ctr"/>
          <a:lstStyle/>
          <a:p>
            <a:pPr marL="0" indent="0" algn="ctr">
              <a:buNone/>
            </a:pPr>
            <a:r>
              <a:rPr lang="en-US" sz="1600" b="1" dirty="0">
                <a:solidFill>
                  <a:srgbClr val="1E70C1"/>
                </a:solidFill>
              </a:rPr>
              <a:t>LearnBridge</a:t>
            </a:r>
            <a:endParaRPr lang="en-US" sz="1600" dirty="0"/>
          </a:p>
        </p:txBody>
      </p:sp>
      <p:sp>
        <p:nvSpPr>
          <p:cNvPr id="12" name="Text 10"/>
          <p:cNvSpPr/>
          <p:nvPr/>
        </p:nvSpPr>
        <p:spPr>
          <a:xfrm>
            <a:off x="3593592" y="2377440"/>
            <a:ext cx="1819656" cy="457200"/>
          </a:xfrm>
          <a:prstGeom prst="rect">
            <a:avLst/>
          </a:prstGeom>
          <a:noFill/>
          <a:ln/>
        </p:spPr>
        <p:txBody>
          <a:bodyPr wrap="square" lIns="0" tIns="0" rIns="0" bIns="0" rtlCol="0" anchor="ctr">
            <a:normAutofit lnSpcReduction="10000"/>
          </a:bodyPr>
          <a:lstStyle/>
          <a:p>
            <a:pPr marL="0" indent="0" algn="ctr">
              <a:buNone/>
            </a:pPr>
            <a:r>
              <a:rPr lang="en-US" sz="1050" dirty="0">
                <a:solidFill>
                  <a:srgbClr val="132133"/>
                </a:solidFill>
              </a:rPr>
              <a:t>Stores files</a:t>
            </a:r>
          </a:p>
          <a:p>
            <a:pPr marL="0" indent="0" algn="ctr">
              <a:buNone/>
            </a:pPr>
            <a:r>
              <a:rPr lang="en-US" sz="1050" dirty="0">
                <a:solidFill>
                  <a:srgbClr val="132133"/>
                </a:solidFill>
              </a:rPr>
              <a:t>links class access</a:t>
            </a:r>
            <a:endParaRPr lang="en-US" sz="1050" dirty="0"/>
          </a:p>
          <a:p>
            <a:pPr marL="0" indent="0" algn="ctr">
              <a:buNone/>
            </a:pPr>
            <a:r>
              <a:rPr lang="en-US" sz="1050" dirty="0">
                <a:solidFill>
                  <a:srgbClr val="132133"/>
                </a:solidFill>
              </a:rPr>
              <a:t>organizes workflow</a:t>
            </a:r>
            <a:endParaRPr lang="en-US" sz="1050" dirty="0"/>
          </a:p>
        </p:txBody>
      </p:sp>
      <p:sp>
        <p:nvSpPr>
          <p:cNvPr id="13" name="Shape 11"/>
          <p:cNvSpPr/>
          <p:nvPr/>
        </p:nvSpPr>
        <p:spPr>
          <a:xfrm>
            <a:off x="6263640" y="1965960"/>
            <a:ext cx="2148840" cy="932688"/>
          </a:xfrm>
          <a:prstGeom prst="roundRect">
            <a:avLst>
              <a:gd name="adj" fmla="val 11765"/>
            </a:avLst>
          </a:prstGeom>
          <a:solidFill>
            <a:srgbClr val="FFF5DF"/>
          </a:solidFill>
          <a:ln w="13970">
            <a:solidFill>
              <a:srgbClr val="FFF5DF"/>
            </a:solidFill>
            <a:prstDash val="solid"/>
          </a:ln>
        </p:spPr>
        <p:txBody>
          <a:bodyPr/>
          <a:lstStyle/>
          <a:p>
            <a:endParaRPr lang="nl-NL"/>
          </a:p>
        </p:txBody>
      </p:sp>
      <p:sp>
        <p:nvSpPr>
          <p:cNvPr id="14" name="Text 12"/>
          <p:cNvSpPr/>
          <p:nvPr/>
        </p:nvSpPr>
        <p:spPr>
          <a:xfrm>
            <a:off x="6428232" y="2130552"/>
            <a:ext cx="1819656" cy="182880"/>
          </a:xfrm>
          <a:prstGeom prst="rect">
            <a:avLst/>
          </a:prstGeom>
          <a:noFill/>
          <a:ln/>
        </p:spPr>
        <p:txBody>
          <a:bodyPr wrap="square" lIns="0" tIns="0" rIns="0" bIns="0" rtlCol="0" anchor="ctr"/>
          <a:lstStyle/>
          <a:p>
            <a:pPr marL="0" indent="0" algn="ctr">
              <a:buNone/>
            </a:pPr>
            <a:r>
              <a:rPr lang="en-US" sz="1600" b="1" dirty="0">
                <a:solidFill>
                  <a:srgbClr val="F5A623"/>
                </a:solidFill>
              </a:rPr>
              <a:t>Student</a:t>
            </a:r>
            <a:endParaRPr lang="en-US" sz="1600" dirty="0"/>
          </a:p>
        </p:txBody>
      </p:sp>
      <p:sp>
        <p:nvSpPr>
          <p:cNvPr id="15" name="Text 13"/>
          <p:cNvSpPr/>
          <p:nvPr/>
        </p:nvSpPr>
        <p:spPr>
          <a:xfrm>
            <a:off x="6428232" y="2331720"/>
            <a:ext cx="1819656" cy="548640"/>
          </a:xfrm>
          <a:prstGeom prst="rect">
            <a:avLst/>
          </a:prstGeom>
          <a:noFill/>
          <a:ln/>
        </p:spPr>
        <p:txBody>
          <a:bodyPr wrap="square" lIns="0" tIns="0" rIns="0" bIns="0" rtlCol="0" anchor="ctr">
            <a:normAutofit fontScale="92500" lnSpcReduction="20000"/>
          </a:bodyPr>
          <a:lstStyle/>
          <a:p>
            <a:pPr marL="0" indent="0" algn="ctr">
              <a:buNone/>
            </a:pPr>
            <a:r>
              <a:rPr lang="en-US" sz="1050" dirty="0">
                <a:solidFill>
                  <a:srgbClr val="132133"/>
                </a:solidFill>
              </a:rPr>
              <a:t>Opens lesson</a:t>
            </a:r>
            <a:br>
              <a:rPr lang="en-US" sz="1050" dirty="0">
                <a:solidFill>
                  <a:srgbClr val="132133"/>
                </a:solidFill>
              </a:rPr>
            </a:br>
            <a:r>
              <a:rPr lang="en-US" sz="1050" dirty="0">
                <a:solidFill>
                  <a:srgbClr val="132133"/>
                </a:solidFill>
              </a:rPr>
              <a:t>downloads materials</a:t>
            </a:r>
            <a:br>
              <a:rPr lang="en-US" sz="1050" dirty="0">
                <a:solidFill>
                  <a:srgbClr val="132133"/>
                </a:solidFill>
              </a:rPr>
            </a:br>
            <a:r>
              <a:rPr lang="en-US" sz="1050" dirty="0">
                <a:solidFill>
                  <a:srgbClr val="132133"/>
                </a:solidFill>
              </a:rPr>
              <a:t>submits work</a:t>
            </a:r>
          </a:p>
          <a:p>
            <a:pPr marL="0" indent="0" algn="ctr">
              <a:buNone/>
            </a:pPr>
            <a:r>
              <a:rPr lang="en-US" sz="1050" dirty="0"/>
              <a:t>Offline class material</a:t>
            </a:r>
          </a:p>
        </p:txBody>
      </p:sp>
      <p:sp>
        <p:nvSpPr>
          <p:cNvPr id="16" name="Shape 14"/>
          <p:cNvSpPr/>
          <p:nvPr/>
        </p:nvSpPr>
        <p:spPr>
          <a:xfrm>
            <a:off x="9098280" y="1965960"/>
            <a:ext cx="2148840" cy="932688"/>
          </a:xfrm>
          <a:prstGeom prst="roundRect">
            <a:avLst>
              <a:gd name="adj" fmla="val 11765"/>
            </a:avLst>
          </a:prstGeom>
          <a:solidFill>
            <a:srgbClr val="EAF5EE"/>
          </a:solidFill>
          <a:ln w="13970">
            <a:solidFill>
              <a:srgbClr val="EAF5EE"/>
            </a:solidFill>
            <a:prstDash val="solid"/>
          </a:ln>
        </p:spPr>
        <p:txBody>
          <a:bodyPr/>
          <a:lstStyle/>
          <a:p>
            <a:endParaRPr lang="nl-NL"/>
          </a:p>
        </p:txBody>
      </p:sp>
      <p:sp>
        <p:nvSpPr>
          <p:cNvPr id="17" name="Text 15"/>
          <p:cNvSpPr/>
          <p:nvPr/>
        </p:nvSpPr>
        <p:spPr>
          <a:xfrm>
            <a:off x="9262872" y="2130552"/>
            <a:ext cx="1819656" cy="182880"/>
          </a:xfrm>
          <a:prstGeom prst="rect">
            <a:avLst/>
          </a:prstGeom>
          <a:noFill/>
          <a:ln/>
        </p:spPr>
        <p:txBody>
          <a:bodyPr wrap="square" lIns="0" tIns="0" rIns="0" bIns="0" rtlCol="0" anchor="ctr"/>
          <a:lstStyle/>
          <a:p>
            <a:pPr marL="0" indent="0" algn="ctr">
              <a:buNone/>
            </a:pPr>
            <a:r>
              <a:rPr lang="en-US" sz="1600" b="1" dirty="0">
                <a:solidFill>
                  <a:srgbClr val="1C8C64"/>
                </a:solidFill>
              </a:rPr>
              <a:t>Teacher</a:t>
            </a:r>
            <a:endParaRPr lang="en-US" sz="1600" dirty="0"/>
          </a:p>
        </p:txBody>
      </p:sp>
      <p:sp>
        <p:nvSpPr>
          <p:cNvPr id="18" name="Text 16"/>
          <p:cNvSpPr/>
          <p:nvPr/>
        </p:nvSpPr>
        <p:spPr>
          <a:xfrm>
            <a:off x="9262872" y="2441448"/>
            <a:ext cx="1819656" cy="393192"/>
          </a:xfrm>
          <a:prstGeom prst="rect">
            <a:avLst/>
          </a:prstGeom>
          <a:noFill/>
          <a:ln/>
        </p:spPr>
        <p:txBody>
          <a:bodyPr wrap="square" lIns="0" tIns="0" rIns="0" bIns="0" rtlCol="0" anchor="ctr">
            <a:normAutofit fontScale="92500" lnSpcReduction="20000"/>
          </a:bodyPr>
          <a:lstStyle/>
          <a:p>
            <a:pPr marL="0" indent="0" algn="ctr">
              <a:buNone/>
            </a:pPr>
            <a:r>
              <a:rPr lang="en-US" sz="1050" dirty="0"/>
              <a:t>Reviews homework</a:t>
            </a:r>
          </a:p>
          <a:p>
            <a:pPr marL="0" indent="0" algn="ctr">
              <a:buNone/>
            </a:pPr>
            <a:r>
              <a:rPr lang="en-US" sz="1050" dirty="0"/>
              <a:t>Grades</a:t>
            </a:r>
          </a:p>
          <a:p>
            <a:pPr marL="0" indent="0" algn="ctr">
              <a:buNone/>
            </a:pPr>
            <a:r>
              <a:rPr lang="en-US" sz="1050" dirty="0"/>
              <a:t>Gives feedback</a:t>
            </a:r>
          </a:p>
        </p:txBody>
      </p:sp>
      <p:sp>
        <p:nvSpPr>
          <p:cNvPr id="19" name="Shape 17"/>
          <p:cNvSpPr/>
          <p:nvPr/>
        </p:nvSpPr>
        <p:spPr>
          <a:xfrm>
            <a:off x="914400" y="3822192"/>
            <a:ext cx="10378440" cy="1234440"/>
          </a:xfrm>
          <a:prstGeom prst="roundRect">
            <a:avLst>
              <a:gd name="adj" fmla="val 8889"/>
            </a:avLst>
          </a:prstGeom>
          <a:solidFill>
            <a:srgbClr val="FFFFFF"/>
          </a:solidFill>
          <a:ln w="13970">
            <a:solidFill>
              <a:srgbClr val="D7E7F0"/>
            </a:solidFill>
            <a:prstDash val="solid"/>
          </a:ln>
          <a:effectLst>
            <a:outerShdw blurRad="19050" dist="50800" dir="2700000" algn="bl" rotWithShape="0">
              <a:srgbClr val="B8CCD7">
                <a:alpha val="18000"/>
              </a:srgbClr>
            </a:outerShdw>
          </a:effectLst>
        </p:spPr>
        <p:txBody>
          <a:bodyPr/>
          <a:lstStyle/>
          <a:p>
            <a:endParaRPr lang="nl-NL"/>
          </a:p>
        </p:txBody>
      </p:sp>
      <p:sp>
        <p:nvSpPr>
          <p:cNvPr id="20" name="Text 18"/>
          <p:cNvSpPr/>
          <p:nvPr/>
        </p:nvSpPr>
        <p:spPr>
          <a:xfrm>
            <a:off x="1234440" y="4096512"/>
            <a:ext cx="2468880" cy="201168"/>
          </a:xfrm>
          <a:prstGeom prst="rect">
            <a:avLst/>
          </a:prstGeom>
          <a:noFill/>
          <a:ln/>
        </p:spPr>
        <p:txBody>
          <a:bodyPr wrap="square" lIns="0" tIns="0" rIns="0" bIns="0" rtlCol="0" anchor="ctr"/>
          <a:lstStyle/>
          <a:p>
            <a:pPr marL="0" indent="0">
              <a:buNone/>
            </a:pPr>
            <a:r>
              <a:rPr lang="en-US" sz="1550" b="1" dirty="0">
                <a:solidFill>
                  <a:srgbClr val="132133"/>
                </a:solidFill>
              </a:rPr>
              <a:t>Input → Process → Output</a:t>
            </a:r>
            <a:endParaRPr lang="en-US" sz="1550" dirty="0"/>
          </a:p>
        </p:txBody>
      </p:sp>
      <p:sp>
        <p:nvSpPr>
          <p:cNvPr id="21" name="Text 19"/>
          <p:cNvSpPr/>
          <p:nvPr/>
        </p:nvSpPr>
        <p:spPr>
          <a:xfrm>
            <a:off x="3977640" y="3986784"/>
            <a:ext cx="2103120" cy="320040"/>
          </a:xfrm>
          <a:prstGeom prst="rect">
            <a:avLst/>
          </a:prstGeom>
          <a:noFill/>
          <a:ln/>
        </p:spPr>
        <p:txBody>
          <a:bodyPr wrap="square" lIns="0" tIns="0" rIns="0" bIns="0" rtlCol="0" anchor="ctr">
            <a:normAutofit lnSpcReduction="10000"/>
          </a:bodyPr>
          <a:lstStyle/>
          <a:p>
            <a:pPr marL="0" indent="0">
              <a:buNone/>
            </a:pPr>
            <a:r>
              <a:rPr lang="en-US" sz="1150" b="1" dirty="0">
                <a:solidFill>
                  <a:srgbClr val="526779"/>
                </a:solidFill>
              </a:rPr>
              <a:t>Teacher input: </a:t>
            </a:r>
            <a:r>
              <a:rPr lang="en-US" sz="1150" dirty="0">
                <a:solidFill>
                  <a:srgbClr val="526779"/>
                </a:solidFill>
              </a:rPr>
              <a:t>class, lesson, video, homework, files</a:t>
            </a:r>
            <a:endParaRPr lang="en-US" sz="1150" dirty="0"/>
          </a:p>
        </p:txBody>
      </p:sp>
      <p:sp>
        <p:nvSpPr>
          <p:cNvPr id="22" name="Text 20"/>
          <p:cNvSpPr/>
          <p:nvPr/>
        </p:nvSpPr>
        <p:spPr>
          <a:xfrm>
            <a:off x="6309360" y="3986784"/>
            <a:ext cx="2286000" cy="320040"/>
          </a:xfrm>
          <a:prstGeom prst="rect">
            <a:avLst/>
          </a:prstGeom>
          <a:noFill/>
          <a:ln/>
        </p:spPr>
        <p:txBody>
          <a:bodyPr wrap="square" lIns="0" tIns="0" rIns="0" bIns="0" rtlCol="0" anchor="ctr">
            <a:normAutofit lnSpcReduction="10000"/>
          </a:bodyPr>
          <a:lstStyle/>
          <a:p>
            <a:pPr marL="0" indent="0">
              <a:buNone/>
            </a:pPr>
            <a:r>
              <a:rPr lang="en-US" sz="1150" b="1" dirty="0">
                <a:solidFill>
                  <a:srgbClr val="526779"/>
                </a:solidFill>
              </a:rPr>
              <a:t>System process: </a:t>
            </a:r>
            <a:r>
              <a:rPr lang="en-US" sz="1150" dirty="0">
                <a:solidFill>
                  <a:srgbClr val="526779"/>
                </a:solidFill>
              </a:rPr>
              <a:t>saves, links, organizes content, restrict access</a:t>
            </a:r>
            <a:endParaRPr lang="en-US" sz="1150" dirty="0"/>
          </a:p>
        </p:txBody>
      </p:sp>
      <p:sp>
        <p:nvSpPr>
          <p:cNvPr id="23" name="Text 21"/>
          <p:cNvSpPr/>
          <p:nvPr/>
        </p:nvSpPr>
        <p:spPr>
          <a:xfrm>
            <a:off x="8732520" y="3986784"/>
            <a:ext cx="2194560" cy="464900"/>
          </a:xfrm>
          <a:prstGeom prst="rect">
            <a:avLst/>
          </a:prstGeom>
          <a:noFill/>
          <a:ln/>
        </p:spPr>
        <p:txBody>
          <a:bodyPr wrap="square" lIns="0" tIns="0" rIns="0" bIns="0" rtlCol="0" anchor="ctr">
            <a:normAutofit fontScale="92500" lnSpcReduction="10000"/>
          </a:bodyPr>
          <a:lstStyle/>
          <a:p>
            <a:pPr marL="0" indent="0">
              <a:buNone/>
            </a:pPr>
            <a:r>
              <a:rPr lang="en-US" sz="1150" b="1" dirty="0">
                <a:solidFill>
                  <a:srgbClr val="526779"/>
                </a:solidFill>
              </a:rPr>
              <a:t>Student output: </a:t>
            </a:r>
            <a:r>
              <a:rPr lang="en-US" sz="1150" dirty="0">
                <a:solidFill>
                  <a:srgbClr val="526779"/>
                </a:solidFill>
              </a:rPr>
              <a:t>correct learning materials, downloadable files for offline</a:t>
            </a:r>
            <a:endParaRPr lang="en-US" sz="1150" dirty="0"/>
          </a:p>
        </p:txBody>
      </p:sp>
      <p:sp>
        <p:nvSpPr>
          <p:cNvPr id="24" name="Shape 22"/>
          <p:cNvSpPr/>
          <p:nvPr/>
        </p:nvSpPr>
        <p:spPr>
          <a:xfrm>
            <a:off x="2011680" y="5440680"/>
            <a:ext cx="1188720" cy="384048"/>
          </a:xfrm>
          <a:prstGeom prst="roundRect">
            <a:avLst>
              <a:gd name="adj" fmla="val 19048"/>
            </a:avLst>
          </a:prstGeom>
          <a:solidFill>
            <a:srgbClr val="1E70C1"/>
          </a:solidFill>
          <a:ln w="12700">
            <a:solidFill>
              <a:srgbClr val="1E70C1"/>
            </a:solidFill>
            <a:prstDash val="solid"/>
          </a:ln>
        </p:spPr>
        <p:txBody>
          <a:bodyPr/>
          <a:lstStyle/>
          <a:p>
            <a:endParaRPr lang="nl-NL"/>
          </a:p>
        </p:txBody>
      </p:sp>
      <p:sp>
        <p:nvSpPr>
          <p:cNvPr id="25" name="Text 23"/>
          <p:cNvSpPr/>
          <p:nvPr/>
        </p:nvSpPr>
        <p:spPr>
          <a:xfrm>
            <a:off x="2121408" y="5532120"/>
            <a:ext cx="969264" cy="164592"/>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Connect</a:t>
            </a:r>
            <a:endParaRPr lang="en-US" sz="1000" dirty="0"/>
          </a:p>
        </p:txBody>
      </p:sp>
      <p:sp>
        <p:nvSpPr>
          <p:cNvPr id="26" name="Shape 24"/>
          <p:cNvSpPr/>
          <p:nvPr/>
        </p:nvSpPr>
        <p:spPr>
          <a:xfrm>
            <a:off x="4069080" y="5440680"/>
            <a:ext cx="1325880" cy="384048"/>
          </a:xfrm>
          <a:prstGeom prst="roundRect">
            <a:avLst>
              <a:gd name="adj" fmla="val 19048"/>
            </a:avLst>
          </a:prstGeom>
          <a:solidFill>
            <a:srgbClr val="18A7A0"/>
          </a:solidFill>
          <a:ln w="12700">
            <a:solidFill>
              <a:srgbClr val="18A7A0"/>
            </a:solidFill>
            <a:prstDash val="solid"/>
          </a:ln>
        </p:spPr>
        <p:txBody>
          <a:bodyPr/>
          <a:lstStyle/>
          <a:p>
            <a:endParaRPr lang="nl-NL"/>
          </a:p>
        </p:txBody>
      </p:sp>
      <p:sp>
        <p:nvSpPr>
          <p:cNvPr id="27" name="Text 25"/>
          <p:cNvSpPr/>
          <p:nvPr/>
        </p:nvSpPr>
        <p:spPr>
          <a:xfrm>
            <a:off x="4178808" y="5532120"/>
            <a:ext cx="1106424" cy="164592"/>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Download</a:t>
            </a:r>
            <a:endParaRPr lang="en-US" sz="1000" dirty="0"/>
          </a:p>
        </p:txBody>
      </p:sp>
      <p:sp>
        <p:nvSpPr>
          <p:cNvPr id="28" name="Shape 26"/>
          <p:cNvSpPr/>
          <p:nvPr/>
        </p:nvSpPr>
        <p:spPr>
          <a:xfrm>
            <a:off x="6263640" y="5440680"/>
            <a:ext cx="1691640" cy="384048"/>
          </a:xfrm>
          <a:prstGeom prst="roundRect">
            <a:avLst>
              <a:gd name="adj" fmla="val 19048"/>
            </a:avLst>
          </a:prstGeom>
          <a:solidFill>
            <a:srgbClr val="1C8C64"/>
          </a:solidFill>
          <a:ln w="12700">
            <a:solidFill>
              <a:srgbClr val="1C8C64"/>
            </a:solidFill>
            <a:prstDash val="solid"/>
          </a:ln>
        </p:spPr>
        <p:txBody>
          <a:bodyPr/>
          <a:lstStyle/>
          <a:p>
            <a:endParaRPr lang="nl-NL"/>
          </a:p>
        </p:txBody>
      </p:sp>
      <p:sp>
        <p:nvSpPr>
          <p:cNvPr id="29" name="Text 27"/>
          <p:cNvSpPr/>
          <p:nvPr/>
        </p:nvSpPr>
        <p:spPr>
          <a:xfrm>
            <a:off x="6373368" y="5532120"/>
            <a:ext cx="1472184" cy="164592"/>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Learn offline</a:t>
            </a:r>
            <a:endParaRPr lang="en-US" sz="1000" dirty="0"/>
          </a:p>
        </p:txBody>
      </p:sp>
      <p:sp>
        <p:nvSpPr>
          <p:cNvPr id="30" name="Shape 28"/>
          <p:cNvSpPr/>
          <p:nvPr/>
        </p:nvSpPr>
        <p:spPr>
          <a:xfrm>
            <a:off x="8823960" y="5440680"/>
            <a:ext cx="1417320" cy="384048"/>
          </a:xfrm>
          <a:prstGeom prst="roundRect">
            <a:avLst>
              <a:gd name="adj" fmla="val 19048"/>
            </a:avLst>
          </a:prstGeom>
          <a:solidFill>
            <a:srgbClr val="1E70C1"/>
          </a:solidFill>
          <a:ln w="12700">
            <a:solidFill>
              <a:srgbClr val="1E70C1"/>
            </a:solidFill>
            <a:prstDash val="solid"/>
          </a:ln>
        </p:spPr>
        <p:txBody>
          <a:bodyPr/>
          <a:lstStyle/>
          <a:p>
            <a:endParaRPr lang="nl-NL"/>
          </a:p>
        </p:txBody>
      </p:sp>
      <p:sp>
        <p:nvSpPr>
          <p:cNvPr id="31" name="Text 29"/>
          <p:cNvSpPr/>
          <p:nvPr/>
        </p:nvSpPr>
        <p:spPr>
          <a:xfrm>
            <a:off x="8933688" y="5532120"/>
            <a:ext cx="1197864" cy="164592"/>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Reconnect</a:t>
            </a:r>
            <a:endParaRPr lang="en-US" sz="1000" dirty="0"/>
          </a:p>
        </p:txBody>
      </p:sp>
      <p:sp>
        <p:nvSpPr>
          <p:cNvPr id="32" name="Text 30"/>
          <p:cNvSpPr/>
          <p:nvPr/>
        </p:nvSpPr>
        <p:spPr>
          <a:xfrm>
            <a:off x="502920" y="6629400"/>
            <a:ext cx="4114800" cy="109728"/>
          </a:xfrm>
          <a:prstGeom prst="rect">
            <a:avLst/>
          </a:prstGeom>
          <a:noFill/>
          <a:ln/>
        </p:spPr>
        <p:txBody>
          <a:bodyPr wrap="square" lIns="0" tIns="0" rIns="0" bIns="0" rtlCol="0" anchor="ctr"/>
          <a:lstStyle/>
          <a:p>
            <a:pPr marL="0" indent="0">
              <a:buNone/>
            </a:pPr>
            <a:r>
              <a:rPr lang="en-US" sz="750" dirty="0">
                <a:solidFill>
                  <a:srgbClr val="5D7080"/>
                </a:solidFill>
                <a:latin typeface="Aptos" pitchFamily="34" charset="0"/>
                <a:ea typeface="Aptos" pitchFamily="34" charset="-122"/>
                <a:cs typeface="Aptos" pitchFamily="34" charset="-120"/>
              </a:rPr>
              <a:t>LearnBridge · AI for Good · SDG 4</a:t>
            </a:r>
            <a:endParaRPr lang="en-US" sz="750" dirty="0"/>
          </a:p>
        </p:txBody>
      </p:sp>
      <p:sp>
        <p:nvSpPr>
          <p:cNvPr id="33" name="Text 31"/>
          <p:cNvSpPr/>
          <p:nvPr/>
        </p:nvSpPr>
        <p:spPr>
          <a:xfrm>
            <a:off x="11411712" y="6629400"/>
            <a:ext cx="274320" cy="109728"/>
          </a:xfrm>
          <a:prstGeom prst="rect">
            <a:avLst/>
          </a:prstGeom>
          <a:noFill/>
          <a:ln/>
        </p:spPr>
        <p:txBody>
          <a:bodyPr wrap="square" lIns="0" tIns="0" rIns="0" bIns="0" rtlCol="0" anchor="ctr"/>
          <a:lstStyle/>
          <a:p>
            <a:pPr marL="0" indent="0" algn="r">
              <a:buNone/>
            </a:pPr>
            <a:r>
              <a:rPr lang="en-US" sz="750" dirty="0">
                <a:solidFill>
                  <a:srgbClr val="5D7080"/>
                </a:solidFill>
                <a:latin typeface="Aptos" pitchFamily="34" charset="0"/>
                <a:ea typeface="Aptos" pitchFamily="34" charset="-122"/>
                <a:cs typeface="Aptos" pitchFamily="34" charset="-120"/>
              </a:rPr>
              <a:t>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BFF"/>
        </a:solidFill>
        <a:effectLst/>
      </p:bgPr>
    </p:bg>
    <p:spTree>
      <p:nvGrpSpPr>
        <p:cNvPr id="1" name=""/>
        <p:cNvGrpSpPr/>
        <p:nvPr/>
      </p:nvGrpSpPr>
      <p:grpSpPr>
        <a:xfrm>
          <a:off x="0" y="0"/>
          <a:ext cx="0" cy="0"/>
          <a:chOff x="0" y="0"/>
          <a:chExt cx="0" cy="0"/>
        </a:xfrm>
      </p:grpSpPr>
      <p:sp>
        <p:nvSpPr>
          <p:cNvPr id="2" name="Text 0"/>
          <p:cNvSpPr/>
          <p:nvPr/>
        </p:nvSpPr>
        <p:spPr>
          <a:xfrm>
            <a:off x="594360" y="438912"/>
            <a:ext cx="7680960" cy="502920"/>
          </a:xfrm>
          <a:prstGeom prst="rect">
            <a:avLst/>
          </a:prstGeom>
          <a:noFill/>
          <a:ln/>
        </p:spPr>
        <p:txBody>
          <a:bodyPr wrap="square" lIns="0" tIns="0" rIns="0" bIns="0" rtlCol="0" anchor="ctr">
            <a:normAutofit/>
          </a:bodyPr>
          <a:lstStyle/>
          <a:p>
            <a:pPr marL="0" indent="0">
              <a:buNone/>
            </a:pPr>
            <a:r>
              <a:rPr lang="en-US" sz="3000" b="1" dirty="0">
                <a:solidFill>
                  <a:srgbClr val="132133"/>
                </a:solidFill>
                <a:latin typeface="Aptos Display" pitchFamily="34" charset="0"/>
                <a:ea typeface="Aptos Display" pitchFamily="34" charset="-122"/>
                <a:cs typeface="Aptos Display" pitchFamily="34" charset="-120"/>
              </a:rPr>
              <a:t>What we built with AI</a:t>
            </a:r>
            <a:endParaRPr lang="en-US" sz="3000" dirty="0"/>
          </a:p>
        </p:txBody>
      </p:sp>
      <p:sp>
        <p:nvSpPr>
          <p:cNvPr id="3" name="Text 1"/>
          <p:cNvSpPr/>
          <p:nvPr/>
        </p:nvSpPr>
        <p:spPr>
          <a:xfrm>
            <a:off x="612648" y="1005840"/>
            <a:ext cx="6583680" cy="237744"/>
          </a:xfrm>
          <a:prstGeom prst="rect">
            <a:avLst/>
          </a:prstGeom>
          <a:noFill/>
          <a:ln/>
        </p:spPr>
        <p:txBody>
          <a:bodyPr wrap="square" lIns="0" tIns="0" rIns="0" bIns="0" rtlCol="0" anchor="ctr"/>
          <a:lstStyle/>
          <a:p>
            <a:pPr marL="0" indent="0">
              <a:buNone/>
            </a:pPr>
            <a:r>
              <a:rPr lang="en-US" sz="1050" dirty="0">
                <a:solidFill>
                  <a:srgbClr val="526779"/>
                </a:solidFill>
                <a:latin typeface="Aptos" pitchFamily="34" charset="0"/>
                <a:ea typeface="Aptos" pitchFamily="34" charset="-122"/>
                <a:cs typeface="Aptos" pitchFamily="34" charset="-120"/>
              </a:rPr>
              <a:t>The AI app-building tool turned our structured prompts into a working prototype.</a:t>
            </a:r>
            <a:endParaRPr lang="en-US" sz="1050" dirty="0"/>
          </a:p>
        </p:txBody>
      </p:sp>
      <p:sp>
        <p:nvSpPr>
          <p:cNvPr id="4" name="Shape 2"/>
          <p:cNvSpPr/>
          <p:nvPr/>
        </p:nvSpPr>
        <p:spPr>
          <a:xfrm>
            <a:off x="685800" y="1600200"/>
            <a:ext cx="2240280" cy="1133856"/>
          </a:xfrm>
          <a:prstGeom prst="roundRect">
            <a:avLst>
              <a:gd name="adj" fmla="val 9677"/>
            </a:avLst>
          </a:prstGeom>
          <a:solidFill>
            <a:srgbClr val="FFFFFF"/>
          </a:solidFill>
          <a:ln w="13970">
            <a:solidFill>
              <a:srgbClr val="C9DCE8"/>
            </a:solidFill>
            <a:prstDash val="solid"/>
          </a:ln>
        </p:spPr>
        <p:txBody>
          <a:bodyPr/>
          <a:lstStyle/>
          <a:p>
            <a:endParaRPr lang="nl-NL"/>
          </a:p>
        </p:txBody>
      </p:sp>
      <p:sp>
        <p:nvSpPr>
          <p:cNvPr id="5" name="Text 3"/>
          <p:cNvSpPr/>
          <p:nvPr/>
        </p:nvSpPr>
        <p:spPr>
          <a:xfrm>
            <a:off x="850392" y="1847088"/>
            <a:ext cx="1920240" cy="201168"/>
          </a:xfrm>
          <a:prstGeom prst="rect">
            <a:avLst/>
          </a:prstGeom>
          <a:noFill/>
          <a:ln/>
        </p:spPr>
        <p:txBody>
          <a:bodyPr wrap="square" lIns="0" tIns="0" rIns="0" bIns="0" rtlCol="0" anchor="ctr"/>
          <a:lstStyle/>
          <a:p>
            <a:pPr marL="0" indent="0" algn="ctr">
              <a:buNone/>
            </a:pPr>
            <a:r>
              <a:rPr lang="en-US" sz="1400" b="1" dirty="0">
                <a:solidFill>
                  <a:srgbClr val="132133"/>
                </a:solidFill>
              </a:rPr>
              <a:t>Our requirements</a:t>
            </a:r>
            <a:endParaRPr lang="en-US" sz="1400" dirty="0"/>
          </a:p>
        </p:txBody>
      </p:sp>
      <p:sp>
        <p:nvSpPr>
          <p:cNvPr id="6" name="Text 4"/>
          <p:cNvSpPr/>
          <p:nvPr/>
        </p:nvSpPr>
        <p:spPr>
          <a:xfrm>
            <a:off x="868680" y="2176272"/>
            <a:ext cx="1874520" cy="219456"/>
          </a:xfrm>
          <a:prstGeom prst="rect">
            <a:avLst/>
          </a:prstGeom>
          <a:noFill/>
          <a:ln/>
        </p:spPr>
        <p:txBody>
          <a:bodyPr wrap="square" lIns="0" tIns="0" rIns="0" bIns="0" rtlCol="0" anchor="ctr">
            <a:normAutofit/>
          </a:bodyPr>
          <a:lstStyle/>
          <a:p>
            <a:pPr marL="0" indent="0" algn="ctr">
              <a:buNone/>
            </a:pPr>
            <a:r>
              <a:rPr lang="en-US" sz="930" dirty="0">
                <a:solidFill>
                  <a:srgbClr val="526779"/>
                </a:solidFill>
              </a:rPr>
              <a:t>problem, user, screens, data</a:t>
            </a:r>
            <a:endParaRPr lang="en-US" sz="930" dirty="0"/>
          </a:p>
        </p:txBody>
      </p:sp>
      <p:sp>
        <p:nvSpPr>
          <p:cNvPr id="7" name="Shape 5"/>
          <p:cNvSpPr/>
          <p:nvPr/>
        </p:nvSpPr>
        <p:spPr>
          <a:xfrm>
            <a:off x="3017520" y="1993392"/>
            <a:ext cx="320040" cy="310896"/>
          </a:xfrm>
          <a:prstGeom prst="chevron">
            <a:avLst/>
          </a:prstGeom>
          <a:solidFill>
            <a:srgbClr val="A5C9DB"/>
          </a:solidFill>
          <a:ln w="12700">
            <a:solidFill>
              <a:srgbClr val="A5C9DB"/>
            </a:solidFill>
            <a:prstDash val="solid"/>
          </a:ln>
        </p:spPr>
        <p:txBody>
          <a:bodyPr/>
          <a:lstStyle/>
          <a:p>
            <a:endParaRPr lang="nl-NL"/>
          </a:p>
        </p:txBody>
      </p:sp>
      <p:sp>
        <p:nvSpPr>
          <p:cNvPr id="8" name="Shape 6"/>
          <p:cNvSpPr/>
          <p:nvPr/>
        </p:nvSpPr>
        <p:spPr>
          <a:xfrm>
            <a:off x="3538728" y="1600200"/>
            <a:ext cx="2240280" cy="1133856"/>
          </a:xfrm>
          <a:prstGeom prst="roundRect">
            <a:avLst>
              <a:gd name="adj" fmla="val 9677"/>
            </a:avLst>
          </a:prstGeom>
          <a:solidFill>
            <a:srgbClr val="FFFFFF"/>
          </a:solidFill>
          <a:ln w="13970">
            <a:solidFill>
              <a:srgbClr val="C9DCE8"/>
            </a:solidFill>
            <a:prstDash val="solid"/>
          </a:ln>
        </p:spPr>
        <p:txBody>
          <a:bodyPr/>
          <a:lstStyle/>
          <a:p>
            <a:endParaRPr lang="nl-NL"/>
          </a:p>
        </p:txBody>
      </p:sp>
      <p:sp>
        <p:nvSpPr>
          <p:cNvPr id="9" name="Text 7"/>
          <p:cNvSpPr/>
          <p:nvPr/>
        </p:nvSpPr>
        <p:spPr>
          <a:xfrm>
            <a:off x="3703320" y="1847088"/>
            <a:ext cx="1920240" cy="201168"/>
          </a:xfrm>
          <a:prstGeom prst="rect">
            <a:avLst/>
          </a:prstGeom>
          <a:noFill/>
          <a:ln/>
        </p:spPr>
        <p:txBody>
          <a:bodyPr wrap="square" lIns="0" tIns="0" rIns="0" bIns="0" rtlCol="0" anchor="ctr"/>
          <a:lstStyle/>
          <a:p>
            <a:pPr marL="0" indent="0" algn="ctr">
              <a:buNone/>
            </a:pPr>
            <a:r>
              <a:rPr lang="en-US" sz="1400" b="1" dirty="0">
                <a:solidFill>
                  <a:srgbClr val="132133"/>
                </a:solidFill>
              </a:rPr>
              <a:t>Structured prompts</a:t>
            </a:r>
            <a:endParaRPr lang="en-US" sz="1400" dirty="0"/>
          </a:p>
        </p:txBody>
      </p:sp>
      <p:sp>
        <p:nvSpPr>
          <p:cNvPr id="10" name="Text 8"/>
          <p:cNvSpPr/>
          <p:nvPr/>
        </p:nvSpPr>
        <p:spPr>
          <a:xfrm>
            <a:off x="3721608" y="2176272"/>
            <a:ext cx="1874520" cy="219456"/>
          </a:xfrm>
          <a:prstGeom prst="rect">
            <a:avLst/>
          </a:prstGeom>
          <a:noFill/>
          <a:ln/>
        </p:spPr>
        <p:txBody>
          <a:bodyPr wrap="square" lIns="0" tIns="0" rIns="0" bIns="0" rtlCol="0" anchor="ctr">
            <a:normAutofit/>
          </a:bodyPr>
          <a:lstStyle/>
          <a:p>
            <a:pPr marL="0" indent="0" algn="ctr">
              <a:buNone/>
            </a:pPr>
            <a:r>
              <a:rPr lang="en-US" sz="930" dirty="0">
                <a:solidFill>
                  <a:srgbClr val="526779"/>
                </a:solidFill>
              </a:rPr>
              <a:t>clear constraints and flows</a:t>
            </a:r>
            <a:endParaRPr lang="en-US" sz="930" dirty="0"/>
          </a:p>
        </p:txBody>
      </p:sp>
      <p:sp>
        <p:nvSpPr>
          <p:cNvPr id="11" name="Shape 9"/>
          <p:cNvSpPr/>
          <p:nvPr/>
        </p:nvSpPr>
        <p:spPr>
          <a:xfrm>
            <a:off x="5870448" y="1993392"/>
            <a:ext cx="320040" cy="310896"/>
          </a:xfrm>
          <a:prstGeom prst="chevron">
            <a:avLst/>
          </a:prstGeom>
          <a:solidFill>
            <a:srgbClr val="A5C9DB"/>
          </a:solidFill>
          <a:ln w="12700">
            <a:solidFill>
              <a:srgbClr val="A5C9DB"/>
            </a:solidFill>
            <a:prstDash val="solid"/>
          </a:ln>
        </p:spPr>
        <p:txBody>
          <a:bodyPr/>
          <a:lstStyle/>
          <a:p>
            <a:endParaRPr lang="nl-NL"/>
          </a:p>
        </p:txBody>
      </p:sp>
      <p:sp>
        <p:nvSpPr>
          <p:cNvPr id="12" name="Shape 10"/>
          <p:cNvSpPr/>
          <p:nvPr/>
        </p:nvSpPr>
        <p:spPr>
          <a:xfrm>
            <a:off x="6391656" y="1600200"/>
            <a:ext cx="2240280" cy="1133856"/>
          </a:xfrm>
          <a:prstGeom prst="roundRect">
            <a:avLst>
              <a:gd name="adj" fmla="val 9677"/>
            </a:avLst>
          </a:prstGeom>
          <a:solidFill>
            <a:srgbClr val="EAF7FF"/>
          </a:solidFill>
          <a:ln w="13970">
            <a:solidFill>
              <a:srgbClr val="B4DBF5"/>
            </a:solidFill>
            <a:prstDash val="solid"/>
          </a:ln>
        </p:spPr>
        <p:txBody>
          <a:bodyPr/>
          <a:lstStyle/>
          <a:p>
            <a:endParaRPr lang="nl-NL"/>
          </a:p>
        </p:txBody>
      </p:sp>
      <p:sp>
        <p:nvSpPr>
          <p:cNvPr id="13" name="Text 11"/>
          <p:cNvSpPr/>
          <p:nvPr/>
        </p:nvSpPr>
        <p:spPr>
          <a:xfrm>
            <a:off x="6556248" y="1847088"/>
            <a:ext cx="1920240" cy="201168"/>
          </a:xfrm>
          <a:prstGeom prst="rect">
            <a:avLst/>
          </a:prstGeom>
          <a:noFill/>
          <a:ln/>
        </p:spPr>
        <p:txBody>
          <a:bodyPr wrap="square" lIns="0" tIns="0" rIns="0" bIns="0" rtlCol="0" anchor="ctr"/>
          <a:lstStyle/>
          <a:p>
            <a:pPr marL="0" indent="0" algn="ctr">
              <a:buNone/>
            </a:pPr>
            <a:r>
              <a:rPr lang="en-US" sz="1400" b="1" dirty="0">
                <a:solidFill>
                  <a:srgbClr val="1E70C1"/>
                </a:solidFill>
              </a:rPr>
              <a:t>AI app builder</a:t>
            </a:r>
            <a:br>
              <a:rPr lang="en-US" sz="1400" b="1" dirty="0">
                <a:solidFill>
                  <a:srgbClr val="1E70C1"/>
                </a:solidFill>
              </a:rPr>
            </a:br>
            <a:r>
              <a:rPr lang="en-US" sz="1400" b="1" dirty="0">
                <a:solidFill>
                  <a:srgbClr val="1E70C1"/>
                </a:solidFill>
              </a:rPr>
              <a:t>(</a:t>
            </a:r>
            <a:r>
              <a:rPr lang="en-US" sz="1400" b="1" dirty="0" err="1">
                <a:solidFill>
                  <a:srgbClr val="1E70C1"/>
                </a:solidFill>
              </a:rPr>
              <a:t>Bolt.new</a:t>
            </a:r>
            <a:r>
              <a:rPr lang="en-US" sz="1400" b="1" dirty="0">
                <a:solidFill>
                  <a:srgbClr val="1E70C1"/>
                </a:solidFill>
              </a:rPr>
              <a:t>)</a:t>
            </a:r>
            <a:endParaRPr lang="en-US" sz="1400" dirty="0"/>
          </a:p>
        </p:txBody>
      </p:sp>
      <p:sp>
        <p:nvSpPr>
          <p:cNvPr id="14" name="Text 12"/>
          <p:cNvSpPr/>
          <p:nvPr/>
        </p:nvSpPr>
        <p:spPr>
          <a:xfrm>
            <a:off x="6574536" y="2176272"/>
            <a:ext cx="1874520" cy="219456"/>
          </a:xfrm>
          <a:prstGeom prst="rect">
            <a:avLst/>
          </a:prstGeom>
          <a:noFill/>
          <a:ln/>
        </p:spPr>
        <p:txBody>
          <a:bodyPr wrap="square" lIns="0" tIns="0" rIns="0" bIns="0" rtlCol="0" anchor="ctr">
            <a:normAutofit/>
          </a:bodyPr>
          <a:lstStyle/>
          <a:p>
            <a:pPr marL="0" indent="0" algn="ctr">
              <a:buNone/>
            </a:pPr>
            <a:r>
              <a:rPr lang="en-US" sz="930" dirty="0">
                <a:solidFill>
                  <a:srgbClr val="526779"/>
                </a:solidFill>
              </a:rPr>
              <a:t>generates and modifies code</a:t>
            </a:r>
            <a:endParaRPr lang="en-US" sz="930" dirty="0"/>
          </a:p>
        </p:txBody>
      </p:sp>
      <p:sp>
        <p:nvSpPr>
          <p:cNvPr id="15" name="Shape 13"/>
          <p:cNvSpPr/>
          <p:nvPr/>
        </p:nvSpPr>
        <p:spPr>
          <a:xfrm>
            <a:off x="8723376" y="1993392"/>
            <a:ext cx="320040" cy="310896"/>
          </a:xfrm>
          <a:prstGeom prst="chevron">
            <a:avLst/>
          </a:prstGeom>
          <a:solidFill>
            <a:srgbClr val="A5C9DB"/>
          </a:solidFill>
          <a:ln w="12700">
            <a:solidFill>
              <a:srgbClr val="A5C9DB"/>
            </a:solidFill>
            <a:prstDash val="solid"/>
          </a:ln>
        </p:spPr>
        <p:txBody>
          <a:bodyPr/>
          <a:lstStyle/>
          <a:p>
            <a:endParaRPr lang="nl-NL"/>
          </a:p>
        </p:txBody>
      </p:sp>
      <p:sp>
        <p:nvSpPr>
          <p:cNvPr id="16" name="Shape 14"/>
          <p:cNvSpPr/>
          <p:nvPr/>
        </p:nvSpPr>
        <p:spPr>
          <a:xfrm>
            <a:off x="9244584" y="1600200"/>
            <a:ext cx="2240280" cy="1133856"/>
          </a:xfrm>
          <a:prstGeom prst="roundRect">
            <a:avLst>
              <a:gd name="adj" fmla="val 9677"/>
            </a:avLst>
          </a:prstGeom>
          <a:solidFill>
            <a:srgbClr val="FFFFFF"/>
          </a:solidFill>
          <a:ln w="13970">
            <a:solidFill>
              <a:srgbClr val="C9DCE8"/>
            </a:solidFill>
            <a:prstDash val="solid"/>
          </a:ln>
        </p:spPr>
        <p:txBody>
          <a:bodyPr/>
          <a:lstStyle/>
          <a:p>
            <a:endParaRPr lang="nl-NL"/>
          </a:p>
        </p:txBody>
      </p:sp>
      <p:sp>
        <p:nvSpPr>
          <p:cNvPr id="17" name="Text 15"/>
          <p:cNvSpPr/>
          <p:nvPr/>
        </p:nvSpPr>
        <p:spPr>
          <a:xfrm>
            <a:off x="9409176" y="1847088"/>
            <a:ext cx="1920240" cy="201168"/>
          </a:xfrm>
          <a:prstGeom prst="rect">
            <a:avLst/>
          </a:prstGeom>
          <a:noFill/>
          <a:ln/>
        </p:spPr>
        <p:txBody>
          <a:bodyPr wrap="square" lIns="0" tIns="0" rIns="0" bIns="0" rtlCol="0" anchor="ctr"/>
          <a:lstStyle/>
          <a:p>
            <a:pPr marL="0" indent="0" algn="ctr">
              <a:buNone/>
            </a:pPr>
            <a:r>
              <a:rPr lang="en-US" sz="1400" b="1" dirty="0">
                <a:solidFill>
                  <a:srgbClr val="132133"/>
                </a:solidFill>
              </a:rPr>
              <a:t>Prototype</a:t>
            </a:r>
            <a:endParaRPr lang="en-US" sz="1400" dirty="0"/>
          </a:p>
        </p:txBody>
      </p:sp>
      <p:sp>
        <p:nvSpPr>
          <p:cNvPr id="18" name="Text 16"/>
          <p:cNvSpPr/>
          <p:nvPr/>
        </p:nvSpPr>
        <p:spPr>
          <a:xfrm>
            <a:off x="9427464" y="2176272"/>
            <a:ext cx="1874520" cy="219456"/>
          </a:xfrm>
          <a:prstGeom prst="rect">
            <a:avLst/>
          </a:prstGeom>
          <a:noFill/>
          <a:ln/>
        </p:spPr>
        <p:txBody>
          <a:bodyPr wrap="square" lIns="0" tIns="0" rIns="0" bIns="0" rtlCol="0" anchor="ctr">
            <a:normAutofit/>
          </a:bodyPr>
          <a:lstStyle/>
          <a:p>
            <a:pPr marL="0" indent="0" algn="ctr">
              <a:buNone/>
            </a:pPr>
            <a:r>
              <a:rPr lang="en-US" sz="930" dirty="0">
                <a:solidFill>
                  <a:srgbClr val="526779"/>
                </a:solidFill>
              </a:rPr>
              <a:t>tested student/teacher app</a:t>
            </a:r>
            <a:endParaRPr lang="en-US" sz="930" dirty="0"/>
          </a:p>
        </p:txBody>
      </p:sp>
      <p:sp>
        <p:nvSpPr>
          <p:cNvPr id="19" name="Shape 17"/>
          <p:cNvSpPr/>
          <p:nvPr/>
        </p:nvSpPr>
        <p:spPr>
          <a:xfrm>
            <a:off x="822960" y="3794760"/>
            <a:ext cx="5120640" cy="1371600"/>
          </a:xfrm>
          <a:prstGeom prst="roundRect">
            <a:avLst>
              <a:gd name="adj" fmla="val 8000"/>
            </a:avLst>
          </a:prstGeom>
          <a:solidFill>
            <a:srgbClr val="F4FCFB"/>
          </a:solidFill>
          <a:ln w="13970">
            <a:solidFill>
              <a:srgbClr val="BBEBE4"/>
            </a:solidFill>
            <a:prstDash val="solid"/>
          </a:ln>
          <a:effectLst>
            <a:outerShdw blurRad="19050" dist="50800" dir="2700000" algn="bl" rotWithShape="0">
              <a:srgbClr val="B8CCD7">
                <a:alpha val="18000"/>
              </a:srgbClr>
            </a:outerShdw>
          </a:effectLst>
        </p:spPr>
        <p:txBody>
          <a:bodyPr/>
          <a:lstStyle/>
          <a:p>
            <a:endParaRPr lang="nl-NL"/>
          </a:p>
        </p:txBody>
      </p:sp>
      <p:sp>
        <p:nvSpPr>
          <p:cNvPr id="20" name="Text 18"/>
          <p:cNvSpPr/>
          <p:nvPr/>
        </p:nvSpPr>
        <p:spPr>
          <a:xfrm>
            <a:off x="1097280" y="4050792"/>
            <a:ext cx="2011680" cy="201168"/>
          </a:xfrm>
          <a:prstGeom prst="rect">
            <a:avLst/>
          </a:prstGeom>
          <a:noFill/>
          <a:ln/>
        </p:spPr>
        <p:txBody>
          <a:bodyPr wrap="square" lIns="0" tIns="0" rIns="0" bIns="0" rtlCol="0" anchor="ctr"/>
          <a:lstStyle/>
          <a:p>
            <a:pPr marL="0" indent="0">
              <a:buNone/>
            </a:pPr>
            <a:r>
              <a:rPr lang="en-US" sz="1500" b="1" dirty="0">
                <a:solidFill>
                  <a:srgbClr val="132133"/>
                </a:solidFill>
              </a:rPr>
              <a:t>Implemented prototype</a:t>
            </a:r>
            <a:endParaRPr lang="en-US" sz="1500" dirty="0"/>
          </a:p>
        </p:txBody>
      </p:sp>
      <p:sp>
        <p:nvSpPr>
          <p:cNvPr id="21" name="Text 19"/>
          <p:cNvSpPr/>
          <p:nvPr/>
        </p:nvSpPr>
        <p:spPr>
          <a:xfrm>
            <a:off x="1043378" y="4360244"/>
            <a:ext cx="4434840" cy="813816"/>
          </a:xfrm>
          <a:prstGeom prst="rect">
            <a:avLst/>
          </a:prstGeom>
          <a:noFill/>
          <a:ln/>
        </p:spPr>
        <p:txBody>
          <a:bodyPr wrap="square" lIns="0" tIns="0" rIns="0" bIns="0" rtlCol="0" anchor="ctr">
            <a:normAutofit/>
          </a:bodyPr>
          <a:lstStyle/>
          <a:p>
            <a:r>
              <a:rPr lang="en-US" sz="1100" dirty="0">
                <a:solidFill>
                  <a:srgbClr val="24364B"/>
                </a:solidFill>
              </a:rPr>
              <a:t>• Student &amp; Teacher login</a:t>
            </a:r>
            <a:endParaRPr lang="en-US" sz="1100" dirty="0"/>
          </a:p>
          <a:p>
            <a:r>
              <a:rPr lang="en-US" sz="1100" dirty="0">
                <a:solidFill>
                  <a:srgbClr val="24364B"/>
                </a:solidFill>
              </a:rPr>
              <a:t>• Classes and class-based lessons</a:t>
            </a:r>
            <a:endParaRPr lang="en-US" sz="1100" dirty="0"/>
          </a:p>
          <a:p>
            <a:r>
              <a:rPr lang="en-US" sz="1100" dirty="0">
                <a:solidFill>
                  <a:srgbClr val="24364B"/>
                </a:solidFill>
              </a:rPr>
              <a:t>• Homework, submissions, grades, feedback</a:t>
            </a:r>
            <a:endParaRPr lang="en-US" sz="1100" dirty="0"/>
          </a:p>
          <a:p>
            <a:r>
              <a:rPr lang="en-US" sz="1100" dirty="0">
                <a:solidFill>
                  <a:srgbClr val="24364B"/>
                </a:solidFill>
              </a:rPr>
              <a:t>• Real file downloads to device</a:t>
            </a:r>
            <a:endParaRPr lang="en-US" sz="1100" dirty="0"/>
          </a:p>
        </p:txBody>
      </p:sp>
      <p:sp>
        <p:nvSpPr>
          <p:cNvPr id="22" name="Shape 20"/>
          <p:cNvSpPr/>
          <p:nvPr/>
        </p:nvSpPr>
        <p:spPr>
          <a:xfrm>
            <a:off x="6400800" y="3794760"/>
            <a:ext cx="4800600" cy="1371600"/>
          </a:xfrm>
          <a:prstGeom prst="roundRect">
            <a:avLst>
              <a:gd name="adj" fmla="val 8000"/>
            </a:avLst>
          </a:prstGeom>
          <a:solidFill>
            <a:srgbClr val="FFF9EA"/>
          </a:solidFill>
          <a:ln w="13970">
            <a:solidFill>
              <a:srgbClr val="F5D68D"/>
            </a:solidFill>
            <a:prstDash val="solid"/>
          </a:ln>
          <a:effectLst>
            <a:outerShdw blurRad="19050" dist="50800" dir="2700000" algn="bl" rotWithShape="0">
              <a:srgbClr val="B8CCD7">
                <a:alpha val="18000"/>
              </a:srgbClr>
            </a:outerShdw>
          </a:effectLst>
        </p:spPr>
        <p:txBody>
          <a:bodyPr/>
          <a:lstStyle/>
          <a:p>
            <a:endParaRPr lang="nl-NL"/>
          </a:p>
        </p:txBody>
      </p:sp>
      <p:sp>
        <p:nvSpPr>
          <p:cNvPr id="23" name="Text 21"/>
          <p:cNvSpPr/>
          <p:nvPr/>
        </p:nvSpPr>
        <p:spPr>
          <a:xfrm>
            <a:off x="6675120" y="4050792"/>
            <a:ext cx="2011680" cy="201168"/>
          </a:xfrm>
          <a:prstGeom prst="rect">
            <a:avLst/>
          </a:prstGeom>
          <a:noFill/>
          <a:ln/>
        </p:spPr>
        <p:txBody>
          <a:bodyPr wrap="square" lIns="0" tIns="0" rIns="0" bIns="0" rtlCol="0" anchor="ctr"/>
          <a:lstStyle/>
          <a:p>
            <a:pPr marL="0" indent="0">
              <a:buNone/>
            </a:pPr>
            <a:r>
              <a:rPr lang="en-US" sz="1500" b="1" dirty="0">
                <a:solidFill>
                  <a:srgbClr val="132133"/>
                </a:solidFill>
              </a:rPr>
              <a:t>How we used AI</a:t>
            </a:r>
            <a:endParaRPr lang="en-US" sz="1500" dirty="0"/>
          </a:p>
        </p:txBody>
      </p:sp>
      <p:sp>
        <p:nvSpPr>
          <p:cNvPr id="24" name="Text 22"/>
          <p:cNvSpPr/>
          <p:nvPr/>
        </p:nvSpPr>
        <p:spPr>
          <a:xfrm>
            <a:off x="6693408" y="4416552"/>
            <a:ext cx="3977640" cy="365760"/>
          </a:xfrm>
          <a:prstGeom prst="rect">
            <a:avLst/>
          </a:prstGeom>
          <a:noFill/>
          <a:ln/>
        </p:spPr>
        <p:txBody>
          <a:bodyPr wrap="square" lIns="0" tIns="0" rIns="0" bIns="0" rtlCol="0" anchor="ctr">
            <a:normAutofit/>
          </a:bodyPr>
          <a:lstStyle/>
          <a:p>
            <a:pPr marL="0" indent="0">
              <a:buNone/>
            </a:pPr>
            <a:r>
              <a:rPr lang="en-US" sz="1100" dirty="0">
                <a:solidFill>
                  <a:srgbClr val="526779"/>
                </a:solidFill>
              </a:rPr>
              <a:t>We planned first, prompted in stages, checked output, and refined the app instead of submitting a black box.</a:t>
            </a:r>
            <a:endParaRPr lang="en-US" sz="1100" dirty="0"/>
          </a:p>
        </p:txBody>
      </p:sp>
      <p:sp>
        <p:nvSpPr>
          <p:cNvPr id="25" name="Text 23"/>
          <p:cNvSpPr/>
          <p:nvPr/>
        </p:nvSpPr>
        <p:spPr>
          <a:xfrm>
            <a:off x="612648" y="6291072"/>
            <a:ext cx="10881360" cy="164592"/>
          </a:xfrm>
          <a:prstGeom prst="rect">
            <a:avLst/>
          </a:prstGeom>
          <a:noFill/>
          <a:ln/>
        </p:spPr>
        <p:txBody>
          <a:bodyPr wrap="square" lIns="0" tIns="0" rIns="0" bIns="0" rtlCol="0" anchor="ctr"/>
          <a:lstStyle/>
          <a:p>
            <a:pPr marL="0" indent="0">
              <a:buNone/>
            </a:pPr>
            <a:r>
              <a:rPr lang="en-US" sz="750" dirty="0">
                <a:solidFill>
                  <a:srgbClr val="708391"/>
                </a:solidFill>
                <a:latin typeface="Aptos" pitchFamily="34" charset="0"/>
                <a:ea typeface="Aptos" pitchFamily="34" charset="-122"/>
                <a:cs typeface="Aptos" pitchFamily="34" charset="-120"/>
              </a:rPr>
              <a:t>Repository evidence: implementation prompts and README explain where the AI app-building tool was used.</a:t>
            </a:r>
            <a:endParaRPr lang="en-US" sz="750" dirty="0"/>
          </a:p>
        </p:txBody>
      </p:sp>
      <p:sp>
        <p:nvSpPr>
          <p:cNvPr id="26" name="Text 24"/>
          <p:cNvSpPr/>
          <p:nvPr/>
        </p:nvSpPr>
        <p:spPr>
          <a:xfrm>
            <a:off x="502920" y="6629400"/>
            <a:ext cx="4114800" cy="109728"/>
          </a:xfrm>
          <a:prstGeom prst="rect">
            <a:avLst/>
          </a:prstGeom>
          <a:noFill/>
          <a:ln/>
        </p:spPr>
        <p:txBody>
          <a:bodyPr wrap="square" lIns="0" tIns="0" rIns="0" bIns="0" rtlCol="0" anchor="ctr"/>
          <a:lstStyle/>
          <a:p>
            <a:pPr marL="0" indent="0">
              <a:buNone/>
            </a:pPr>
            <a:r>
              <a:rPr lang="en-US" sz="750" dirty="0">
                <a:solidFill>
                  <a:srgbClr val="5D7080"/>
                </a:solidFill>
                <a:latin typeface="Aptos" pitchFamily="34" charset="0"/>
                <a:ea typeface="Aptos" pitchFamily="34" charset="-122"/>
                <a:cs typeface="Aptos" pitchFamily="34" charset="-120"/>
              </a:rPr>
              <a:t>LearnBridge · AI for Good · SDG 4</a:t>
            </a:r>
            <a:endParaRPr lang="en-US" sz="750" dirty="0"/>
          </a:p>
        </p:txBody>
      </p:sp>
      <p:sp>
        <p:nvSpPr>
          <p:cNvPr id="27" name="Text 25"/>
          <p:cNvSpPr/>
          <p:nvPr/>
        </p:nvSpPr>
        <p:spPr>
          <a:xfrm>
            <a:off x="11411712" y="6629400"/>
            <a:ext cx="274320" cy="109728"/>
          </a:xfrm>
          <a:prstGeom prst="rect">
            <a:avLst/>
          </a:prstGeom>
          <a:noFill/>
          <a:ln/>
        </p:spPr>
        <p:txBody>
          <a:bodyPr wrap="square" lIns="0" tIns="0" rIns="0" bIns="0" rtlCol="0" anchor="ctr"/>
          <a:lstStyle/>
          <a:p>
            <a:pPr marL="0" indent="0" algn="r">
              <a:buNone/>
            </a:pPr>
            <a:r>
              <a:rPr lang="en-US" sz="750" dirty="0">
                <a:solidFill>
                  <a:srgbClr val="5D7080"/>
                </a:solidFill>
                <a:latin typeface="Aptos" pitchFamily="34" charset="0"/>
                <a:ea typeface="Aptos" pitchFamily="34" charset="-122"/>
                <a:cs typeface="Aptos" pitchFamily="34" charset="-120"/>
              </a:rPr>
              <a:t>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BFF"/>
        </a:solidFill>
        <a:effectLst/>
      </p:bgPr>
    </p:bg>
    <p:spTree>
      <p:nvGrpSpPr>
        <p:cNvPr id="1" name=""/>
        <p:cNvGrpSpPr/>
        <p:nvPr/>
      </p:nvGrpSpPr>
      <p:grpSpPr>
        <a:xfrm>
          <a:off x="0" y="0"/>
          <a:ext cx="0" cy="0"/>
          <a:chOff x="0" y="0"/>
          <a:chExt cx="0" cy="0"/>
        </a:xfrm>
      </p:grpSpPr>
      <p:sp>
        <p:nvSpPr>
          <p:cNvPr id="2" name="Text 0"/>
          <p:cNvSpPr/>
          <p:nvPr/>
        </p:nvSpPr>
        <p:spPr>
          <a:xfrm>
            <a:off x="594360" y="438912"/>
            <a:ext cx="7680960" cy="502920"/>
          </a:xfrm>
          <a:prstGeom prst="rect">
            <a:avLst/>
          </a:prstGeom>
          <a:noFill/>
          <a:ln/>
        </p:spPr>
        <p:txBody>
          <a:bodyPr wrap="square" lIns="0" tIns="0" rIns="0" bIns="0" rtlCol="0" anchor="ctr">
            <a:normAutofit/>
          </a:bodyPr>
          <a:lstStyle/>
          <a:p>
            <a:pPr marL="0" indent="0">
              <a:buNone/>
            </a:pPr>
            <a:r>
              <a:rPr lang="en-US" sz="3000" b="1" dirty="0">
                <a:solidFill>
                  <a:srgbClr val="132133"/>
                </a:solidFill>
                <a:latin typeface="Aptos Display" pitchFamily="34" charset="0"/>
                <a:ea typeface="Aptos Display" pitchFamily="34" charset="-122"/>
                <a:cs typeface="Aptos Display" pitchFamily="34" charset="-120"/>
              </a:rPr>
              <a:t>Live demo</a:t>
            </a:r>
            <a:endParaRPr lang="en-US" sz="3000" dirty="0"/>
          </a:p>
        </p:txBody>
      </p:sp>
      <p:sp>
        <p:nvSpPr>
          <p:cNvPr id="3" name="Text 1"/>
          <p:cNvSpPr/>
          <p:nvPr/>
        </p:nvSpPr>
        <p:spPr>
          <a:xfrm>
            <a:off x="612648" y="1005840"/>
            <a:ext cx="6583680" cy="237744"/>
          </a:xfrm>
          <a:prstGeom prst="rect">
            <a:avLst/>
          </a:prstGeom>
          <a:noFill/>
          <a:ln/>
        </p:spPr>
        <p:txBody>
          <a:bodyPr wrap="square" lIns="0" tIns="0" rIns="0" bIns="0" rtlCol="0" anchor="ctr"/>
          <a:lstStyle/>
          <a:p>
            <a:pPr marL="0" indent="0">
              <a:buNone/>
            </a:pPr>
            <a:r>
              <a:rPr lang="en-US" sz="1050" dirty="0">
                <a:solidFill>
                  <a:srgbClr val="526779"/>
                </a:solidFill>
                <a:latin typeface="Aptos" pitchFamily="34" charset="0"/>
                <a:ea typeface="Aptos" pitchFamily="34" charset="-122"/>
                <a:cs typeface="Aptos" pitchFamily="34" charset="-120"/>
              </a:rPr>
              <a:t>Show one clear end-to-end story, not every feature.</a:t>
            </a:r>
            <a:endParaRPr lang="en-US" sz="1050" dirty="0"/>
          </a:p>
        </p:txBody>
      </p:sp>
      <p:sp>
        <p:nvSpPr>
          <p:cNvPr id="4" name="Shape 2"/>
          <p:cNvSpPr/>
          <p:nvPr/>
        </p:nvSpPr>
        <p:spPr>
          <a:xfrm>
            <a:off x="66655" y="1508760"/>
            <a:ext cx="2749697" cy="4160520"/>
          </a:xfrm>
          <a:prstGeom prst="roundRect">
            <a:avLst>
              <a:gd name="adj" fmla="val 3529"/>
            </a:avLst>
          </a:prstGeom>
          <a:solidFill>
            <a:srgbClr val="FFFFFF"/>
          </a:solidFill>
          <a:ln w="13970">
            <a:solidFill>
              <a:srgbClr val="D7E7F0"/>
            </a:solidFill>
            <a:prstDash val="solid"/>
          </a:ln>
          <a:effectLst>
            <a:outerShdw blurRad="19050" dist="50800" dir="2700000" algn="bl" rotWithShape="0">
              <a:srgbClr val="B8CCD7">
                <a:alpha val="18000"/>
              </a:srgbClr>
            </a:outerShdw>
          </a:effectLst>
        </p:spPr>
        <p:txBody>
          <a:bodyPr/>
          <a:lstStyle/>
          <a:p>
            <a:endParaRPr lang="nl-NL"/>
          </a:p>
        </p:txBody>
      </p:sp>
      <p:sp>
        <p:nvSpPr>
          <p:cNvPr id="5" name="Text 3"/>
          <p:cNvSpPr/>
          <p:nvPr/>
        </p:nvSpPr>
        <p:spPr>
          <a:xfrm>
            <a:off x="339050" y="1737360"/>
            <a:ext cx="2011680" cy="228600"/>
          </a:xfrm>
          <a:prstGeom prst="rect">
            <a:avLst/>
          </a:prstGeom>
          <a:noFill/>
          <a:ln/>
        </p:spPr>
        <p:txBody>
          <a:bodyPr wrap="square" lIns="0" tIns="0" rIns="0" bIns="0" rtlCol="0" anchor="ctr"/>
          <a:lstStyle/>
          <a:p>
            <a:pPr marL="0" indent="0">
              <a:buNone/>
            </a:pPr>
            <a:r>
              <a:rPr lang="en-US" sz="1800" b="1" dirty="0">
                <a:solidFill>
                  <a:srgbClr val="18A7A0"/>
                </a:solidFill>
              </a:rPr>
              <a:t>1. Teacher</a:t>
            </a:r>
            <a:endParaRPr lang="en-US" sz="1800" dirty="0"/>
          </a:p>
        </p:txBody>
      </p:sp>
      <p:sp>
        <p:nvSpPr>
          <p:cNvPr id="6" name="Text 4"/>
          <p:cNvSpPr/>
          <p:nvPr/>
        </p:nvSpPr>
        <p:spPr>
          <a:xfrm>
            <a:off x="339050" y="2288166"/>
            <a:ext cx="2286000" cy="1097280"/>
          </a:xfrm>
          <a:prstGeom prst="rect">
            <a:avLst/>
          </a:prstGeom>
          <a:noFill/>
          <a:ln/>
        </p:spPr>
        <p:txBody>
          <a:bodyPr wrap="square" lIns="0" tIns="0" rIns="0" bIns="0" rtlCol="0" anchor="ctr"/>
          <a:lstStyle/>
          <a:p>
            <a:r>
              <a:rPr lang="en-US" sz="1400" dirty="0">
                <a:solidFill>
                  <a:srgbClr val="24364B"/>
                </a:solidFill>
              </a:rPr>
              <a:t>Log in</a:t>
            </a:r>
            <a:endParaRPr lang="en-US" sz="1400" dirty="0"/>
          </a:p>
          <a:p>
            <a:r>
              <a:rPr lang="en-US" sz="1400" dirty="0">
                <a:solidFill>
                  <a:srgbClr val="24364B"/>
                </a:solidFill>
              </a:rPr>
              <a:t>Create class</a:t>
            </a:r>
            <a:endParaRPr lang="en-US" sz="1400" dirty="0"/>
          </a:p>
          <a:p>
            <a:r>
              <a:rPr lang="en-US" sz="1400" dirty="0">
                <a:solidFill>
                  <a:srgbClr val="24364B"/>
                </a:solidFill>
              </a:rPr>
              <a:t>Create lesson</a:t>
            </a:r>
            <a:endParaRPr lang="en-US" sz="1400" dirty="0"/>
          </a:p>
          <a:p>
            <a:r>
              <a:rPr lang="en-US" sz="1400" dirty="0">
                <a:solidFill>
                  <a:srgbClr val="24364B"/>
                </a:solidFill>
              </a:rPr>
              <a:t>Assign to class</a:t>
            </a:r>
            <a:endParaRPr lang="en-US" sz="1400" dirty="0"/>
          </a:p>
          <a:p>
            <a:r>
              <a:rPr lang="en-US" sz="1400" dirty="0">
                <a:solidFill>
                  <a:srgbClr val="24364B"/>
                </a:solidFill>
              </a:rPr>
              <a:t>Publish homework</a:t>
            </a:r>
            <a:endParaRPr lang="en-US" sz="1400" dirty="0"/>
          </a:p>
        </p:txBody>
      </p:sp>
      <p:sp>
        <p:nvSpPr>
          <p:cNvPr id="7" name="Text 5"/>
          <p:cNvSpPr/>
          <p:nvPr/>
        </p:nvSpPr>
        <p:spPr>
          <a:xfrm>
            <a:off x="353368" y="4754880"/>
            <a:ext cx="2331720" cy="310896"/>
          </a:xfrm>
          <a:prstGeom prst="rect">
            <a:avLst/>
          </a:prstGeom>
          <a:noFill/>
          <a:ln/>
        </p:spPr>
        <p:txBody>
          <a:bodyPr wrap="square" lIns="0" tIns="0" rIns="0" bIns="0" rtlCol="0" anchor="ctr">
            <a:normAutofit lnSpcReduction="10000"/>
          </a:bodyPr>
          <a:lstStyle/>
          <a:p>
            <a:pPr marL="0" indent="0">
              <a:buNone/>
            </a:pPr>
            <a:r>
              <a:rPr lang="en-US" sz="1100" b="1" dirty="0">
                <a:solidFill>
                  <a:srgbClr val="526779"/>
                </a:solidFill>
              </a:rPr>
              <a:t>Output: content becomes visible to students</a:t>
            </a:r>
            <a:endParaRPr lang="en-US" sz="1100" dirty="0"/>
          </a:p>
        </p:txBody>
      </p:sp>
      <p:sp>
        <p:nvSpPr>
          <p:cNvPr id="8" name="Shape 6"/>
          <p:cNvSpPr/>
          <p:nvPr/>
        </p:nvSpPr>
        <p:spPr>
          <a:xfrm>
            <a:off x="2897445" y="1508519"/>
            <a:ext cx="3108960" cy="4160520"/>
          </a:xfrm>
          <a:prstGeom prst="roundRect">
            <a:avLst>
              <a:gd name="adj" fmla="val 3529"/>
            </a:avLst>
          </a:prstGeom>
          <a:solidFill>
            <a:srgbClr val="EAF7FF"/>
          </a:solidFill>
          <a:ln w="13970">
            <a:solidFill>
              <a:srgbClr val="D7E7F0"/>
            </a:solidFill>
            <a:prstDash val="solid"/>
          </a:ln>
          <a:effectLst>
            <a:outerShdw blurRad="19050" dist="50800" dir="2700000" algn="bl" rotWithShape="0">
              <a:srgbClr val="B8CCD7">
                <a:alpha val="18000"/>
              </a:srgbClr>
            </a:outerShdw>
          </a:effectLst>
        </p:spPr>
        <p:txBody>
          <a:bodyPr/>
          <a:lstStyle/>
          <a:p>
            <a:endParaRPr lang="nl-NL"/>
          </a:p>
        </p:txBody>
      </p:sp>
      <p:sp>
        <p:nvSpPr>
          <p:cNvPr id="9" name="Text 7"/>
          <p:cNvSpPr/>
          <p:nvPr/>
        </p:nvSpPr>
        <p:spPr>
          <a:xfrm>
            <a:off x="3118104" y="1743136"/>
            <a:ext cx="2011680" cy="228600"/>
          </a:xfrm>
          <a:prstGeom prst="rect">
            <a:avLst/>
          </a:prstGeom>
          <a:noFill/>
          <a:ln/>
        </p:spPr>
        <p:txBody>
          <a:bodyPr wrap="square" lIns="0" tIns="0" rIns="0" bIns="0" rtlCol="0" anchor="ctr"/>
          <a:lstStyle/>
          <a:p>
            <a:pPr marL="0" indent="0">
              <a:buNone/>
            </a:pPr>
            <a:r>
              <a:rPr lang="en-US" sz="1800" b="1" dirty="0">
                <a:solidFill>
                  <a:srgbClr val="1E70C1"/>
                </a:solidFill>
              </a:rPr>
              <a:t>2. Student</a:t>
            </a:r>
            <a:endParaRPr lang="en-US" sz="1800" dirty="0"/>
          </a:p>
        </p:txBody>
      </p:sp>
      <p:sp>
        <p:nvSpPr>
          <p:cNvPr id="10" name="Text 8"/>
          <p:cNvSpPr/>
          <p:nvPr/>
        </p:nvSpPr>
        <p:spPr>
          <a:xfrm>
            <a:off x="3118104" y="2268916"/>
            <a:ext cx="2286000" cy="1325880"/>
          </a:xfrm>
          <a:prstGeom prst="rect">
            <a:avLst/>
          </a:prstGeom>
          <a:noFill/>
          <a:ln/>
        </p:spPr>
        <p:txBody>
          <a:bodyPr wrap="square" lIns="0" tIns="0" rIns="0" bIns="0" rtlCol="0" anchor="ctr"/>
          <a:lstStyle/>
          <a:p>
            <a:r>
              <a:rPr lang="en-US" sz="1400" dirty="0">
                <a:solidFill>
                  <a:srgbClr val="24364B"/>
                </a:solidFill>
              </a:rPr>
              <a:t>Log in</a:t>
            </a:r>
            <a:endParaRPr lang="en-US" sz="1400" dirty="0"/>
          </a:p>
          <a:p>
            <a:r>
              <a:rPr lang="en-US" sz="1400" dirty="0">
                <a:solidFill>
                  <a:srgbClr val="24364B"/>
                </a:solidFill>
              </a:rPr>
              <a:t>Open class lesson</a:t>
            </a:r>
            <a:endParaRPr lang="en-US" sz="1400" dirty="0"/>
          </a:p>
          <a:p>
            <a:r>
              <a:rPr lang="en-US" sz="1400" dirty="0">
                <a:solidFill>
                  <a:srgbClr val="24364B"/>
                </a:solidFill>
              </a:rPr>
              <a:t>Download video/PDF/notes</a:t>
            </a:r>
            <a:endParaRPr lang="en-US" sz="1400" dirty="0"/>
          </a:p>
          <a:p>
            <a:r>
              <a:rPr lang="en-US" sz="1400" dirty="0">
                <a:solidFill>
                  <a:srgbClr val="24364B"/>
                </a:solidFill>
              </a:rPr>
              <a:t>View &amp; Submit homework</a:t>
            </a:r>
            <a:endParaRPr lang="en-US" sz="1400" dirty="0"/>
          </a:p>
        </p:txBody>
      </p:sp>
      <p:sp>
        <p:nvSpPr>
          <p:cNvPr id="11" name="Text 9"/>
          <p:cNvSpPr/>
          <p:nvPr/>
        </p:nvSpPr>
        <p:spPr>
          <a:xfrm>
            <a:off x="3005128" y="4754880"/>
            <a:ext cx="2331720" cy="310896"/>
          </a:xfrm>
          <a:prstGeom prst="rect">
            <a:avLst/>
          </a:prstGeom>
          <a:noFill/>
          <a:ln/>
        </p:spPr>
        <p:txBody>
          <a:bodyPr wrap="square" lIns="0" tIns="0" rIns="0" bIns="0" rtlCol="0" anchor="ctr">
            <a:normAutofit lnSpcReduction="10000"/>
          </a:bodyPr>
          <a:lstStyle/>
          <a:p>
            <a:pPr marL="0" indent="0">
              <a:buNone/>
            </a:pPr>
            <a:r>
              <a:rPr lang="en-US" sz="1100" b="1" dirty="0">
                <a:solidFill>
                  <a:srgbClr val="526779"/>
                </a:solidFill>
              </a:rPr>
              <a:t>Output: lesson marked Available Offline</a:t>
            </a:r>
            <a:endParaRPr lang="en-US" sz="1100" dirty="0"/>
          </a:p>
        </p:txBody>
      </p:sp>
      <p:sp>
        <p:nvSpPr>
          <p:cNvPr id="12" name="Shape 10"/>
          <p:cNvSpPr/>
          <p:nvPr/>
        </p:nvSpPr>
        <p:spPr>
          <a:xfrm>
            <a:off x="6077912" y="1514536"/>
            <a:ext cx="3108960" cy="4160520"/>
          </a:xfrm>
          <a:prstGeom prst="roundRect">
            <a:avLst>
              <a:gd name="adj" fmla="val 3529"/>
            </a:avLst>
          </a:prstGeom>
          <a:solidFill>
            <a:srgbClr val="DFF7F3"/>
          </a:solidFill>
          <a:ln w="13970">
            <a:solidFill>
              <a:srgbClr val="D7E7F0"/>
            </a:solidFill>
            <a:prstDash val="solid"/>
          </a:ln>
          <a:effectLst>
            <a:outerShdw blurRad="19050" dist="50800" dir="2700000" algn="bl" rotWithShape="0">
              <a:srgbClr val="B8CCD7">
                <a:alpha val="18000"/>
              </a:srgbClr>
            </a:outerShdw>
          </a:effectLst>
        </p:spPr>
        <p:txBody>
          <a:bodyPr/>
          <a:lstStyle/>
          <a:p>
            <a:endParaRPr lang="nl-NL"/>
          </a:p>
        </p:txBody>
      </p:sp>
      <p:sp>
        <p:nvSpPr>
          <p:cNvPr id="13" name="Text 11"/>
          <p:cNvSpPr/>
          <p:nvPr/>
        </p:nvSpPr>
        <p:spPr>
          <a:xfrm>
            <a:off x="6379664" y="1743136"/>
            <a:ext cx="2011680" cy="228600"/>
          </a:xfrm>
          <a:prstGeom prst="rect">
            <a:avLst/>
          </a:prstGeom>
          <a:noFill/>
          <a:ln/>
        </p:spPr>
        <p:txBody>
          <a:bodyPr wrap="square" lIns="0" tIns="0" rIns="0" bIns="0" rtlCol="0" anchor="ctr"/>
          <a:lstStyle/>
          <a:p>
            <a:pPr marL="0" indent="0">
              <a:buNone/>
            </a:pPr>
            <a:r>
              <a:rPr lang="en-US" sz="1800" b="1" dirty="0">
                <a:solidFill>
                  <a:srgbClr val="1C8C64"/>
                </a:solidFill>
              </a:rPr>
              <a:t>3. Offline - Student</a:t>
            </a:r>
            <a:endParaRPr lang="en-US" sz="1800" dirty="0"/>
          </a:p>
        </p:txBody>
      </p:sp>
      <p:sp>
        <p:nvSpPr>
          <p:cNvPr id="14" name="Text 12"/>
          <p:cNvSpPr/>
          <p:nvPr/>
        </p:nvSpPr>
        <p:spPr>
          <a:xfrm>
            <a:off x="6309360" y="2059566"/>
            <a:ext cx="2286000" cy="1325880"/>
          </a:xfrm>
          <a:prstGeom prst="rect">
            <a:avLst/>
          </a:prstGeom>
          <a:noFill/>
          <a:ln/>
        </p:spPr>
        <p:txBody>
          <a:bodyPr wrap="square" lIns="0" tIns="0" rIns="0" bIns="0" rtlCol="0" anchor="ctr"/>
          <a:lstStyle/>
          <a:p>
            <a:pPr marL="0" indent="0">
              <a:buNone/>
            </a:pPr>
            <a:r>
              <a:rPr lang="en-US" sz="1400" dirty="0">
                <a:solidFill>
                  <a:srgbClr val="132133"/>
                </a:solidFill>
              </a:rPr>
              <a:t>No internet</a:t>
            </a:r>
            <a:endParaRPr lang="en-US" sz="1400" dirty="0"/>
          </a:p>
          <a:p>
            <a:pPr marL="0" indent="0">
              <a:buNone/>
            </a:pPr>
            <a:r>
              <a:rPr lang="en-US" sz="1400" dirty="0">
                <a:solidFill>
                  <a:srgbClr val="132133"/>
                </a:solidFill>
              </a:rPr>
              <a:t>Open My Downloads</a:t>
            </a:r>
            <a:endParaRPr lang="en-US" sz="1400" dirty="0"/>
          </a:p>
          <a:p>
            <a:pPr marL="0" indent="0">
              <a:buNone/>
            </a:pPr>
            <a:r>
              <a:rPr lang="en-US" sz="1400" dirty="0">
                <a:solidFill>
                  <a:srgbClr val="132133"/>
                </a:solidFill>
              </a:rPr>
              <a:t>Read lesson</a:t>
            </a:r>
            <a:endParaRPr lang="en-US" sz="1400" dirty="0"/>
          </a:p>
          <a:p>
            <a:pPr marL="0" indent="0">
              <a:buNone/>
            </a:pPr>
            <a:r>
              <a:rPr lang="en-US" sz="1400" dirty="0">
                <a:solidFill>
                  <a:srgbClr val="132133"/>
                </a:solidFill>
              </a:rPr>
              <a:t>View homework</a:t>
            </a:r>
          </a:p>
          <a:p>
            <a:pPr marL="0" indent="0">
              <a:buNone/>
            </a:pPr>
            <a:r>
              <a:rPr lang="en-US" sz="1400" dirty="0">
                <a:solidFill>
                  <a:srgbClr val="132133"/>
                </a:solidFill>
              </a:rPr>
              <a:t>Learn</a:t>
            </a:r>
            <a:endParaRPr lang="en-US" sz="1400" dirty="0"/>
          </a:p>
        </p:txBody>
      </p:sp>
      <p:sp>
        <p:nvSpPr>
          <p:cNvPr id="15" name="Text 13"/>
          <p:cNvSpPr/>
          <p:nvPr/>
        </p:nvSpPr>
        <p:spPr>
          <a:xfrm>
            <a:off x="6263640" y="4754880"/>
            <a:ext cx="2331720" cy="310896"/>
          </a:xfrm>
          <a:prstGeom prst="rect">
            <a:avLst/>
          </a:prstGeom>
          <a:noFill/>
          <a:ln/>
        </p:spPr>
        <p:txBody>
          <a:bodyPr wrap="square" lIns="0" tIns="0" rIns="0" bIns="0" rtlCol="0" anchor="ctr">
            <a:normAutofit lnSpcReduction="10000"/>
          </a:bodyPr>
          <a:lstStyle/>
          <a:p>
            <a:pPr marL="0" indent="0">
              <a:buNone/>
            </a:pPr>
            <a:r>
              <a:rPr lang="en-US" sz="1100" b="1" dirty="0">
                <a:solidFill>
                  <a:srgbClr val="526779"/>
                </a:solidFill>
              </a:rPr>
              <a:t>Output: learning continues without internet</a:t>
            </a:r>
            <a:endParaRPr lang="en-US" sz="1100" dirty="0"/>
          </a:p>
        </p:txBody>
      </p:sp>
      <p:sp>
        <p:nvSpPr>
          <p:cNvPr id="16" name="Shape 14"/>
          <p:cNvSpPr/>
          <p:nvPr/>
        </p:nvSpPr>
        <p:spPr>
          <a:xfrm>
            <a:off x="4617720" y="5961888"/>
            <a:ext cx="2971800" cy="384048"/>
          </a:xfrm>
          <a:prstGeom prst="roundRect">
            <a:avLst>
              <a:gd name="adj" fmla="val 19048"/>
            </a:avLst>
          </a:prstGeom>
          <a:solidFill>
            <a:srgbClr val="082B49"/>
          </a:solidFill>
          <a:ln w="12700">
            <a:solidFill>
              <a:srgbClr val="082B49"/>
            </a:solidFill>
            <a:prstDash val="solid"/>
          </a:ln>
        </p:spPr>
        <p:txBody>
          <a:bodyPr/>
          <a:lstStyle/>
          <a:p>
            <a:endParaRPr lang="nl-NL"/>
          </a:p>
        </p:txBody>
      </p:sp>
      <p:sp>
        <p:nvSpPr>
          <p:cNvPr id="17" name="Text 15"/>
          <p:cNvSpPr/>
          <p:nvPr/>
        </p:nvSpPr>
        <p:spPr>
          <a:xfrm>
            <a:off x="4727448" y="6053328"/>
            <a:ext cx="275234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Switch to website now</a:t>
            </a:r>
            <a:endParaRPr lang="en-US" sz="1200" dirty="0"/>
          </a:p>
        </p:txBody>
      </p:sp>
      <p:sp>
        <p:nvSpPr>
          <p:cNvPr id="18" name="Text 16"/>
          <p:cNvSpPr/>
          <p:nvPr/>
        </p:nvSpPr>
        <p:spPr>
          <a:xfrm>
            <a:off x="502920" y="6629400"/>
            <a:ext cx="4114800" cy="109728"/>
          </a:xfrm>
          <a:prstGeom prst="rect">
            <a:avLst/>
          </a:prstGeom>
          <a:noFill/>
          <a:ln/>
        </p:spPr>
        <p:txBody>
          <a:bodyPr wrap="square" lIns="0" tIns="0" rIns="0" bIns="0" rtlCol="0" anchor="ctr"/>
          <a:lstStyle/>
          <a:p>
            <a:pPr marL="0" indent="0">
              <a:buNone/>
            </a:pPr>
            <a:r>
              <a:rPr lang="en-US" sz="750" dirty="0">
                <a:solidFill>
                  <a:srgbClr val="5D7080"/>
                </a:solidFill>
                <a:latin typeface="Aptos" pitchFamily="34" charset="0"/>
                <a:ea typeface="Aptos" pitchFamily="34" charset="-122"/>
                <a:cs typeface="Aptos" pitchFamily="34" charset="-120"/>
              </a:rPr>
              <a:t>LearnBridge · AI for Good · SDG 4</a:t>
            </a:r>
            <a:endParaRPr lang="en-US" sz="750" dirty="0"/>
          </a:p>
        </p:txBody>
      </p:sp>
      <p:sp>
        <p:nvSpPr>
          <p:cNvPr id="19" name="Text 17"/>
          <p:cNvSpPr/>
          <p:nvPr/>
        </p:nvSpPr>
        <p:spPr>
          <a:xfrm>
            <a:off x="11411712" y="6629400"/>
            <a:ext cx="274320" cy="109728"/>
          </a:xfrm>
          <a:prstGeom prst="rect">
            <a:avLst/>
          </a:prstGeom>
          <a:noFill/>
          <a:ln/>
        </p:spPr>
        <p:txBody>
          <a:bodyPr wrap="square" lIns="0" tIns="0" rIns="0" bIns="0" rtlCol="0" anchor="ctr"/>
          <a:lstStyle/>
          <a:p>
            <a:pPr marL="0" indent="0" algn="r">
              <a:buNone/>
            </a:pPr>
            <a:r>
              <a:rPr lang="en-US" sz="750" dirty="0">
                <a:solidFill>
                  <a:srgbClr val="5D7080"/>
                </a:solidFill>
                <a:latin typeface="Aptos" pitchFamily="34" charset="0"/>
                <a:ea typeface="Aptos" pitchFamily="34" charset="-122"/>
                <a:cs typeface="Aptos" pitchFamily="34" charset="-120"/>
              </a:rPr>
              <a:t>6</a:t>
            </a:r>
            <a:endParaRPr lang="en-US" sz="750" dirty="0"/>
          </a:p>
        </p:txBody>
      </p:sp>
      <p:sp>
        <p:nvSpPr>
          <p:cNvPr id="21" name="Shape 10">
            <a:extLst>
              <a:ext uri="{FF2B5EF4-FFF2-40B4-BE49-F238E27FC236}">
                <a16:creationId xmlns:a16="http://schemas.microsoft.com/office/drawing/2014/main" id="{ED0C9CDD-2379-FAAC-5B1F-45EBA8E2FD43}"/>
              </a:ext>
            </a:extLst>
          </p:cNvPr>
          <p:cNvSpPr/>
          <p:nvPr/>
        </p:nvSpPr>
        <p:spPr>
          <a:xfrm>
            <a:off x="9294555" y="1508519"/>
            <a:ext cx="2830790" cy="4160520"/>
          </a:xfrm>
          <a:prstGeom prst="roundRect">
            <a:avLst>
              <a:gd name="adj" fmla="val 3529"/>
            </a:avLst>
          </a:prstGeom>
          <a:solidFill>
            <a:schemeClr val="accent6">
              <a:lumMod val="20000"/>
              <a:lumOff val="80000"/>
            </a:schemeClr>
          </a:solidFill>
          <a:ln w="13970">
            <a:solidFill>
              <a:srgbClr val="D7E7F0"/>
            </a:solidFill>
            <a:prstDash val="solid"/>
          </a:ln>
          <a:effectLst>
            <a:outerShdw blurRad="19050" dist="50800" dir="2700000" algn="bl" rotWithShape="0">
              <a:srgbClr val="B8CCD7">
                <a:alpha val="18000"/>
              </a:srgbClr>
            </a:outerShdw>
          </a:effectLst>
        </p:spPr>
        <p:txBody>
          <a:bodyPr/>
          <a:lstStyle/>
          <a:p>
            <a:endParaRPr lang="nl-NL" dirty="0"/>
          </a:p>
        </p:txBody>
      </p:sp>
      <p:sp>
        <p:nvSpPr>
          <p:cNvPr id="23" name="Text 11">
            <a:extLst>
              <a:ext uri="{FF2B5EF4-FFF2-40B4-BE49-F238E27FC236}">
                <a16:creationId xmlns:a16="http://schemas.microsoft.com/office/drawing/2014/main" id="{3E4DE519-3980-2D49-5C08-1221B0B1CA62}"/>
              </a:ext>
            </a:extLst>
          </p:cNvPr>
          <p:cNvSpPr/>
          <p:nvPr/>
        </p:nvSpPr>
        <p:spPr>
          <a:xfrm>
            <a:off x="9488624" y="1781236"/>
            <a:ext cx="2011680" cy="228600"/>
          </a:xfrm>
          <a:prstGeom prst="rect">
            <a:avLst/>
          </a:prstGeom>
          <a:noFill/>
          <a:ln/>
        </p:spPr>
        <p:txBody>
          <a:bodyPr wrap="square" lIns="0" tIns="0" rIns="0" bIns="0" rtlCol="0" anchor="ctr"/>
          <a:lstStyle/>
          <a:p>
            <a:pPr marL="0" indent="0">
              <a:buNone/>
            </a:pPr>
            <a:r>
              <a:rPr lang="en-US" sz="1800" b="1" dirty="0">
                <a:solidFill>
                  <a:srgbClr val="1C8C64"/>
                </a:solidFill>
              </a:rPr>
              <a:t>3. Teacher</a:t>
            </a:r>
            <a:endParaRPr lang="en-US" sz="1800" dirty="0"/>
          </a:p>
        </p:txBody>
      </p:sp>
      <p:sp>
        <p:nvSpPr>
          <p:cNvPr id="25" name="Text 12">
            <a:extLst>
              <a:ext uri="{FF2B5EF4-FFF2-40B4-BE49-F238E27FC236}">
                <a16:creationId xmlns:a16="http://schemas.microsoft.com/office/drawing/2014/main" id="{6ADB4916-9A4C-FC30-94E2-3929E066EDEB}"/>
              </a:ext>
            </a:extLst>
          </p:cNvPr>
          <p:cNvSpPr/>
          <p:nvPr/>
        </p:nvSpPr>
        <p:spPr>
          <a:xfrm>
            <a:off x="9488624" y="2103120"/>
            <a:ext cx="2286000" cy="1325880"/>
          </a:xfrm>
          <a:prstGeom prst="rect">
            <a:avLst/>
          </a:prstGeom>
          <a:noFill/>
          <a:ln/>
        </p:spPr>
        <p:txBody>
          <a:bodyPr wrap="square" lIns="0" tIns="0" rIns="0" bIns="0" rtlCol="0" anchor="ctr"/>
          <a:lstStyle/>
          <a:p>
            <a:r>
              <a:rPr lang="en-US" sz="1400" dirty="0">
                <a:solidFill>
                  <a:srgbClr val="24364B"/>
                </a:solidFill>
              </a:rPr>
              <a:t>Teacher opens submission</a:t>
            </a:r>
            <a:endParaRPr lang="en-US" sz="1400" dirty="0"/>
          </a:p>
          <a:p>
            <a:r>
              <a:rPr lang="en-US" sz="1400" dirty="0">
                <a:solidFill>
                  <a:srgbClr val="24364B"/>
                </a:solidFill>
              </a:rPr>
              <a:t>Downloads files</a:t>
            </a:r>
            <a:endParaRPr lang="en-US" sz="1400" dirty="0"/>
          </a:p>
          <a:p>
            <a:r>
              <a:rPr lang="en-US" sz="1400" dirty="0">
                <a:solidFill>
                  <a:srgbClr val="24364B"/>
                </a:solidFill>
              </a:rPr>
              <a:t>Adds grade + feedback</a:t>
            </a:r>
            <a:endParaRPr lang="en-US" sz="1400" dirty="0"/>
          </a:p>
          <a:p>
            <a:r>
              <a:rPr lang="en-US" sz="1400" dirty="0">
                <a:solidFill>
                  <a:srgbClr val="24364B"/>
                </a:solidFill>
              </a:rPr>
              <a:t>Student sees result</a:t>
            </a:r>
            <a:endParaRPr lang="en-US" sz="1400" dirty="0"/>
          </a:p>
          <a:p>
            <a:endParaRPr lang="en-US" sz="1400" dirty="0"/>
          </a:p>
        </p:txBody>
      </p:sp>
      <p:sp>
        <p:nvSpPr>
          <p:cNvPr id="27" name="Text 13">
            <a:extLst>
              <a:ext uri="{FF2B5EF4-FFF2-40B4-BE49-F238E27FC236}">
                <a16:creationId xmlns:a16="http://schemas.microsoft.com/office/drawing/2014/main" id="{D0C41857-9637-0DA8-B1F3-EC0C03B3DB57}"/>
              </a:ext>
            </a:extLst>
          </p:cNvPr>
          <p:cNvSpPr/>
          <p:nvPr/>
        </p:nvSpPr>
        <p:spPr>
          <a:xfrm>
            <a:off x="9465764" y="4759292"/>
            <a:ext cx="2331720" cy="310896"/>
          </a:xfrm>
          <a:prstGeom prst="rect">
            <a:avLst/>
          </a:prstGeom>
          <a:noFill/>
          <a:ln/>
        </p:spPr>
        <p:txBody>
          <a:bodyPr wrap="square" lIns="0" tIns="0" rIns="0" bIns="0" rtlCol="0" anchor="ctr">
            <a:normAutofit/>
          </a:bodyPr>
          <a:lstStyle/>
          <a:p>
            <a:r>
              <a:rPr lang="en-US" sz="1100" b="1" dirty="0">
                <a:solidFill>
                  <a:srgbClr val="526779"/>
                </a:solidFill>
              </a:rPr>
              <a:t>Output: </a:t>
            </a:r>
            <a:r>
              <a:rPr lang="en-US" sz="1100" dirty="0">
                <a:solidFill>
                  <a:srgbClr val="24364B"/>
                </a:solidFill>
              </a:rPr>
              <a:t>learning loop is complete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BFF"/>
        </a:solidFill>
        <a:effectLst/>
      </p:bgPr>
    </p:bg>
    <p:spTree>
      <p:nvGrpSpPr>
        <p:cNvPr id="1" name=""/>
        <p:cNvGrpSpPr/>
        <p:nvPr/>
      </p:nvGrpSpPr>
      <p:grpSpPr>
        <a:xfrm>
          <a:off x="0" y="0"/>
          <a:ext cx="0" cy="0"/>
          <a:chOff x="0" y="0"/>
          <a:chExt cx="0" cy="0"/>
        </a:xfrm>
      </p:grpSpPr>
      <p:sp>
        <p:nvSpPr>
          <p:cNvPr id="2" name="Text 0"/>
          <p:cNvSpPr/>
          <p:nvPr/>
        </p:nvSpPr>
        <p:spPr>
          <a:xfrm>
            <a:off x="594360" y="438912"/>
            <a:ext cx="7680960" cy="502920"/>
          </a:xfrm>
          <a:prstGeom prst="rect">
            <a:avLst/>
          </a:prstGeom>
          <a:noFill/>
          <a:ln/>
        </p:spPr>
        <p:txBody>
          <a:bodyPr wrap="square" lIns="0" tIns="0" rIns="0" bIns="0" rtlCol="0" anchor="ctr">
            <a:normAutofit/>
          </a:bodyPr>
          <a:lstStyle/>
          <a:p>
            <a:pPr marL="0" indent="0">
              <a:buNone/>
            </a:pPr>
            <a:r>
              <a:rPr lang="en-US" sz="3000" b="1" dirty="0">
                <a:solidFill>
                  <a:srgbClr val="132133"/>
                </a:solidFill>
                <a:latin typeface="Aptos Display" pitchFamily="34" charset="0"/>
                <a:ea typeface="Aptos Display" pitchFamily="34" charset="-122"/>
                <a:cs typeface="Aptos Display" pitchFamily="34" charset="-120"/>
              </a:rPr>
              <a:t>Ethics &amp; limitations</a:t>
            </a:r>
            <a:endParaRPr lang="en-US" sz="3000" dirty="0"/>
          </a:p>
        </p:txBody>
      </p:sp>
      <p:sp>
        <p:nvSpPr>
          <p:cNvPr id="3" name="Text 1"/>
          <p:cNvSpPr/>
          <p:nvPr/>
        </p:nvSpPr>
        <p:spPr>
          <a:xfrm>
            <a:off x="612648" y="1005840"/>
            <a:ext cx="6583680" cy="237744"/>
          </a:xfrm>
          <a:prstGeom prst="rect">
            <a:avLst/>
          </a:prstGeom>
          <a:noFill/>
          <a:ln/>
        </p:spPr>
        <p:txBody>
          <a:bodyPr wrap="square" lIns="0" tIns="0" rIns="0" bIns="0" rtlCol="0" anchor="ctr"/>
          <a:lstStyle/>
          <a:p>
            <a:pPr marL="0" indent="0">
              <a:buNone/>
            </a:pPr>
            <a:r>
              <a:rPr lang="en-US" sz="1050" dirty="0">
                <a:solidFill>
                  <a:srgbClr val="526779"/>
                </a:solidFill>
                <a:latin typeface="Aptos" pitchFamily="34" charset="0"/>
                <a:ea typeface="Aptos" pitchFamily="34" charset="-122"/>
                <a:cs typeface="Aptos" pitchFamily="34" charset="-120"/>
              </a:rPr>
              <a:t>The app reduces one barrier, but it does not solve every barrier.</a:t>
            </a:r>
            <a:endParaRPr lang="en-US" sz="1050" dirty="0"/>
          </a:p>
        </p:txBody>
      </p:sp>
      <p:sp>
        <p:nvSpPr>
          <p:cNvPr id="4" name="Shape 2"/>
          <p:cNvSpPr/>
          <p:nvPr/>
        </p:nvSpPr>
        <p:spPr>
          <a:xfrm>
            <a:off x="822960" y="1399032"/>
            <a:ext cx="10561320" cy="530352"/>
          </a:xfrm>
          <a:prstGeom prst="roundRect">
            <a:avLst>
              <a:gd name="adj" fmla="val 20690"/>
            </a:avLst>
          </a:prstGeom>
          <a:solidFill>
            <a:srgbClr val="FFFFFF"/>
          </a:solidFill>
          <a:ln w="13970">
            <a:solidFill>
              <a:srgbClr val="C9DCE8"/>
            </a:solidFill>
            <a:prstDash val="solid"/>
          </a:ln>
        </p:spPr>
        <p:txBody>
          <a:bodyPr/>
          <a:lstStyle/>
          <a:p>
            <a:endParaRPr lang="nl-NL"/>
          </a:p>
        </p:txBody>
      </p:sp>
      <p:sp>
        <p:nvSpPr>
          <p:cNvPr id="5" name="Text 3"/>
          <p:cNvSpPr/>
          <p:nvPr/>
        </p:nvSpPr>
        <p:spPr>
          <a:xfrm>
            <a:off x="1051560" y="1563624"/>
            <a:ext cx="1828800" cy="109728"/>
          </a:xfrm>
          <a:prstGeom prst="rect">
            <a:avLst/>
          </a:prstGeom>
          <a:noFill/>
          <a:ln/>
        </p:spPr>
        <p:txBody>
          <a:bodyPr wrap="square" lIns="0" tIns="0" rIns="0" bIns="0" rtlCol="0" anchor="ctr"/>
          <a:lstStyle/>
          <a:p>
            <a:pPr marL="0" indent="0">
              <a:buNone/>
            </a:pPr>
            <a:r>
              <a:rPr lang="en-US" sz="1150" b="1" dirty="0">
                <a:solidFill>
                  <a:srgbClr val="132133"/>
                </a:solidFill>
              </a:rPr>
              <a:t>Digital exclusion</a:t>
            </a:r>
            <a:endParaRPr lang="en-US" sz="1150" dirty="0"/>
          </a:p>
        </p:txBody>
      </p:sp>
      <p:sp>
        <p:nvSpPr>
          <p:cNvPr id="6" name="Text 4"/>
          <p:cNvSpPr/>
          <p:nvPr/>
        </p:nvSpPr>
        <p:spPr>
          <a:xfrm>
            <a:off x="3017520" y="1563624"/>
            <a:ext cx="3657600" cy="109728"/>
          </a:xfrm>
          <a:prstGeom prst="rect">
            <a:avLst/>
          </a:prstGeom>
          <a:noFill/>
          <a:ln/>
        </p:spPr>
        <p:txBody>
          <a:bodyPr wrap="square" lIns="0" tIns="0" rIns="0" bIns="0" rtlCol="0" anchor="ctr">
            <a:normAutofit fontScale="77500" lnSpcReduction="20000"/>
          </a:bodyPr>
          <a:lstStyle/>
          <a:p>
            <a:r>
              <a:rPr lang="en-US" sz="1050" dirty="0">
                <a:solidFill>
                  <a:srgbClr val="EE0000"/>
                </a:solidFill>
              </a:rPr>
              <a:t>No device, electricity or any internet still excludes students</a:t>
            </a:r>
          </a:p>
        </p:txBody>
      </p:sp>
      <p:sp>
        <p:nvSpPr>
          <p:cNvPr id="7" name="Text 5"/>
          <p:cNvSpPr/>
          <p:nvPr/>
        </p:nvSpPr>
        <p:spPr>
          <a:xfrm>
            <a:off x="6949440" y="1563624"/>
            <a:ext cx="3566160" cy="109728"/>
          </a:xfrm>
          <a:prstGeom prst="rect">
            <a:avLst/>
          </a:prstGeom>
          <a:noFill/>
          <a:ln/>
        </p:spPr>
        <p:txBody>
          <a:bodyPr wrap="square" lIns="0" tIns="0" rIns="0" bIns="0" rtlCol="0" anchor="ctr">
            <a:normAutofit fontScale="77500" lnSpcReduction="20000"/>
          </a:bodyPr>
          <a:lstStyle/>
          <a:p>
            <a:r>
              <a:rPr lang="en-US" sz="1050" b="1" dirty="0">
                <a:solidFill>
                  <a:srgbClr val="21835E"/>
                </a:solidFill>
              </a:rPr>
              <a:t>lightweight content + alternatives</a:t>
            </a:r>
            <a:endParaRPr lang="en-US" sz="1050" dirty="0"/>
          </a:p>
        </p:txBody>
      </p:sp>
      <p:sp>
        <p:nvSpPr>
          <p:cNvPr id="8" name="Shape 6"/>
          <p:cNvSpPr/>
          <p:nvPr/>
        </p:nvSpPr>
        <p:spPr>
          <a:xfrm>
            <a:off x="822960" y="2194560"/>
            <a:ext cx="10561320" cy="530352"/>
          </a:xfrm>
          <a:prstGeom prst="roundRect">
            <a:avLst>
              <a:gd name="adj" fmla="val 20690"/>
            </a:avLst>
          </a:prstGeom>
          <a:solidFill>
            <a:srgbClr val="F4FCFB"/>
          </a:solidFill>
          <a:ln w="13970">
            <a:solidFill>
              <a:srgbClr val="C9DCE8"/>
            </a:solidFill>
            <a:prstDash val="solid"/>
          </a:ln>
        </p:spPr>
        <p:txBody>
          <a:bodyPr/>
          <a:lstStyle/>
          <a:p>
            <a:endParaRPr lang="nl-NL"/>
          </a:p>
        </p:txBody>
      </p:sp>
      <p:sp>
        <p:nvSpPr>
          <p:cNvPr id="9" name="Text 7"/>
          <p:cNvSpPr/>
          <p:nvPr/>
        </p:nvSpPr>
        <p:spPr>
          <a:xfrm>
            <a:off x="1051560" y="2359152"/>
            <a:ext cx="1828800" cy="109728"/>
          </a:xfrm>
          <a:prstGeom prst="rect">
            <a:avLst/>
          </a:prstGeom>
          <a:noFill/>
          <a:ln/>
        </p:spPr>
        <p:txBody>
          <a:bodyPr wrap="square" lIns="0" tIns="0" rIns="0" bIns="0" rtlCol="0" anchor="ctr"/>
          <a:lstStyle/>
          <a:p>
            <a:pPr marL="0" indent="0">
              <a:buNone/>
            </a:pPr>
            <a:r>
              <a:rPr lang="en-US" sz="1150" b="1" dirty="0">
                <a:solidFill>
                  <a:srgbClr val="132133"/>
                </a:solidFill>
              </a:rPr>
              <a:t>Children &amp; privacy</a:t>
            </a:r>
            <a:endParaRPr lang="en-US" sz="1150" dirty="0"/>
          </a:p>
        </p:txBody>
      </p:sp>
      <p:sp>
        <p:nvSpPr>
          <p:cNvPr id="10" name="Text 8"/>
          <p:cNvSpPr/>
          <p:nvPr/>
        </p:nvSpPr>
        <p:spPr>
          <a:xfrm>
            <a:off x="3017520" y="2359152"/>
            <a:ext cx="3657600" cy="109728"/>
          </a:xfrm>
          <a:prstGeom prst="rect">
            <a:avLst/>
          </a:prstGeom>
          <a:noFill/>
          <a:ln/>
        </p:spPr>
        <p:txBody>
          <a:bodyPr wrap="square" lIns="0" tIns="0" rIns="0" bIns="0" rtlCol="0" anchor="ctr">
            <a:normAutofit fontScale="77500" lnSpcReduction="20000"/>
          </a:bodyPr>
          <a:lstStyle/>
          <a:p>
            <a:r>
              <a:rPr lang="en-US" sz="1050" dirty="0">
                <a:solidFill>
                  <a:srgbClr val="EE0000"/>
                </a:solidFill>
              </a:rPr>
              <a:t>accounts, submissions, grades and feedback are sensitive</a:t>
            </a:r>
          </a:p>
        </p:txBody>
      </p:sp>
      <p:sp>
        <p:nvSpPr>
          <p:cNvPr id="11" name="Text 9"/>
          <p:cNvSpPr/>
          <p:nvPr/>
        </p:nvSpPr>
        <p:spPr>
          <a:xfrm>
            <a:off x="6949440" y="2359152"/>
            <a:ext cx="3566160" cy="109728"/>
          </a:xfrm>
          <a:prstGeom prst="rect">
            <a:avLst/>
          </a:prstGeom>
          <a:noFill/>
          <a:ln/>
        </p:spPr>
        <p:txBody>
          <a:bodyPr wrap="square" lIns="0" tIns="0" rIns="0" bIns="0" rtlCol="0" anchor="ctr">
            <a:normAutofit fontScale="77500" lnSpcReduction="20000"/>
          </a:bodyPr>
          <a:lstStyle/>
          <a:p>
            <a:r>
              <a:rPr lang="en-US" sz="1050" b="1" dirty="0">
                <a:solidFill>
                  <a:srgbClr val="21835E"/>
                </a:solidFill>
              </a:rPr>
              <a:t>role-based access + private storage</a:t>
            </a:r>
            <a:endParaRPr lang="en-US" sz="1050" dirty="0"/>
          </a:p>
        </p:txBody>
      </p:sp>
      <p:sp>
        <p:nvSpPr>
          <p:cNvPr id="12" name="Shape 10"/>
          <p:cNvSpPr/>
          <p:nvPr/>
        </p:nvSpPr>
        <p:spPr>
          <a:xfrm>
            <a:off x="822960" y="2990088"/>
            <a:ext cx="10561320" cy="530352"/>
          </a:xfrm>
          <a:prstGeom prst="roundRect">
            <a:avLst>
              <a:gd name="adj" fmla="val 20690"/>
            </a:avLst>
          </a:prstGeom>
          <a:solidFill>
            <a:srgbClr val="FFFFFF"/>
          </a:solidFill>
          <a:ln w="13970">
            <a:solidFill>
              <a:srgbClr val="C9DCE8"/>
            </a:solidFill>
            <a:prstDash val="solid"/>
          </a:ln>
        </p:spPr>
        <p:txBody>
          <a:bodyPr/>
          <a:lstStyle/>
          <a:p>
            <a:endParaRPr lang="nl-NL"/>
          </a:p>
        </p:txBody>
      </p:sp>
      <p:sp>
        <p:nvSpPr>
          <p:cNvPr id="13" name="Text 11"/>
          <p:cNvSpPr/>
          <p:nvPr/>
        </p:nvSpPr>
        <p:spPr>
          <a:xfrm>
            <a:off x="1051560" y="3154680"/>
            <a:ext cx="1828800" cy="109728"/>
          </a:xfrm>
          <a:prstGeom prst="rect">
            <a:avLst/>
          </a:prstGeom>
          <a:noFill/>
          <a:ln/>
        </p:spPr>
        <p:txBody>
          <a:bodyPr wrap="square" lIns="0" tIns="0" rIns="0" bIns="0" rtlCol="0" anchor="ctr"/>
          <a:lstStyle/>
          <a:p>
            <a:pPr marL="0" indent="0">
              <a:buNone/>
            </a:pPr>
            <a:r>
              <a:rPr lang="en-US" sz="1150" b="1" dirty="0">
                <a:solidFill>
                  <a:srgbClr val="132133"/>
                </a:solidFill>
              </a:rPr>
              <a:t>Shared devices</a:t>
            </a:r>
            <a:endParaRPr lang="en-US" sz="1150" dirty="0"/>
          </a:p>
        </p:txBody>
      </p:sp>
      <p:sp>
        <p:nvSpPr>
          <p:cNvPr id="14" name="Text 12"/>
          <p:cNvSpPr/>
          <p:nvPr/>
        </p:nvSpPr>
        <p:spPr>
          <a:xfrm>
            <a:off x="3017520" y="3154680"/>
            <a:ext cx="3657600" cy="109728"/>
          </a:xfrm>
          <a:prstGeom prst="rect">
            <a:avLst/>
          </a:prstGeom>
          <a:noFill/>
          <a:ln/>
        </p:spPr>
        <p:txBody>
          <a:bodyPr wrap="square" lIns="0" tIns="0" rIns="0" bIns="0" rtlCol="0" anchor="ctr">
            <a:normAutofit fontScale="77500" lnSpcReduction="20000"/>
          </a:bodyPr>
          <a:lstStyle/>
          <a:p>
            <a:r>
              <a:rPr lang="en-US" sz="1050" dirty="0">
                <a:solidFill>
                  <a:srgbClr val="EE0000"/>
                </a:solidFill>
              </a:rPr>
              <a:t>downloads or sessions may be visible to others</a:t>
            </a:r>
          </a:p>
        </p:txBody>
      </p:sp>
      <p:sp>
        <p:nvSpPr>
          <p:cNvPr id="15" name="Text 13"/>
          <p:cNvSpPr/>
          <p:nvPr/>
        </p:nvSpPr>
        <p:spPr>
          <a:xfrm>
            <a:off x="6949440" y="3154680"/>
            <a:ext cx="3566160" cy="109728"/>
          </a:xfrm>
          <a:prstGeom prst="rect">
            <a:avLst/>
          </a:prstGeom>
          <a:noFill/>
          <a:ln/>
        </p:spPr>
        <p:txBody>
          <a:bodyPr wrap="square" lIns="0" tIns="0" rIns="0" bIns="0" rtlCol="0" anchor="ctr">
            <a:normAutofit fontScale="77500" lnSpcReduction="20000"/>
          </a:bodyPr>
          <a:lstStyle/>
          <a:p>
            <a:r>
              <a:rPr lang="en-US" sz="1050" b="1" dirty="0">
                <a:solidFill>
                  <a:srgbClr val="21835E"/>
                </a:solidFill>
              </a:rPr>
              <a:t>logout + minimal stored personal data</a:t>
            </a:r>
            <a:endParaRPr lang="en-US" sz="1050" dirty="0"/>
          </a:p>
        </p:txBody>
      </p:sp>
      <p:sp>
        <p:nvSpPr>
          <p:cNvPr id="16" name="Shape 14"/>
          <p:cNvSpPr/>
          <p:nvPr/>
        </p:nvSpPr>
        <p:spPr>
          <a:xfrm>
            <a:off x="822960" y="3785616"/>
            <a:ext cx="10561320" cy="530352"/>
          </a:xfrm>
          <a:prstGeom prst="roundRect">
            <a:avLst>
              <a:gd name="adj" fmla="val 20690"/>
            </a:avLst>
          </a:prstGeom>
          <a:solidFill>
            <a:srgbClr val="F4FCFB"/>
          </a:solidFill>
          <a:ln w="13970">
            <a:solidFill>
              <a:srgbClr val="C9DCE8"/>
            </a:solidFill>
            <a:prstDash val="solid"/>
          </a:ln>
        </p:spPr>
        <p:txBody>
          <a:bodyPr/>
          <a:lstStyle/>
          <a:p>
            <a:endParaRPr lang="nl-NL"/>
          </a:p>
        </p:txBody>
      </p:sp>
      <p:sp>
        <p:nvSpPr>
          <p:cNvPr id="17" name="Text 15"/>
          <p:cNvSpPr/>
          <p:nvPr/>
        </p:nvSpPr>
        <p:spPr>
          <a:xfrm>
            <a:off x="1051560" y="3950208"/>
            <a:ext cx="1828800" cy="109728"/>
          </a:xfrm>
          <a:prstGeom prst="rect">
            <a:avLst/>
          </a:prstGeom>
          <a:noFill/>
          <a:ln/>
        </p:spPr>
        <p:txBody>
          <a:bodyPr wrap="square" lIns="0" tIns="0" rIns="0" bIns="0" rtlCol="0" anchor="ctr"/>
          <a:lstStyle/>
          <a:p>
            <a:pPr marL="0" indent="0">
              <a:buNone/>
            </a:pPr>
            <a:r>
              <a:rPr lang="en-US" sz="1150" b="1" dirty="0">
                <a:solidFill>
                  <a:srgbClr val="132133"/>
                </a:solidFill>
              </a:rPr>
              <a:t>Content safety</a:t>
            </a:r>
            <a:endParaRPr lang="en-US" sz="1150" dirty="0"/>
          </a:p>
        </p:txBody>
      </p:sp>
      <p:sp>
        <p:nvSpPr>
          <p:cNvPr id="18" name="Text 16"/>
          <p:cNvSpPr/>
          <p:nvPr/>
        </p:nvSpPr>
        <p:spPr>
          <a:xfrm>
            <a:off x="3017520" y="3950208"/>
            <a:ext cx="3657600" cy="109728"/>
          </a:xfrm>
          <a:prstGeom prst="rect">
            <a:avLst/>
          </a:prstGeom>
          <a:noFill/>
          <a:ln/>
        </p:spPr>
        <p:txBody>
          <a:bodyPr wrap="square" lIns="0" tIns="0" rIns="0" bIns="0" rtlCol="0" anchor="ctr">
            <a:normAutofit fontScale="77500" lnSpcReduction="20000"/>
          </a:bodyPr>
          <a:lstStyle/>
          <a:p>
            <a:r>
              <a:rPr lang="en-US" sz="1050" dirty="0">
                <a:solidFill>
                  <a:srgbClr val="EE0000"/>
                </a:solidFill>
              </a:rPr>
              <a:t>wrong or biased lessons can harm learners</a:t>
            </a:r>
          </a:p>
        </p:txBody>
      </p:sp>
      <p:sp>
        <p:nvSpPr>
          <p:cNvPr id="19" name="Text 17"/>
          <p:cNvSpPr/>
          <p:nvPr/>
        </p:nvSpPr>
        <p:spPr>
          <a:xfrm>
            <a:off x="6949440" y="3950208"/>
            <a:ext cx="3566160" cy="109728"/>
          </a:xfrm>
          <a:prstGeom prst="rect">
            <a:avLst/>
          </a:prstGeom>
          <a:noFill/>
          <a:ln/>
        </p:spPr>
        <p:txBody>
          <a:bodyPr wrap="square" lIns="0" tIns="0" rIns="0" bIns="0" rtlCol="0" anchor="ctr">
            <a:normAutofit fontScale="77500" lnSpcReduction="20000"/>
          </a:bodyPr>
          <a:lstStyle/>
          <a:p>
            <a:r>
              <a:rPr lang="en-US" sz="1050" b="1" dirty="0">
                <a:solidFill>
                  <a:srgbClr val="21835E"/>
                </a:solidFill>
              </a:rPr>
              <a:t>teacher verification + moderation</a:t>
            </a:r>
            <a:endParaRPr lang="en-US" sz="1050" dirty="0"/>
          </a:p>
        </p:txBody>
      </p:sp>
      <p:sp>
        <p:nvSpPr>
          <p:cNvPr id="20" name="Shape 18"/>
          <p:cNvSpPr/>
          <p:nvPr/>
        </p:nvSpPr>
        <p:spPr>
          <a:xfrm>
            <a:off x="822960" y="4581144"/>
            <a:ext cx="10561320" cy="530352"/>
          </a:xfrm>
          <a:prstGeom prst="roundRect">
            <a:avLst>
              <a:gd name="adj" fmla="val 20690"/>
            </a:avLst>
          </a:prstGeom>
          <a:solidFill>
            <a:srgbClr val="FFFFFF"/>
          </a:solidFill>
          <a:ln w="13970">
            <a:solidFill>
              <a:srgbClr val="C9DCE8"/>
            </a:solidFill>
            <a:prstDash val="solid"/>
          </a:ln>
        </p:spPr>
        <p:txBody>
          <a:bodyPr/>
          <a:lstStyle/>
          <a:p>
            <a:endParaRPr lang="nl-NL" dirty="0"/>
          </a:p>
        </p:txBody>
      </p:sp>
      <p:sp>
        <p:nvSpPr>
          <p:cNvPr id="21" name="Text 19"/>
          <p:cNvSpPr/>
          <p:nvPr/>
        </p:nvSpPr>
        <p:spPr>
          <a:xfrm>
            <a:off x="1051560" y="4745736"/>
            <a:ext cx="1828800" cy="109728"/>
          </a:xfrm>
          <a:prstGeom prst="rect">
            <a:avLst/>
          </a:prstGeom>
          <a:noFill/>
          <a:ln/>
        </p:spPr>
        <p:txBody>
          <a:bodyPr wrap="square" lIns="0" tIns="0" rIns="0" bIns="0" rtlCol="0" anchor="ctr"/>
          <a:lstStyle/>
          <a:p>
            <a:pPr marL="0" indent="0">
              <a:buNone/>
            </a:pPr>
            <a:r>
              <a:rPr lang="en-US" sz="1150" b="1" dirty="0">
                <a:solidFill>
                  <a:srgbClr val="132133"/>
                </a:solidFill>
              </a:rPr>
              <a:t>Data &amp; storage</a:t>
            </a:r>
            <a:endParaRPr lang="en-US" sz="1150" dirty="0"/>
          </a:p>
        </p:txBody>
      </p:sp>
      <p:sp>
        <p:nvSpPr>
          <p:cNvPr id="22" name="Text 20"/>
          <p:cNvSpPr/>
          <p:nvPr/>
        </p:nvSpPr>
        <p:spPr>
          <a:xfrm>
            <a:off x="3017520" y="4745736"/>
            <a:ext cx="3657600" cy="109728"/>
          </a:xfrm>
          <a:prstGeom prst="rect">
            <a:avLst/>
          </a:prstGeom>
          <a:noFill/>
          <a:ln/>
        </p:spPr>
        <p:txBody>
          <a:bodyPr wrap="square" lIns="0" tIns="0" rIns="0" bIns="0" rtlCol="0" anchor="ctr">
            <a:normAutofit fontScale="77500" lnSpcReduction="20000"/>
          </a:bodyPr>
          <a:lstStyle/>
          <a:p>
            <a:r>
              <a:rPr lang="en-US" sz="1050" dirty="0">
                <a:solidFill>
                  <a:srgbClr val="EE0000"/>
                </a:solidFill>
              </a:rPr>
              <a:t>large videos can consume scarce data/storage</a:t>
            </a:r>
          </a:p>
        </p:txBody>
      </p:sp>
      <p:sp>
        <p:nvSpPr>
          <p:cNvPr id="23" name="Text 21"/>
          <p:cNvSpPr/>
          <p:nvPr/>
        </p:nvSpPr>
        <p:spPr>
          <a:xfrm>
            <a:off x="6949440" y="4745736"/>
            <a:ext cx="3566160" cy="109728"/>
          </a:xfrm>
          <a:prstGeom prst="rect">
            <a:avLst/>
          </a:prstGeom>
          <a:noFill/>
          <a:ln/>
        </p:spPr>
        <p:txBody>
          <a:bodyPr wrap="square" lIns="0" tIns="0" rIns="0" bIns="0" rtlCol="0" anchor="ctr">
            <a:normAutofit fontScale="77500" lnSpcReduction="20000"/>
          </a:bodyPr>
          <a:lstStyle/>
          <a:p>
            <a:r>
              <a:rPr lang="en-US" sz="1050" b="1" dirty="0">
                <a:solidFill>
                  <a:srgbClr val="21835E"/>
                </a:solidFill>
              </a:rPr>
              <a:t>compression + visible file sizes</a:t>
            </a:r>
            <a:endParaRPr lang="en-US" sz="1050" dirty="0"/>
          </a:p>
        </p:txBody>
      </p:sp>
      <p:sp>
        <p:nvSpPr>
          <p:cNvPr id="24" name="Shape 22"/>
          <p:cNvSpPr/>
          <p:nvPr/>
        </p:nvSpPr>
        <p:spPr>
          <a:xfrm>
            <a:off x="2148840" y="5669280"/>
            <a:ext cx="7909560" cy="530352"/>
          </a:xfrm>
          <a:prstGeom prst="roundRect">
            <a:avLst>
              <a:gd name="adj" fmla="val 10345"/>
            </a:avLst>
          </a:prstGeom>
          <a:solidFill>
            <a:srgbClr val="082B49"/>
          </a:solidFill>
          <a:ln w="12700">
            <a:solidFill>
              <a:srgbClr val="082B49"/>
            </a:solidFill>
            <a:prstDash val="solid"/>
          </a:ln>
        </p:spPr>
        <p:txBody>
          <a:bodyPr/>
          <a:lstStyle/>
          <a:p>
            <a:endParaRPr lang="nl-NL"/>
          </a:p>
        </p:txBody>
      </p:sp>
      <p:sp>
        <p:nvSpPr>
          <p:cNvPr id="25" name="Text 23"/>
          <p:cNvSpPr/>
          <p:nvPr/>
        </p:nvSpPr>
        <p:spPr>
          <a:xfrm>
            <a:off x="2423160" y="5852160"/>
            <a:ext cx="7360920" cy="146304"/>
          </a:xfrm>
          <a:prstGeom prst="rect">
            <a:avLst/>
          </a:prstGeom>
          <a:noFill/>
          <a:ln/>
        </p:spPr>
        <p:txBody>
          <a:bodyPr wrap="square" lIns="0" tIns="0" rIns="0" bIns="0" rtlCol="0" anchor="ctr">
            <a:normAutofit fontScale="92500" lnSpcReduction="20000"/>
          </a:bodyPr>
          <a:lstStyle/>
          <a:p>
            <a:pPr marL="0" indent="0" algn="ctr">
              <a:buNone/>
            </a:pPr>
            <a:r>
              <a:rPr lang="en-US" sz="1220" b="1" dirty="0">
                <a:solidFill>
                  <a:srgbClr val="FFFFFF"/>
                </a:solidFill>
              </a:rPr>
              <a:t>Core takeaway: LearnBridge organizes offline-first learning for students who cannot always be online.</a:t>
            </a:r>
            <a:endParaRPr lang="en-US" sz="1220" dirty="0"/>
          </a:p>
        </p:txBody>
      </p:sp>
      <p:sp>
        <p:nvSpPr>
          <p:cNvPr id="26" name="Text 24"/>
          <p:cNvSpPr/>
          <p:nvPr/>
        </p:nvSpPr>
        <p:spPr>
          <a:xfrm>
            <a:off x="502920" y="6629400"/>
            <a:ext cx="4114800" cy="109728"/>
          </a:xfrm>
          <a:prstGeom prst="rect">
            <a:avLst/>
          </a:prstGeom>
          <a:noFill/>
          <a:ln/>
        </p:spPr>
        <p:txBody>
          <a:bodyPr wrap="square" lIns="0" tIns="0" rIns="0" bIns="0" rtlCol="0" anchor="ctr"/>
          <a:lstStyle/>
          <a:p>
            <a:pPr marL="0" indent="0">
              <a:buNone/>
            </a:pPr>
            <a:r>
              <a:rPr lang="en-US" sz="750" dirty="0">
                <a:solidFill>
                  <a:srgbClr val="5D7080"/>
                </a:solidFill>
                <a:latin typeface="Aptos" pitchFamily="34" charset="0"/>
                <a:ea typeface="Aptos" pitchFamily="34" charset="-122"/>
                <a:cs typeface="Aptos" pitchFamily="34" charset="-120"/>
              </a:rPr>
              <a:t>LearnBridge · AI for Good · SDG 4</a:t>
            </a:r>
            <a:endParaRPr lang="en-US" sz="750" dirty="0"/>
          </a:p>
        </p:txBody>
      </p:sp>
      <p:sp>
        <p:nvSpPr>
          <p:cNvPr id="27" name="Text 25"/>
          <p:cNvSpPr/>
          <p:nvPr/>
        </p:nvSpPr>
        <p:spPr>
          <a:xfrm>
            <a:off x="11411712" y="6629400"/>
            <a:ext cx="274320" cy="109728"/>
          </a:xfrm>
          <a:prstGeom prst="rect">
            <a:avLst/>
          </a:prstGeom>
          <a:noFill/>
          <a:ln/>
        </p:spPr>
        <p:txBody>
          <a:bodyPr wrap="square" lIns="0" tIns="0" rIns="0" bIns="0" rtlCol="0" anchor="ctr"/>
          <a:lstStyle/>
          <a:p>
            <a:pPr marL="0" indent="0" algn="r">
              <a:buNone/>
            </a:pPr>
            <a:r>
              <a:rPr lang="en-US" sz="750" dirty="0">
                <a:solidFill>
                  <a:srgbClr val="5D7080"/>
                </a:solidFill>
                <a:latin typeface="Aptos" pitchFamily="34" charset="0"/>
                <a:ea typeface="Aptos" pitchFamily="34" charset="-122"/>
                <a:cs typeface="Aptos" pitchFamily="34" charset="-120"/>
              </a:rPr>
              <a:t>7</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1447</Words>
  <Application>Microsoft Office PowerPoint</Application>
  <PresentationFormat>Breedbeeld</PresentationFormat>
  <Paragraphs>169</Paragraphs>
  <Slides>7</Slides>
  <Notes>7</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7</vt:i4>
      </vt:variant>
    </vt:vector>
  </HeadingPairs>
  <TitlesOfParts>
    <vt:vector size="11" baseType="lpstr">
      <vt:lpstr>Aptos</vt:lpstr>
      <vt:lpstr>Aptos Display</vt:lpstr>
      <vt:lpstr>Arial</vt:lpstr>
      <vt:lpstr>Office Theme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Company>LearnBridge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LearnBridge — AI for Good Hackathon</dc:title>
  <dc:subject>AI for Good Hackathon presentation</dc:subject>
  <dc:creator>OpenAI</dc:creator>
  <cp:lastModifiedBy>Arbër Deda (24123722)</cp:lastModifiedBy>
  <cp:revision>2</cp:revision>
  <dcterms:created xsi:type="dcterms:W3CDTF">2026-09-08T11:58:36Z</dcterms:created>
  <dcterms:modified xsi:type="dcterms:W3CDTF">2026-09-10T14:25:33Z</dcterms:modified>
</cp:coreProperties>
</file>