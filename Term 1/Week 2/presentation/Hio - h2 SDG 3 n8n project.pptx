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EADD"/>
    <a:srgbClr val="D997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36023-00C7-7249-AB87-18460B2DD25E}" v="5" dt="2026-09-18T06:09:57.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2901"/>
  </p:normalViewPr>
  <p:slideViewPr>
    <p:cSldViewPr snapToGrid="0" snapToObjects="1">
      <p:cViewPr>
        <p:scale>
          <a:sx n="120" d="100"/>
          <a:sy n="120" d="100"/>
        </p:scale>
        <p:origin x="2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ed Al-Sakkaf (23121386)" userId="4d402ec7-d214-4a84-a5a6-a69498e36cc3" providerId="ADAL" clId="{17036023-00C7-7249-AB87-18460B2DD25E}"/>
    <pc:docChg chg="custSel modSld">
      <pc:chgData name="Majed Al-Sakkaf (23121386)" userId="4d402ec7-d214-4a84-a5a6-a69498e36cc3" providerId="ADAL" clId="{17036023-00C7-7249-AB87-18460B2DD25E}" dt="2026-09-18T06:14:00.485" v="34" actId="20577"/>
      <pc:docMkLst>
        <pc:docMk/>
      </pc:docMkLst>
      <pc:sldChg chg="addSp delSp modSp mod">
        <pc:chgData name="Majed Al-Sakkaf (23121386)" userId="4d402ec7-d214-4a84-a5a6-a69498e36cc3" providerId="ADAL" clId="{17036023-00C7-7249-AB87-18460B2DD25E}" dt="2026-09-18T06:10:00.856" v="11"/>
        <pc:sldMkLst>
          <pc:docMk/>
          <pc:sldMk cId="0" sldId="262"/>
        </pc:sldMkLst>
        <pc:spChg chg="add mod">
          <ac:chgData name="Majed Al-Sakkaf (23121386)" userId="4d402ec7-d214-4a84-a5a6-a69498e36cc3" providerId="ADAL" clId="{17036023-00C7-7249-AB87-18460B2DD25E}" dt="2026-09-18T06:09:15.322" v="1" actId="1076"/>
          <ac:spMkLst>
            <pc:docMk/>
            <pc:sldMk cId="0" sldId="262"/>
            <ac:spMk id="21" creationId="{E76384C7-C02D-98C0-58F4-A496CF4A33E2}"/>
          </ac:spMkLst>
        </pc:spChg>
        <pc:spChg chg="add mod">
          <ac:chgData name="Majed Al-Sakkaf (23121386)" userId="4d402ec7-d214-4a84-a5a6-a69498e36cc3" providerId="ADAL" clId="{17036023-00C7-7249-AB87-18460B2DD25E}" dt="2026-09-18T06:09:54.688" v="8" actId="207"/>
          <ac:spMkLst>
            <pc:docMk/>
            <pc:sldMk cId="0" sldId="262"/>
            <ac:spMk id="22" creationId="{E47B5D14-8172-60AC-A40F-2C0624B412CF}"/>
          </ac:spMkLst>
        </pc:spChg>
        <pc:spChg chg="add del mod">
          <ac:chgData name="Majed Al-Sakkaf (23121386)" userId="4d402ec7-d214-4a84-a5a6-a69498e36cc3" providerId="ADAL" clId="{17036023-00C7-7249-AB87-18460B2DD25E}" dt="2026-09-18T06:09:33.838" v="5" actId="478"/>
          <ac:spMkLst>
            <pc:docMk/>
            <pc:sldMk cId="0" sldId="262"/>
            <ac:spMk id="23" creationId="{96560A2B-00D3-813F-22DE-2BC5F96886F0}"/>
          </ac:spMkLst>
        </pc:spChg>
        <pc:spChg chg="add del mod">
          <ac:chgData name="Majed Al-Sakkaf (23121386)" userId="4d402ec7-d214-4a84-a5a6-a69498e36cc3" providerId="ADAL" clId="{17036023-00C7-7249-AB87-18460B2DD25E}" dt="2026-09-18T06:10:00.856" v="11"/>
          <ac:spMkLst>
            <pc:docMk/>
            <pc:sldMk cId="0" sldId="262"/>
            <ac:spMk id="24" creationId="{92834308-F4A2-73FC-9624-C8077CCB761F}"/>
          </ac:spMkLst>
        </pc:spChg>
      </pc:sldChg>
      <pc:sldChg chg="modSp mod">
        <pc:chgData name="Majed Al-Sakkaf (23121386)" userId="4d402ec7-d214-4a84-a5a6-a69498e36cc3" providerId="ADAL" clId="{17036023-00C7-7249-AB87-18460B2DD25E}" dt="2026-09-18T06:14:00.485" v="34" actId="20577"/>
        <pc:sldMkLst>
          <pc:docMk/>
          <pc:sldMk cId="0" sldId="264"/>
        </pc:sldMkLst>
        <pc:spChg chg="mod">
          <ac:chgData name="Majed Al-Sakkaf (23121386)" userId="4d402ec7-d214-4a84-a5a6-a69498e36cc3" providerId="ADAL" clId="{17036023-00C7-7249-AB87-18460B2DD25E}" dt="2026-09-18T06:14:00.485" v="34" actId="20577"/>
          <ac:spMkLst>
            <pc:docMk/>
            <pc:sldMk cId="0" sldId="264"/>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70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line: Hio is a companion that lives where people already are, and helps on the days that are too full.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existing tools fail the people who need them. The third one is why Hio lives in Telegram rather than being an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numbers. The third is the gap Hio sits in: most students with complaints do get help, but a third get nothing, and Hio is the everyday support in between.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3.4 explicitly names mental health. Our angle is prevention, and the handover is the part that keeps it honest.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capabilities plus the boundary. The last card is the one to linger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is this mental health and not just automation".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triggers in one workflow. Mention that the AI decides which tools to call, rather than the flow being hard-wired.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 each one off quickly. The last row is the one that matters, so pause there and go into the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crisis step for last so it is the thing they remember.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card is a real thing that happened during the build. Tell it as a story, it lands harder than an abstract risk.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brief's question directly here: where does automation stop, and would you trust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description,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B2A"/>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l="-44" r="-44"/>
          <a:stretch/>
        </p:blipFill>
        <p:spPr>
          <a:xfrm>
            <a:off x="8728379" y="1015802"/>
            <a:ext cx="2629049" cy="2588667"/>
          </a:xfrm>
          <a:prstGeom prst="rect">
            <a:avLst/>
          </a:prstGeom>
        </p:spPr>
      </p:pic>
      <p:pic>
        <p:nvPicPr>
          <p:cNvPr id="3" name="Image 1" descr="ellipse"/>
          <p:cNvPicPr>
            <a:picLocks noChangeAspect="1"/>
          </p:cNvPicPr>
          <p:nvPr/>
        </p:nvPicPr>
        <p:blipFill>
          <a:blip r:embed="rId4"/>
          <a:srcRect/>
          <a:stretch/>
        </p:blipFill>
        <p:spPr>
          <a:xfrm>
            <a:off x="9906000" y="762000"/>
            <a:ext cx="1143000" cy="1143000"/>
          </a:xfrm>
          <a:prstGeom prst="rect">
            <a:avLst/>
          </a:prstGeom>
        </p:spPr>
      </p:pic>
      <p:sp>
        <p:nvSpPr>
          <p:cNvPr id="4" name="Text 0"/>
          <p:cNvSpPr/>
          <p:nvPr/>
        </p:nvSpPr>
        <p:spPr>
          <a:xfrm>
            <a:off x="4764314" y="8382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D9975B"/>
                </a:solidFill>
                <a:latin typeface="Inter" pitchFamily="34" charset="0"/>
                <a:ea typeface="Inter" pitchFamily="34" charset="-122"/>
                <a:cs typeface="Inter" pitchFamily="34" charset="-120"/>
              </a:rPr>
              <a:t>SDG 3 · GOOD HEALTH &amp; WELL-BEING · BUILT IN N8N</a:t>
            </a:r>
            <a:endParaRPr lang="en-US" sz="1300" dirty="0"/>
          </a:p>
        </p:txBody>
      </p:sp>
      <p:sp>
        <p:nvSpPr>
          <p:cNvPr id="5" name="Text 1"/>
          <p:cNvSpPr/>
          <p:nvPr/>
        </p:nvSpPr>
        <p:spPr>
          <a:xfrm>
            <a:off x="4764314" y="2324100"/>
            <a:ext cx="10883392" cy="1231900"/>
          </a:xfrm>
          <a:prstGeom prst="rect">
            <a:avLst/>
          </a:prstGeom>
          <a:noFill/>
          <a:ln/>
        </p:spPr>
        <p:txBody>
          <a:bodyPr wrap="square" lIns="0" tIns="0" rIns="0" bIns="0" rtlCol="0" anchor="t">
            <a:normAutofit/>
          </a:bodyPr>
          <a:lstStyle/>
          <a:p>
            <a:pPr marL="0" indent="0" algn="l">
              <a:lnSpc>
                <a:spcPts val="9500"/>
              </a:lnSpc>
              <a:buNone/>
            </a:pPr>
            <a:r>
              <a:rPr lang="en-US" sz="9500" dirty="0">
                <a:solidFill>
                  <a:srgbClr val="F3EFE6"/>
                </a:solidFill>
                <a:latin typeface="Fraunces" pitchFamily="34" charset="0"/>
                <a:ea typeface="Fraunces" pitchFamily="34" charset="-122"/>
                <a:cs typeface="Fraunces" pitchFamily="34" charset="-120"/>
              </a:rPr>
              <a:t>Hio</a:t>
            </a:r>
            <a:endParaRPr lang="en-US" sz="9500" dirty="0"/>
          </a:p>
        </p:txBody>
      </p:sp>
      <p:sp>
        <p:nvSpPr>
          <p:cNvPr id="6" name="Text 2"/>
          <p:cNvSpPr/>
          <p:nvPr/>
        </p:nvSpPr>
        <p:spPr>
          <a:xfrm>
            <a:off x="4764314" y="3733800"/>
            <a:ext cx="7521575" cy="817860"/>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DCE4E0"/>
                </a:solidFill>
                <a:latin typeface="Inter" pitchFamily="34" charset="0"/>
                <a:ea typeface="Inter" pitchFamily="34" charset="-122"/>
                <a:cs typeface="Inter" pitchFamily="34" charset="-120"/>
              </a:rPr>
              <a:t>A mental health companion on Telegram, for the weeks when everything is too much.</a:t>
            </a:r>
            <a:endParaRPr lang="en-US" sz="2400" dirty="0"/>
          </a:p>
        </p:txBody>
      </p:sp>
      <p:sp>
        <p:nvSpPr>
          <p:cNvPr id="7" name="Text 3"/>
          <p:cNvSpPr/>
          <p:nvPr/>
        </p:nvSpPr>
        <p:spPr>
          <a:xfrm>
            <a:off x="4764314" y="58039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E0"/>
                </a:solidFill>
                <a:latin typeface="Inter" pitchFamily="34" charset="0"/>
                <a:ea typeface="Inter" pitchFamily="34" charset="-122"/>
                <a:cs typeface="Inter" pitchFamily="34" charset="-120"/>
              </a:rPr>
              <a:t>Majed - Lucas - Sofiia</a:t>
            </a:r>
            <a:endParaRPr lang="en-US" sz="1500" dirty="0"/>
          </a:p>
        </p:txBody>
      </p:sp>
      <p:sp>
        <p:nvSpPr>
          <p:cNvPr id="9" name="Rectangle 8">
            <a:extLst>
              <a:ext uri="{FF2B5EF4-FFF2-40B4-BE49-F238E27FC236}">
                <a16:creationId xmlns:a16="http://schemas.microsoft.com/office/drawing/2014/main" id="{F1A32401-8840-0BC6-336D-4183AE3063EB}"/>
              </a:ext>
            </a:extLst>
          </p:cNvPr>
          <p:cNvSpPr/>
          <p:nvPr/>
        </p:nvSpPr>
        <p:spPr>
          <a:xfrm>
            <a:off x="-96719" y="0"/>
            <a:ext cx="4659085" cy="6858000"/>
          </a:xfrm>
          <a:prstGeom prst="rect">
            <a:avLst/>
          </a:prstGeom>
          <a:solidFill>
            <a:srgbClr val="F1EADD"/>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1" name="Picture 10">
            <a:extLst>
              <a:ext uri="{FF2B5EF4-FFF2-40B4-BE49-F238E27FC236}">
                <a16:creationId xmlns:a16="http://schemas.microsoft.com/office/drawing/2014/main" id="{71F1020E-E59B-D615-D123-18833124F37B}"/>
              </a:ext>
            </a:extLst>
          </p:cNvPr>
          <p:cNvPicPr>
            <a:picLocks noChangeAspect="1"/>
          </p:cNvPicPr>
          <p:nvPr/>
        </p:nvPicPr>
        <p:blipFill>
          <a:blip r:embed="rId5"/>
          <a:stretch>
            <a:fillRect/>
          </a:stretch>
        </p:blipFill>
        <p:spPr>
          <a:xfrm>
            <a:off x="16834" y="1349911"/>
            <a:ext cx="4509116" cy="45091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Hio · SDG 3</a:t>
            </a:r>
            <a:endParaRPr lang="en-US" sz="1300" dirty="0"/>
          </a:p>
        </p:txBody>
      </p:sp>
      <p:sp>
        <p:nvSpPr>
          <p:cNvPr id="3" name="Text 1"/>
          <p:cNvSpPr/>
          <p:nvPr/>
        </p:nvSpPr>
        <p:spPr>
          <a:xfrm>
            <a:off x="812800" y="1995091"/>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THE PROBLEM</a:t>
            </a:r>
            <a:endParaRPr lang="en-US" sz="1300" dirty="0"/>
          </a:p>
        </p:txBody>
      </p:sp>
      <p:sp>
        <p:nvSpPr>
          <p:cNvPr id="4" name="Shape 2"/>
          <p:cNvSpPr/>
          <p:nvPr/>
        </p:nvSpPr>
        <p:spPr>
          <a:xfrm>
            <a:off x="815975" y="3399086"/>
            <a:ext cx="3380284" cy="2114550"/>
          </a:xfrm>
          <a:prstGeom prst="roundRect">
            <a:avLst>
              <a:gd name="adj" fmla="val 7057"/>
            </a:avLst>
          </a:prstGeom>
          <a:solidFill>
            <a:srgbClr val="FBF9F4"/>
          </a:solidFill>
          <a:ln w="6350">
            <a:solidFill>
              <a:srgbClr val="E9E2D4"/>
            </a:solidFill>
            <a:prstDash val="solid"/>
          </a:ln>
        </p:spPr>
        <p:txBody>
          <a:bodyPr/>
          <a:lstStyle/>
          <a:p>
            <a:endParaRPr lang="en-US"/>
          </a:p>
        </p:txBody>
      </p:sp>
      <p:sp>
        <p:nvSpPr>
          <p:cNvPr id="5" name="Text 3"/>
          <p:cNvSpPr/>
          <p:nvPr/>
        </p:nvSpPr>
        <p:spPr>
          <a:xfrm>
            <a:off x="1123950" y="3707061"/>
            <a:ext cx="2847264"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D2B2A"/>
                </a:solidFill>
                <a:latin typeface="Inter" pitchFamily="34" charset="0"/>
                <a:ea typeface="Inter" pitchFamily="34" charset="-122"/>
                <a:cs typeface="Inter" pitchFamily="34" charset="-120"/>
              </a:rPr>
              <a:t>Structure goes first</a:t>
            </a:r>
            <a:endParaRPr lang="en-US" sz="1900" dirty="0"/>
          </a:p>
        </p:txBody>
      </p:sp>
      <p:sp>
        <p:nvSpPr>
          <p:cNvPr id="6" name="Text 4"/>
          <p:cNvSpPr/>
          <p:nvPr/>
        </p:nvSpPr>
        <p:spPr>
          <a:xfrm>
            <a:off x="1123950" y="4098181"/>
            <a:ext cx="284726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When things get heavy, planning is the thing people stop doing, right when they need it most.</a:t>
            </a:r>
            <a:endParaRPr lang="en-US" sz="1500" dirty="0"/>
          </a:p>
        </p:txBody>
      </p:sp>
      <p:sp>
        <p:nvSpPr>
          <p:cNvPr id="7" name="Shape 5"/>
          <p:cNvSpPr/>
          <p:nvPr/>
        </p:nvSpPr>
        <p:spPr>
          <a:xfrm>
            <a:off x="4405809" y="3399086"/>
            <a:ext cx="3380333" cy="2114550"/>
          </a:xfrm>
          <a:prstGeom prst="roundRect">
            <a:avLst>
              <a:gd name="adj" fmla="val 7057"/>
            </a:avLst>
          </a:prstGeom>
          <a:solidFill>
            <a:srgbClr val="FBF9F4"/>
          </a:solidFill>
          <a:ln w="6350">
            <a:solidFill>
              <a:srgbClr val="E9E2D4"/>
            </a:solidFill>
            <a:prstDash val="solid"/>
          </a:ln>
        </p:spPr>
        <p:txBody>
          <a:bodyPr/>
          <a:lstStyle/>
          <a:p>
            <a:endParaRPr lang="en-US"/>
          </a:p>
        </p:txBody>
      </p:sp>
      <p:sp>
        <p:nvSpPr>
          <p:cNvPr id="8" name="Text 6"/>
          <p:cNvSpPr/>
          <p:nvPr/>
        </p:nvSpPr>
        <p:spPr>
          <a:xfrm>
            <a:off x="4713784" y="3707061"/>
            <a:ext cx="2847315"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D2B2A"/>
                </a:solidFill>
                <a:latin typeface="Inter" pitchFamily="34" charset="0"/>
                <a:ea typeface="Inter" pitchFamily="34" charset="-122"/>
                <a:cs typeface="Inter" pitchFamily="34" charset="-120"/>
              </a:rPr>
              <a:t>Nobody notices</a:t>
            </a:r>
            <a:endParaRPr lang="en-US" sz="1900" dirty="0"/>
          </a:p>
        </p:txBody>
      </p:sp>
      <p:sp>
        <p:nvSpPr>
          <p:cNvPr id="9" name="Text 7"/>
          <p:cNvSpPr/>
          <p:nvPr/>
        </p:nvSpPr>
        <p:spPr>
          <a:xfrm>
            <a:off x="4713784" y="4098181"/>
            <a:ext cx="2847315"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A week with no breaks, no sleep and no friends looks the same from the inside as any other week.</a:t>
            </a:r>
            <a:endParaRPr lang="en-US" sz="1500" dirty="0"/>
          </a:p>
        </p:txBody>
      </p:sp>
      <p:sp>
        <p:nvSpPr>
          <p:cNvPr id="10" name="Shape 8"/>
          <p:cNvSpPr/>
          <p:nvPr/>
        </p:nvSpPr>
        <p:spPr>
          <a:xfrm>
            <a:off x="7995692" y="3399086"/>
            <a:ext cx="3380333" cy="2114550"/>
          </a:xfrm>
          <a:prstGeom prst="roundRect">
            <a:avLst>
              <a:gd name="adj" fmla="val 7057"/>
            </a:avLst>
          </a:prstGeom>
          <a:solidFill>
            <a:srgbClr val="FBF9F4"/>
          </a:solidFill>
          <a:ln w="6350">
            <a:solidFill>
              <a:srgbClr val="E9E2D4"/>
            </a:solidFill>
            <a:prstDash val="solid"/>
          </a:ln>
        </p:spPr>
        <p:txBody>
          <a:bodyPr/>
          <a:lstStyle/>
          <a:p>
            <a:endParaRPr lang="en-US"/>
          </a:p>
        </p:txBody>
      </p:sp>
      <p:sp>
        <p:nvSpPr>
          <p:cNvPr id="11" name="Text 9"/>
          <p:cNvSpPr/>
          <p:nvPr/>
        </p:nvSpPr>
        <p:spPr>
          <a:xfrm>
            <a:off x="8303667" y="3707061"/>
            <a:ext cx="2847315"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D2B2A"/>
                </a:solidFill>
                <a:latin typeface="Inter" pitchFamily="34" charset="0"/>
                <a:ea typeface="Inter" pitchFamily="34" charset="-122"/>
                <a:cs typeface="Inter" pitchFamily="34" charset="-120"/>
              </a:rPr>
              <a:t>Apps ask too much</a:t>
            </a:r>
            <a:endParaRPr lang="en-US" sz="1900" dirty="0"/>
          </a:p>
        </p:txBody>
      </p:sp>
      <p:sp>
        <p:nvSpPr>
          <p:cNvPr id="12" name="Text 10"/>
          <p:cNvSpPr/>
          <p:nvPr/>
        </p:nvSpPr>
        <p:spPr>
          <a:xfrm>
            <a:off x="8303667" y="4098181"/>
            <a:ext cx="284731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Another app to open, another form to fill. The effort lands exactly where the energy isn't.</a:t>
            </a:r>
            <a:endParaRPr lang="en-US" sz="1500" dirty="0"/>
          </a:p>
        </p:txBody>
      </p:sp>
      <p:sp>
        <p:nvSpPr>
          <p:cNvPr id="13" name="Text 11"/>
          <p:cNvSpPr/>
          <p:nvPr/>
        </p:nvSpPr>
        <p:spPr>
          <a:xfrm>
            <a:off x="812800" y="2455416"/>
            <a:ext cx="11184255" cy="500063"/>
          </a:xfrm>
          <a:prstGeom prst="rect">
            <a:avLst/>
          </a:prstGeom>
          <a:noFill/>
          <a:ln/>
        </p:spPr>
        <p:txBody>
          <a:bodyPr wrap="square" lIns="0" tIns="0" rIns="0" bIns="0" rtlCol="0" anchor="t">
            <a:normAutofit/>
          </a:bodyPr>
          <a:lstStyle/>
          <a:p>
            <a:pPr marL="0" indent="0" algn="l">
              <a:lnSpc>
                <a:spcPts val="3738"/>
              </a:lnSpc>
              <a:buNone/>
            </a:pPr>
            <a:r>
              <a:rPr lang="en-US" sz="3250" dirty="0">
                <a:solidFill>
                  <a:srgbClr val="1D2B2A"/>
                </a:solidFill>
                <a:latin typeface="Fraunces" pitchFamily="34" charset="0"/>
                <a:ea typeface="Fraunces" pitchFamily="34" charset="-122"/>
                <a:cs typeface="Fraunces" pitchFamily="34" charset="-120"/>
              </a:rPr>
              <a:t>Knowing what helps is easy. Doing it on a bad day is not.</a:t>
            </a:r>
            <a:endParaRPr lang="en-US" sz="3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851"/>
          </a:xfrm>
          <a:prstGeom prst="rect">
            <a:avLst/>
          </a:prstGeom>
          <a:noFill/>
          <a:ln/>
        </p:spPr>
        <p:txBody>
          <a:bodyPr wrap="square" lIns="0" tIns="0" rIns="0" bIns="0" rtlCol="0" anchor="t">
            <a:normAutofit/>
          </a:bodyPr>
          <a:lstStyle/>
          <a:p>
            <a:pPr marL="0" indent="0" algn="l">
              <a:lnSpc>
                <a:spcPts val="1672"/>
              </a:lnSpc>
              <a:buNone/>
            </a:pPr>
            <a:r>
              <a:rPr lang="en-US" sz="1194" b="1" kern="0" spc="200" dirty="0">
                <a:solidFill>
                  <a:srgbClr val="3F6B5A"/>
                </a:solidFill>
                <a:latin typeface="Inter" pitchFamily="34" charset="0"/>
                <a:ea typeface="Inter" pitchFamily="34" charset="-122"/>
                <a:cs typeface="Inter" pitchFamily="34" charset="-120"/>
              </a:rPr>
              <a:t>WHO IT IS FOR</a:t>
            </a:r>
            <a:endParaRPr lang="en-US" sz="1194" dirty="0"/>
          </a:p>
        </p:txBody>
      </p:sp>
      <p:sp>
        <p:nvSpPr>
          <p:cNvPr id="3" name="Text 1"/>
          <p:cNvSpPr/>
          <p:nvPr/>
        </p:nvSpPr>
        <p:spPr>
          <a:xfrm>
            <a:off x="812800" y="1161951"/>
            <a:ext cx="9810750" cy="872679"/>
          </a:xfrm>
          <a:prstGeom prst="rect">
            <a:avLst/>
          </a:prstGeom>
          <a:noFill/>
          <a:ln/>
        </p:spPr>
        <p:txBody>
          <a:bodyPr wrap="square" lIns="0" tIns="0" rIns="0" bIns="0" rtlCol="0" anchor="t">
            <a:normAutofit/>
          </a:bodyPr>
          <a:lstStyle/>
          <a:p>
            <a:pPr marL="0" indent="0" algn="l">
              <a:lnSpc>
                <a:spcPts val="3335"/>
              </a:lnSpc>
              <a:buNone/>
            </a:pPr>
            <a:r>
              <a:rPr lang="en-US" sz="2900" dirty="0">
                <a:solidFill>
                  <a:srgbClr val="1D2B2A"/>
                </a:solidFill>
                <a:latin typeface="Fraunces" pitchFamily="34" charset="0"/>
                <a:ea typeface="Fraunces" pitchFamily="34" charset="-122"/>
                <a:cs typeface="Fraunces" pitchFamily="34" charset="-120"/>
              </a:rPr>
              <a:t>Students in Dutch higher education, and this is not a small group</a:t>
            </a:r>
            <a:endParaRPr lang="en-US" sz="2900" dirty="0"/>
          </a:p>
        </p:txBody>
      </p:sp>
      <p:sp>
        <p:nvSpPr>
          <p:cNvPr id="4" name="Shape 2"/>
          <p:cNvSpPr/>
          <p:nvPr/>
        </p:nvSpPr>
        <p:spPr>
          <a:xfrm>
            <a:off x="812800" y="2072731"/>
            <a:ext cx="3420517" cy="2085428"/>
          </a:xfrm>
          <a:prstGeom prst="roundRect">
            <a:avLst>
              <a:gd name="adj" fmla="val 7372"/>
            </a:avLst>
          </a:prstGeom>
          <a:solidFill>
            <a:srgbClr val="1D2B2A"/>
          </a:solidFill>
          <a:ln/>
        </p:spPr>
        <p:txBody>
          <a:bodyPr/>
          <a:lstStyle/>
          <a:p>
            <a:endParaRPr lang="en-US"/>
          </a:p>
        </p:txBody>
      </p:sp>
      <p:sp>
        <p:nvSpPr>
          <p:cNvPr id="5" name="Text 3"/>
          <p:cNvSpPr/>
          <p:nvPr/>
        </p:nvSpPr>
        <p:spPr>
          <a:xfrm>
            <a:off x="1066800" y="2525485"/>
            <a:ext cx="2999892" cy="596531"/>
          </a:xfrm>
          <a:prstGeom prst="rect">
            <a:avLst/>
          </a:prstGeom>
          <a:noFill/>
          <a:ln/>
        </p:spPr>
        <p:txBody>
          <a:bodyPr wrap="square" lIns="0" tIns="0" rIns="0" bIns="0" rtlCol="0" anchor="t">
            <a:normAutofit/>
          </a:bodyPr>
          <a:lstStyle/>
          <a:p>
            <a:pPr marL="0" indent="0" algn="l">
              <a:lnSpc>
                <a:spcPts val="4566"/>
              </a:lnSpc>
              <a:buNone/>
            </a:pPr>
            <a:r>
              <a:rPr lang="en-US" sz="4566" b="1" dirty="0">
                <a:solidFill>
                  <a:srgbClr val="FFFFFF"/>
                </a:solidFill>
                <a:latin typeface="Inter" pitchFamily="34" charset="0"/>
                <a:ea typeface="Inter" pitchFamily="34" charset="-122"/>
                <a:cs typeface="Inter" pitchFamily="34" charset="-120"/>
              </a:rPr>
              <a:t>44%</a:t>
            </a:r>
            <a:endParaRPr lang="en-US" sz="4566" dirty="0"/>
          </a:p>
        </p:txBody>
      </p:sp>
      <p:sp>
        <p:nvSpPr>
          <p:cNvPr id="6" name="Text 4"/>
          <p:cNvSpPr/>
          <p:nvPr/>
        </p:nvSpPr>
        <p:spPr>
          <a:xfrm>
            <a:off x="1066800" y="3172817"/>
            <a:ext cx="2999892" cy="493365"/>
          </a:xfrm>
          <a:prstGeom prst="rect">
            <a:avLst/>
          </a:prstGeom>
          <a:noFill/>
          <a:ln/>
        </p:spPr>
        <p:txBody>
          <a:bodyPr wrap="square" lIns="0" tIns="0" rIns="0" bIns="0" rtlCol="0" anchor="t">
            <a:normAutofit/>
          </a:bodyPr>
          <a:lstStyle/>
          <a:p>
            <a:pPr marL="0" indent="0" algn="l">
              <a:lnSpc>
                <a:spcPts val="1857"/>
              </a:lnSpc>
              <a:buNone/>
            </a:pPr>
            <a:r>
              <a:rPr lang="en-US" sz="1327" dirty="0">
                <a:solidFill>
                  <a:srgbClr val="FFFFFF"/>
                </a:solidFill>
                <a:latin typeface="Inter" pitchFamily="34" charset="0"/>
                <a:ea typeface="Inter" pitchFamily="34" charset="-122"/>
                <a:cs typeface="Inter" pitchFamily="34" charset="-120"/>
              </a:rPr>
              <a:t>report anxiety or depression symptoms</a:t>
            </a:r>
            <a:endParaRPr lang="en-US" sz="1327" dirty="0"/>
          </a:p>
        </p:txBody>
      </p:sp>
      <p:sp>
        <p:nvSpPr>
          <p:cNvPr id="7" name="Text 5"/>
          <p:cNvSpPr/>
          <p:nvPr/>
        </p:nvSpPr>
        <p:spPr>
          <a:xfrm>
            <a:off x="1066800" y="3716982"/>
            <a:ext cx="2999892" cy="212576"/>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B7C4BF"/>
                </a:solidFill>
                <a:latin typeface="Inter" pitchFamily="34" charset="0"/>
                <a:ea typeface="Inter" pitchFamily="34" charset="-122"/>
                <a:cs typeface="Inter" pitchFamily="34" charset="-120"/>
              </a:rPr>
              <a:t>RIVM / Trimbos, 2023</a:t>
            </a:r>
            <a:endParaRPr lang="en-US" sz="1050" dirty="0"/>
          </a:p>
        </p:txBody>
      </p:sp>
      <p:sp>
        <p:nvSpPr>
          <p:cNvPr id="8" name="Shape 6"/>
          <p:cNvSpPr/>
          <p:nvPr/>
        </p:nvSpPr>
        <p:spPr>
          <a:xfrm>
            <a:off x="4385717" y="2072731"/>
            <a:ext cx="3420566" cy="2085428"/>
          </a:xfrm>
          <a:prstGeom prst="roundRect">
            <a:avLst>
              <a:gd name="adj" fmla="val 7372"/>
            </a:avLst>
          </a:prstGeom>
          <a:solidFill>
            <a:srgbClr val="1D2B2A"/>
          </a:solidFill>
          <a:ln/>
        </p:spPr>
        <p:txBody>
          <a:bodyPr/>
          <a:lstStyle/>
          <a:p>
            <a:endParaRPr lang="en-US"/>
          </a:p>
        </p:txBody>
      </p:sp>
      <p:sp>
        <p:nvSpPr>
          <p:cNvPr id="9" name="Text 7"/>
          <p:cNvSpPr/>
          <p:nvPr/>
        </p:nvSpPr>
        <p:spPr>
          <a:xfrm>
            <a:off x="4639717" y="2525485"/>
            <a:ext cx="2999943" cy="596531"/>
          </a:xfrm>
          <a:prstGeom prst="rect">
            <a:avLst/>
          </a:prstGeom>
          <a:noFill/>
          <a:ln/>
        </p:spPr>
        <p:txBody>
          <a:bodyPr wrap="square" lIns="0" tIns="0" rIns="0" bIns="0" rtlCol="0" anchor="t">
            <a:normAutofit/>
          </a:bodyPr>
          <a:lstStyle/>
          <a:p>
            <a:pPr marL="0" indent="0" algn="l">
              <a:lnSpc>
                <a:spcPts val="4566"/>
              </a:lnSpc>
              <a:buNone/>
            </a:pPr>
            <a:r>
              <a:rPr lang="en-US" sz="4566" b="1" dirty="0">
                <a:solidFill>
                  <a:srgbClr val="FFFFFF"/>
                </a:solidFill>
                <a:latin typeface="Inter" pitchFamily="34" charset="0"/>
                <a:ea typeface="Inter" pitchFamily="34" charset="-122"/>
                <a:cs typeface="Inter" pitchFamily="34" charset="-120"/>
              </a:rPr>
              <a:t>12%</a:t>
            </a:r>
            <a:endParaRPr lang="en-US" sz="4566" dirty="0"/>
          </a:p>
        </p:txBody>
      </p:sp>
      <p:sp>
        <p:nvSpPr>
          <p:cNvPr id="10" name="Text 8"/>
          <p:cNvSpPr/>
          <p:nvPr/>
        </p:nvSpPr>
        <p:spPr>
          <a:xfrm>
            <a:off x="4639717" y="3172817"/>
            <a:ext cx="2999943" cy="493365"/>
          </a:xfrm>
          <a:prstGeom prst="rect">
            <a:avLst/>
          </a:prstGeom>
          <a:noFill/>
          <a:ln/>
        </p:spPr>
        <p:txBody>
          <a:bodyPr wrap="square" lIns="0" tIns="0" rIns="0" bIns="0" rtlCol="0" anchor="t">
            <a:normAutofit/>
          </a:bodyPr>
          <a:lstStyle/>
          <a:p>
            <a:pPr marL="0" indent="0" algn="l">
              <a:lnSpc>
                <a:spcPts val="1857"/>
              </a:lnSpc>
              <a:buNone/>
            </a:pPr>
            <a:r>
              <a:rPr lang="en-US" sz="1327" dirty="0">
                <a:solidFill>
                  <a:srgbClr val="FFFFFF"/>
                </a:solidFill>
                <a:latin typeface="Inter" pitchFamily="34" charset="0"/>
                <a:ea typeface="Inter" pitchFamily="34" charset="-122"/>
                <a:cs typeface="Inter" pitchFamily="34" charset="-120"/>
              </a:rPr>
              <a:t>have severe psychological complaints</a:t>
            </a:r>
            <a:endParaRPr lang="en-US" sz="1327" dirty="0"/>
          </a:p>
        </p:txBody>
      </p:sp>
      <p:sp>
        <p:nvSpPr>
          <p:cNvPr id="11" name="Text 9"/>
          <p:cNvSpPr/>
          <p:nvPr/>
        </p:nvSpPr>
        <p:spPr>
          <a:xfrm>
            <a:off x="4639717" y="3716982"/>
            <a:ext cx="2999943" cy="212576"/>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B7C4BF"/>
                </a:solidFill>
                <a:latin typeface="Inter" pitchFamily="34" charset="0"/>
                <a:ea typeface="Inter" pitchFamily="34" charset="-122"/>
                <a:cs typeface="Inter" pitchFamily="34" charset="-120"/>
              </a:rPr>
              <a:t>RIVM / Trimbos, 2021</a:t>
            </a:r>
            <a:endParaRPr lang="en-US" sz="1050" dirty="0"/>
          </a:p>
        </p:txBody>
      </p:sp>
      <p:sp>
        <p:nvSpPr>
          <p:cNvPr id="12" name="Shape 10"/>
          <p:cNvSpPr/>
          <p:nvPr/>
        </p:nvSpPr>
        <p:spPr>
          <a:xfrm>
            <a:off x="7958683" y="2101203"/>
            <a:ext cx="3420517" cy="2056956"/>
          </a:xfrm>
          <a:prstGeom prst="roundRect">
            <a:avLst>
              <a:gd name="adj" fmla="val 7372"/>
            </a:avLst>
          </a:prstGeom>
          <a:solidFill>
            <a:srgbClr val="1D2B2A"/>
          </a:solidFill>
          <a:ln/>
        </p:spPr>
        <p:txBody>
          <a:bodyPr/>
          <a:lstStyle/>
          <a:p>
            <a:endParaRPr lang="en-US"/>
          </a:p>
        </p:txBody>
      </p:sp>
      <p:sp>
        <p:nvSpPr>
          <p:cNvPr id="13" name="Text 11"/>
          <p:cNvSpPr/>
          <p:nvPr/>
        </p:nvSpPr>
        <p:spPr>
          <a:xfrm>
            <a:off x="8212683" y="2525485"/>
            <a:ext cx="2999892" cy="596531"/>
          </a:xfrm>
          <a:prstGeom prst="rect">
            <a:avLst/>
          </a:prstGeom>
          <a:noFill/>
          <a:ln/>
        </p:spPr>
        <p:txBody>
          <a:bodyPr wrap="square" lIns="0" tIns="0" rIns="0" bIns="0" rtlCol="0" anchor="t">
            <a:normAutofit/>
          </a:bodyPr>
          <a:lstStyle/>
          <a:p>
            <a:pPr marL="0" indent="0" algn="l">
              <a:lnSpc>
                <a:spcPts val="4566"/>
              </a:lnSpc>
              <a:buNone/>
            </a:pPr>
            <a:r>
              <a:rPr lang="en-US" sz="4566" b="1" dirty="0">
                <a:solidFill>
                  <a:srgbClr val="E9A95F"/>
                </a:solidFill>
                <a:latin typeface="Inter" pitchFamily="34" charset="0"/>
                <a:ea typeface="Inter" pitchFamily="34" charset="-122"/>
                <a:cs typeface="Inter" pitchFamily="34" charset="-120"/>
              </a:rPr>
              <a:t>1 in 3</a:t>
            </a:r>
            <a:endParaRPr lang="en-US" sz="4566" dirty="0"/>
          </a:p>
        </p:txBody>
      </p:sp>
      <p:sp>
        <p:nvSpPr>
          <p:cNvPr id="14" name="Text 12"/>
          <p:cNvSpPr/>
          <p:nvPr/>
        </p:nvSpPr>
        <p:spPr>
          <a:xfrm>
            <a:off x="8212683" y="3172817"/>
            <a:ext cx="2999892" cy="493365"/>
          </a:xfrm>
          <a:prstGeom prst="rect">
            <a:avLst/>
          </a:prstGeom>
          <a:noFill/>
          <a:ln/>
        </p:spPr>
        <p:txBody>
          <a:bodyPr wrap="square" lIns="0" tIns="0" rIns="0" bIns="0" rtlCol="0" anchor="t">
            <a:normAutofit/>
          </a:bodyPr>
          <a:lstStyle/>
          <a:p>
            <a:pPr marL="0" indent="0" algn="l">
              <a:lnSpc>
                <a:spcPts val="1857"/>
              </a:lnSpc>
              <a:buNone/>
            </a:pPr>
            <a:r>
              <a:rPr lang="en-US" sz="1327" dirty="0">
                <a:solidFill>
                  <a:srgbClr val="FFFFFF"/>
                </a:solidFill>
                <a:latin typeface="Inter" pitchFamily="34" charset="0"/>
                <a:ea typeface="Inter" pitchFamily="34" charset="-122"/>
                <a:cs typeface="Inter" pitchFamily="34" charset="-120"/>
              </a:rPr>
              <a:t>with complaints get no advice or help</a:t>
            </a:r>
            <a:endParaRPr lang="en-US" sz="1327" dirty="0"/>
          </a:p>
        </p:txBody>
      </p:sp>
      <p:sp>
        <p:nvSpPr>
          <p:cNvPr id="15" name="Text 13"/>
          <p:cNvSpPr/>
          <p:nvPr/>
        </p:nvSpPr>
        <p:spPr>
          <a:xfrm>
            <a:off x="8212683" y="3716982"/>
            <a:ext cx="2999892" cy="212576"/>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B7C4BF"/>
                </a:solidFill>
                <a:latin typeface="Inter" pitchFamily="34" charset="0"/>
                <a:ea typeface="Inter" pitchFamily="34" charset="-122"/>
                <a:cs typeface="Inter" pitchFamily="34" charset="-120"/>
              </a:rPr>
              <a:t>RIVM / Trimbos, 2025</a:t>
            </a:r>
            <a:endParaRPr lang="en-US" sz="1050" dirty="0"/>
          </a:p>
        </p:txBody>
      </p:sp>
      <p:sp>
        <p:nvSpPr>
          <p:cNvPr id="16" name="Shape 14"/>
          <p:cNvSpPr/>
          <p:nvPr/>
        </p:nvSpPr>
        <p:spPr>
          <a:xfrm>
            <a:off x="736601" y="4412159"/>
            <a:ext cx="5207000" cy="1429841"/>
          </a:xfrm>
          <a:prstGeom prst="roundRect">
            <a:avLst>
              <a:gd name="adj" fmla="val 9770"/>
            </a:avLst>
          </a:prstGeom>
          <a:solidFill>
            <a:srgbClr val="FBF9F4"/>
          </a:solidFill>
          <a:ln/>
        </p:spPr>
        <p:txBody>
          <a:bodyPr/>
          <a:lstStyle/>
          <a:p>
            <a:endParaRPr lang="en-US"/>
          </a:p>
        </p:txBody>
      </p:sp>
      <p:sp>
        <p:nvSpPr>
          <p:cNvPr id="17" name="Shape 15"/>
          <p:cNvSpPr/>
          <p:nvPr/>
        </p:nvSpPr>
        <p:spPr>
          <a:xfrm>
            <a:off x="831850" y="4412159"/>
            <a:ext cx="0" cy="1429841"/>
          </a:xfrm>
          <a:prstGeom prst="line">
            <a:avLst/>
          </a:prstGeom>
          <a:noFill/>
          <a:ln w="38100">
            <a:solidFill>
              <a:srgbClr val="4F7D6A"/>
            </a:solidFill>
            <a:prstDash val="solid"/>
          </a:ln>
        </p:spPr>
        <p:txBody>
          <a:bodyPr/>
          <a:lstStyle/>
          <a:p>
            <a:endParaRPr lang="en-US"/>
          </a:p>
        </p:txBody>
      </p:sp>
      <p:sp>
        <p:nvSpPr>
          <p:cNvPr id="18" name="Text 16"/>
          <p:cNvSpPr/>
          <p:nvPr/>
        </p:nvSpPr>
        <p:spPr>
          <a:xfrm>
            <a:off x="1079500" y="4628059"/>
            <a:ext cx="4853051" cy="232668"/>
          </a:xfrm>
          <a:prstGeom prst="rect">
            <a:avLst/>
          </a:prstGeom>
          <a:noFill/>
          <a:ln/>
        </p:spPr>
        <p:txBody>
          <a:bodyPr wrap="square" lIns="0" tIns="0" rIns="0" bIns="0" rtlCol="0" anchor="t">
            <a:normAutofit fontScale="85000" lnSpcReduction="10000"/>
          </a:bodyPr>
          <a:lstStyle/>
          <a:p>
            <a:pPr marL="0" indent="0" algn="l">
              <a:lnSpc>
                <a:spcPts val="1674"/>
              </a:lnSpc>
              <a:buNone/>
            </a:pPr>
            <a:r>
              <a:rPr lang="en-US" sz="2400" b="1" dirty="0">
                <a:solidFill>
                  <a:srgbClr val="1D2B2A"/>
                </a:solidFill>
                <a:latin typeface="Inter" pitchFamily="34" charset="0"/>
                <a:ea typeface="Inter" pitchFamily="34" charset="-122"/>
                <a:cs typeface="Inter" pitchFamily="34" charset="-120"/>
              </a:rPr>
              <a:t>Built for</a:t>
            </a:r>
            <a:endParaRPr lang="en-US" sz="2400" dirty="0"/>
          </a:p>
        </p:txBody>
      </p:sp>
      <p:sp>
        <p:nvSpPr>
          <p:cNvPr id="19" name="Text 17"/>
          <p:cNvSpPr/>
          <p:nvPr/>
        </p:nvSpPr>
        <p:spPr>
          <a:xfrm>
            <a:off x="1079500" y="4898827"/>
            <a:ext cx="4853051" cy="752673"/>
          </a:xfrm>
          <a:prstGeom prst="rect">
            <a:avLst/>
          </a:prstGeom>
          <a:noFill/>
          <a:ln/>
        </p:spPr>
        <p:txBody>
          <a:bodyPr wrap="square" lIns="0" tIns="0" rIns="0" bIns="0" rtlCol="0" anchor="t">
            <a:normAutofit/>
          </a:bodyPr>
          <a:lstStyle/>
          <a:p>
            <a:pPr marL="0" indent="0" algn="l">
              <a:lnSpc>
                <a:spcPts val="1924"/>
              </a:lnSpc>
              <a:buNone/>
            </a:pPr>
            <a:r>
              <a:rPr lang="en-US" sz="1327" dirty="0">
                <a:solidFill>
                  <a:srgbClr val="39443F"/>
                </a:solidFill>
                <a:latin typeface="Inter" pitchFamily="34" charset="0"/>
                <a:ea typeface="Inter" pitchFamily="34" charset="-122"/>
                <a:cs typeface="Inter" pitchFamily="34" charset="-120"/>
              </a:rPr>
              <a:t>Students and young workers with anxiety, stress, low mood, poor sleep or loneliness, whose structure slips first when a week gets heavy.</a:t>
            </a:r>
            <a:endParaRPr lang="en-US" sz="1327" dirty="0"/>
          </a:p>
        </p:txBody>
      </p:sp>
      <p:sp>
        <p:nvSpPr>
          <p:cNvPr id="20" name="Shape 18"/>
          <p:cNvSpPr/>
          <p:nvPr/>
        </p:nvSpPr>
        <p:spPr>
          <a:xfrm>
            <a:off x="6172200" y="4412159"/>
            <a:ext cx="5207000" cy="1429841"/>
          </a:xfrm>
          <a:prstGeom prst="roundRect">
            <a:avLst>
              <a:gd name="adj" fmla="val 9770"/>
            </a:avLst>
          </a:prstGeom>
          <a:solidFill>
            <a:srgbClr val="FBF9F4"/>
          </a:solidFill>
          <a:ln/>
        </p:spPr>
        <p:txBody>
          <a:bodyPr/>
          <a:lstStyle/>
          <a:p>
            <a:endParaRPr lang="en-US"/>
          </a:p>
        </p:txBody>
      </p:sp>
      <p:sp>
        <p:nvSpPr>
          <p:cNvPr id="21" name="Shape 19"/>
          <p:cNvSpPr/>
          <p:nvPr/>
        </p:nvSpPr>
        <p:spPr>
          <a:xfrm>
            <a:off x="6191250" y="4412159"/>
            <a:ext cx="0" cy="1429841"/>
          </a:xfrm>
          <a:prstGeom prst="line">
            <a:avLst/>
          </a:prstGeom>
          <a:noFill/>
          <a:ln w="38100">
            <a:solidFill>
              <a:srgbClr val="C07A2E"/>
            </a:solidFill>
            <a:prstDash val="solid"/>
          </a:ln>
        </p:spPr>
        <p:txBody>
          <a:bodyPr/>
          <a:lstStyle/>
          <a:p>
            <a:endParaRPr lang="en-US"/>
          </a:p>
        </p:txBody>
      </p:sp>
      <p:sp>
        <p:nvSpPr>
          <p:cNvPr id="22" name="Text 20"/>
          <p:cNvSpPr/>
          <p:nvPr/>
        </p:nvSpPr>
        <p:spPr>
          <a:xfrm>
            <a:off x="6438900" y="4628059"/>
            <a:ext cx="4853051" cy="232668"/>
          </a:xfrm>
          <a:prstGeom prst="rect">
            <a:avLst/>
          </a:prstGeom>
          <a:noFill/>
          <a:ln/>
        </p:spPr>
        <p:txBody>
          <a:bodyPr wrap="square" lIns="0" tIns="0" rIns="0" bIns="0" rtlCol="0" anchor="t">
            <a:normAutofit/>
          </a:bodyPr>
          <a:lstStyle/>
          <a:p>
            <a:pPr marL="0" indent="0" algn="l">
              <a:lnSpc>
                <a:spcPts val="1674"/>
              </a:lnSpc>
              <a:buNone/>
            </a:pPr>
            <a:r>
              <a:rPr lang="en-US" sz="2000" b="1" dirty="0">
                <a:solidFill>
                  <a:srgbClr val="1D2B2A"/>
                </a:solidFill>
                <a:latin typeface="Inter" pitchFamily="34" charset="0"/>
                <a:ea typeface="Inter" pitchFamily="34" charset="-122"/>
                <a:cs typeface="Inter" pitchFamily="34" charset="-120"/>
              </a:rPr>
              <a:t>Not built for</a:t>
            </a:r>
            <a:endParaRPr lang="en-US" sz="2000" dirty="0"/>
          </a:p>
        </p:txBody>
      </p:sp>
      <p:sp>
        <p:nvSpPr>
          <p:cNvPr id="23" name="Text 21"/>
          <p:cNvSpPr/>
          <p:nvPr/>
        </p:nvSpPr>
        <p:spPr>
          <a:xfrm>
            <a:off x="6438900" y="4898827"/>
            <a:ext cx="4853051" cy="752673"/>
          </a:xfrm>
          <a:prstGeom prst="rect">
            <a:avLst/>
          </a:prstGeom>
          <a:noFill/>
          <a:ln/>
        </p:spPr>
        <p:txBody>
          <a:bodyPr wrap="square" lIns="0" tIns="0" rIns="0" bIns="0" rtlCol="0" anchor="t">
            <a:normAutofit/>
          </a:bodyPr>
          <a:lstStyle/>
          <a:p>
            <a:pPr marL="0" indent="0" algn="l">
              <a:lnSpc>
                <a:spcPts val="1924"/>
              </a:lnSpc>
              <a:buNone/>
            </a:pPr>
            <a:r>
              <a:rPr lang="en-US" sz="1327" dirty="0">
                <a:solidFill>
                  <a:srgbClr val="39443F"/>
                </a:solidFill>
                <a:latin typeface="Inter" pitchFamily="34" charset="0"/>
                <a:ea typeface="Inter" pitchFamily="34" charset="-122"/>
                <a:cs typeface="Inter" pitchFamily="34" charset="-120"/>
              </a:rPr>
              <a:t>People in crisis or under clinical treatment, children, and anyone who needs therapy rather than structure. The support routes are Dutch.</a:t>
            </a:r>
            <a:endParaRPr lang="en-US" sz="1327" dirty="0"/>
          </a:p>
        </p:txBody>
      </p:sp>
      <p:sp>
        <p:nvSpPr>
          <p:cNvPr id="24" name="Text 22"/>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Monitor Mentale gezondheid en Middelengebruik Studenten hbo en wo · rivm.nl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F7D6A"/>
        </a:solidFill>
        <a:effectLst/>
      </p:bgPr>
    </p:bg>
    <p:spTree>
      <p:nvGrpSpPr>
        <p:cNvPr id="1" name=""/>
        <p:cNvGrpSpPr/>
        <p:nvPr/>
      </p:nvGrpSpPr>
      <p:grpSpPr>
        <a:xfrm>
          <a:off x="0" y="0"/>
          <a:ext cx="0" cy="0"/>
          <a:chOff x="0" y="0"/>
          <a:chExt cx="0" cy="0"/>
        </a:xfrm>
      </p:grpSpPr>
      <p:sp>
        <p:nvSpPr>
          <p:cNvPr id="2" name="Text 0"/>
          <p:cNvSpPr/>
          <p:nvPr/>
        </p:nvSpPr>
        <p:spPr>
          <a:xfrm>
            <a:off x="812800" y="2248595"/>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6DCC0"/>
                </a:solidFill>
                <a:latin typeface="Inter" pitchFamily="34" charset="0"/>
                <a:ea typeface="Inter" pitchFamily="34" charset="-122"/>
                <a:cs typeface="Inter" pitchFamily="34" charset="-120"/>
              </a:rPr>
              <a:t>WHY SDG 3</a:t>
            </a:r>
            <a:endParaRPr lang="en-US" sz="1300" dirty="0"/>
          </a:p>
        </p:txBody>
      </p:sp>
      <p:sp>
        <p:nvSpPr>
          <p:cNvPr id="3" name="Text 1"/>
          <p:cNvSpPr/>
          <p:nvPr/>
        </p:nvSpPr>
        <p:spPr>
          <a:xfrm>
            <a:off x="812800" y="2670225"/>
            <a:ext cx="10883392" cy="52194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F3EFE6"/>
                </a:solidFill>
                <a:latin typeface="Fraunces" pitchFamily="34" charset="0"/>
                <a:ea typeface="Fraunces" pitchFamily="34" charset="-122"/>
                <a:cs typeface="Fraunces" pitchFamily="34" charset="-120"/>
              </a:rPr>
              <a:t>Good Health and Well-being includes the mind</a:t>
            </a:r>
            <a:endParaRPr lang="en-US" sz="3400" dirty="0"/>
          </a:p>
        </p:txBody>
      </p:sp>
      <p:sp>
        <p:nvSpPr>
          <p:cNvPr id="4" name="Text 2"/>
          <p:cNvSpPr/>
          <p:nvPr/>
        </p:nvSpPr>
        <p:spPr>
          <a:xfrm>
            <a:off x="812800" y="3357265"/>
            <a:ext cx="5755640" cy="1277541"/>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3EFE6"/>
                </a:solidFill>
                <a:latin typeface="Inter" pitchFamily="34" charset="0"/>
                <a:ea typeface="Inter" pitchFamily="34" charset="-122"/>
                <a:cs typeface="Inter" pitchFamily="34" charset="-120"/>
              </a:rPr>
              <a:t>Target 3.4 calls for promoting mental health and well-being. Hio works on the prevention side: small daily habits, structure, reflection, and one clear route to real help when it stops being a small thing.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WHAT HIO DOES</a:t>
            </a:r>
            <a:endParaRPr lang="en-US" sz="1300" dirty="0"/>
          </a:p>
        </p:txBody>
      </p:sp>
      <p:sp>
        <p:nvSpPr>
          <p:cNvPr id="3" name="Text 1"/>
          <p:cNvSpPr/>
          <p:nvPr/>
        </p:nvSpPr>
        <p:spPr>
          <a:xfrm>
            <a:off x="812800" y="1196330"/>
            <a:ext cx="10883392" cy="52194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1D2B2A"/>
                </a:solidFill>
                <a:latin typeface="Fraunces" pitchFamily="34" charset="0"/>
                <a:ea typeface="Fraunces" pitchFamily="34" charset="-122"/>
                <a:cs typeface="Fraunces" pitchFamily="34" charset="-120"/>
              </a:rPr>
              <a:t>Five things, all inside one chat</a:t>
            </a:r>
            <a:endParaRPr lang="en-US" sz="3400" dirty="0"/>
          </a:p>
        </p:txBody>
      </p:sp>
      <p:sp>
        <p:nvSpPr>
          <p:cNvPr id="4" name="Shape 2"/>
          <p:cNvSpPr/>
          <p:nvPr/>
        </p:nvSpPr>
        <p:spPr>
          <a:xfrm>
            <a:off x="812800" y="2338090"/>
            <a:ext cx="3420517" cy="1675755"/>
          </a:xfrm>
          <a:prstGeom prst="roundRect">
            <a:avLst>
              <a:gd name="adj" fmla="val 7579"/>
            </a:avLst>
          </a:prstGeom>
          <a:solidFill>
            <a:srgbClr val="FBF9F4"/>
          </a:solidFill>
          <a:ln/>
        </p:spPr>
        <p:txBody>
          <a:bodyPr/>
          <a:lstStyle/>
          <a:p>
            <a:endParaRPr lang="en-US"/>
          </a:p>
        </p:txBody>
      </p:sp>
      <p:sp>
        <p:nvSpPr>
          <p:cNvPr id="5" name="Shape 3"/>
          <p:cNvSpPr/>
          <p:nvPr/>
        </p:nvSpPr>
        <p:spPr>
          <a:xfrm>
            <a:off x="812800" y="2353965"/>
            <a:ext cx="3420517" cy="0"/>
          </a:xfrm>
          <a:prstGeom prst="line">
            <a:avLst/>
          </a:prstGeom>
          <a:noFill/>
          <a:ln w="31750">
            <a:solidFill>
              <a:srgbClr val="4F7D6A"/>
            </a:solidFill>
            <a:prstDash val="solid"/>
          </a:ln>
        </p:spPr>
        <p:txBody>
          <a:bodyPr/>
          <a:lstStyle/>
          <a:p>
            <a:endParaRPr lang="en-US"/>
          </a:p>
        </p:txBody>
      </p:sp>
      <p:sp>
        <p:nvSpPr>
          <p:cNvPr id="6" name="Text 4"/>
          <p:cNvSpPr/>
          <p:nvPr/>
        </p:nvSpPr>
        <p:spPr>
          <a:xfrm>
            <a:off x="1054100" y="2611140"/>
            <a:ext cx="302605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2A"/>
                </a:solidFill>
                <a:latin typeface="Inter" pitchFamily="34" charset="0"/>
                <a:ea typeface="Inter" pitchFamily="34" charset="-122"/>
                <a:cs typeface="Inter" pitchFamily="34" charset="-120"/>
              </a:rPr>
              <a:t>Talks</a:t>
            </a:r>
            <a:endParaRPr lang="en-US" sz="1600" dirty="0"/>
          </a:p>
        </p:txBody>
      </p:sp>
      <p:sp>
        <p:nvSpPr>
          <p:cNvPr id="7" name="Text 5"/>
          <p:cNvSpPr/>
          <p:nvPr/>
        </p:nvSpPr>
        <p:spPr>
          <a:xfrm>
            <a:off x="1054100" y="2943870"/>
            <a:ext cx="302605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Remembers, replies in their language, sounds like a friend and not an assistant.</a:t>
            </a:r>
            <a:endParaRPr lang="en-US" sz="1500" dirty="0"/>
          </a:p>
        </p:txBody>
      </p:sp>
      <p:sp>
        <p:nvSpPr>
          <p:cNvPr id="8" name="Shape 6"/>
          <p:cNvSpPr/>
          <p:nvPr/>
        </p:nvSpPr>
        <p:spPr>
          <a:xfrm>
            <a:off x="4385717" y="2338090"/>
            <a:ext cx="3420517" cy="1675755"/>
          </a:xfrm>
          <a:prstGeom prst="roundRect">
            <a:avLst>
              <a:gd name="adj" fmla="val 7579"/>
            </a:avLst>
          </a:prstGeom>
          <a:solidFill>
            <a:srgbClr val="FBF9F4"/>
          </a:solidFill>
          <a:ln/>
        </p:spPr>
        <p:txBody>
          <a:bodyPr/>
          <a:lstStyle/>
          <a:p>
            <a:endParaRPr lang="en-US"/>
          </a:p>
        </p:txBody>
      </p:sp>
      <p:sp>
        <p:nvSpPr>
          <p:cNvPr id="9" name="Shape 7"/>
          <p:cNvSpPr/>
          <p:nvPr/>
        </p:nvSpPr>
        <p:spPr>
          <a:xfrm>
            <a:off x="4385717" y="2353965"/>
            <a:ext cx="3420517" cy="0"/>
          </a:xfrm>
          <a:prstGeom prst="line">
            <a:avLst/>
          </a:prstGeom>
          <a:noFill/>
          <a:ln w="31750">
            <a:solidFill>
              <a:srgbClr val="4F7D6A"/>
            </a:solidFill>
            <a:prstDash val="solid"/>
          </a:ln>
        </p:spPr>
        <p:txBody>
          <a:bodyPr/>
          <a:lstStyle/>
          <a:p>
            <a:endParaRPr lang="en-US"/>
          </a:p>
        </p:txBody>
      </p:sp>
      <p:sp>
        <p:nvSpPr>
          <p:cNvPr id="10" name="Text 8"/>
          <p:cNvSpPr/>
          <p:nvPr/>
        </p:nvSpPr>
        <p:spPr>
          <a:xfrm>
            <a:off x="4627017" y="2611140"/>
            <a:ext cx="302605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2A"/>
                </a:solidFill>
                <a:latin typeface="Inter" pitchFamily="34" charset="0"/>
                <a:ea typeface="Inter" pitchFamily="34" charset="-122"/>
                <a:cs typeface="Inter" pitchFamily="34" charset="-120"/>
              </a:rPr>
              <a:t>Plans</a:t>
            </a:r>
            <a:endParaRPr lang="en-US" sz="1600" dirty="0"/>
          </a:p>
        </p:txBody>
      </p:sp>
      <p:sp>
        <p:nvSpPr>
          <p:cNvPr id="11" name="Text 9"/>
          <p:cNvSpPr/>
          <p:nvPr/>
        </p:nvSpPr>
        <p:spPr>
          <a:xfrm>
            <a:off x="4627017" y="2943870"/>
            <a:ext cx="302605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Reads the calendar, adds study blocks, breaks and deadlines, keeps tasks in two lists.</a:t>
            </a:r>
            <a:endParaRPr lang="en-US" sz="1500" dirty="0"/>
          </a:p>
        </p:txBody>
      </p:sp>
      <p:sp>
        <p:nvSpPr>
          <p:cNvPr id="12" name="Shape 10"/>
          <p:cNvSpPr/>
          <p:nvPr/>
        </p:nvSpPr>
        <p:spPr>
          <a:xfrm>
            <a:off x="7958634" y="2338090"/>
            <a:ext cx="3420566" cy="1675755"/>
          </a:xfrm>
          <a:prstGeom prst="roundRect">
            <a:avLst>
              <a:gd name="adj" fmla="val 7579"/>
            </a:avLst>
          </a:prstGeom>
          <a:solidFill>
            <a:srgbClr val="FBF9F4"/>
          </a:solidFill>
          <a:ln/>
        </p:spPr>
        <p:txBody>
          <a:bodyPr/>
          <a:lstStyle/>
          <a:p>
            <a:endParaRPr lang="en-US"/>
          </a:p>
        </p:txBody>
      </p:sp>
      <p:sp>
        <p:nvSpPr>
          <p:cNvPr id="13" name="Shape 11"/>
          <p:cNvSpPr/>
          <p:nvPr/>
        </p:nvSpPr>
        <p:spPr>
          <a:xfrm>
            <a:off x="7958634" y="2353965"/>
            <a:ext cx="3420566" cy="0"/>
          </a:xfrm>
          <a:prstGeom prst="line">
            <a:avLst/>
          </a:prstGeom>
          <a:noFill/>
          <a:ln w="31750">
            <a:solidFill>
              <a:srgbClr val="4F7D6A"/>
            </a:solidFill>
            <a:prstDash val="solid"/>
          </a:ln>
        </p:spPr>
        <p:txBody>
          <a:bodyPr/>
          <a:lstStyle/>
          <a:p>
            <a:endParaRPr lang="en-US"/>
          </a:p>
        </p:txBody>
      </p:sp>
      <p:sp>
        <p:nvSpPr>
          <p:cNvPr id="14" name="Text 12"/>
          <p:cNvSpPr/>
          <p:nvPr/>
        </p:nvSpPr>
        <p:spPr>
          <a:xfrm>
            <a:off x="8199934" y="2611140"/>
            <a:ext cx="302610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2A"/>
                </a:solidFill>
                <a:latin typeface="Inter" pitchFamily="34" charset="0"/>
                <a:ea typeface="Inter" pitchFamily="34" charset="-122"/>
                <a:cs typeface="Inter" pitchFamily="34" charset="-120"/>
              </a:rPr>
              <a:t>Reflects</a:t>
            </a:r>
            <a:endParaRPr lang="en-US" sz="1600" dirty="0"/>
          </a:p>
        </p:txBody>
      </p:sp>
      <p:sp>
        <p:nvSpPr>
          <p:cNvPr id="15" name="Text 13"/>
          <p:cNvSpPr/>
          <p:nvPr/>
        </p:nvSpPr>
        <p:spPr>
          <a:xfrm>
            <a:off x="8199934" y="2943870"/>
            <a:ext cx="302610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A quote, an everyday example, one question. By text, or all at once for a voice note.</a:t>
            </a:r>
            <a:endParaRPr lang="en-US" sz="1500" dirty="0"/>
          </a:p>
        </p:txBody>
      </p:sp>
      <p:sp>
        <p:nvSpPr>
          <p:cNvPr id="16" name="Shape 14"/>
          <p:cNvSpPr/>
          <p:nvPr/>
        </p:nvSpPr>
        <p:spPr>
          <a:xfrm>
            <a:off x="812800" y="4166245"/>
            <a:ext cx="3420517" cy="1675755"/>
          </a:xfrm>
          <a:prstGeom prst="roundRect">
            <a:avLst>
              <a:gd name="adj" fmla="val 7579"/>
            </a:avLst>
          </a:prstGeom>
          <a:solidFill>
            <a:srgbClr val="FBF9F4"/>
          </a:solidFill>
          <a:ln/>
        </p:spPr>
        <p:txBody>
          <a:bodyPr/>
          <a:lstStyle/>
          <a:p>
            <a:endParaRPr lang="en-US"/>
          </a:p>
        </p:txBody>
      </p:sp>
      <p:sp>
        <p:nvSpPr>
          <p:cNvPr id="17" name="Shape 15"/>
          <p:cNvSpPr/>
          <p:nvPr/>
        </p:nvSpPr>
        <p:spPr>
          <a:xfrm>
            <a:off x="812800" y="4182120"/>
            <a:ext cx="3420517" cy="0"/>
          </a:xfrm>
          <a:prstGeom prst="line">
            <a:avLst/>
          </a:prstGeom>
          <a:noFill/>
          <a:ln w="31750">
            <a:solidFill>
              <a:srgbClr val="4F7D6A"/>
            </a:solidFill>
            <a:prstDash val="solid"/>
          </a:ln>
        </p:spPr>
        <p:txBody>
          <a:bodyPr/>
          <a:lstStyle/>
          <a:p>
            <a:endParaRPr lang="en-US"/>
          </a:p>
        </p:txBody>
      </p:sp>
      <p:sp>
        <p:nvSpPr>
          <p:cNvPr id="18" name="Text 16"/>
          <p:cNvSpPr/>
          <p:nvPr/>
        </p:nvSpPr>
        <p:spPr>
          <a:xfrm>
            <a:off x="1054100" y="4439295"/>
            <a:ext cx="302605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2A"/>
                </a:solidFill>
                <a:latin typeface="Inter" pitchFamily="34" charset="0"/>
                <a:ea typeface="Inter" pitchFamily="34" charset="-122"/>
                <a:cs typeface="Inter" pitchFamily="34" charset="-120"/>
              </a:rPr>
              <a:t>Checks in</a:t>
            </a:r>
            <a:endParaRPr lang="en-US" sz="1600" dirty="0"/>
          </a:p>
        </p:txBody>
      </p:sp>
      <p:sp>
        <p:nvSpPr>
          <p:cNvPr id="19" name="Text 17"/>
          <p:cNvSpPr/>
          <p:nvPr/>
        </p:nvSpPr>
        <p:spPr>
          <a:xfrm>
            <a:off x="1054100" y="4772025"/>
            <a:ext cx="302605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Mornings, their own chosen hour, and after days of silence. Never nagging.</a:t>
            </a:r>
            <a:endParaRPr lang="en-US" sz="1500" dirty="0"/>
          </a:p>
        </p:txBody>
      </p:sp>
      <p:sp>
        <p:nvSpPr>
          <p:cNvPr id="20" name="Shape 18"/>
          <p:cNvSpPr/>
          <p:nvPr/>
        </p:nvSpPr>
        <p:spPr>
          <a:xfrm>
            <a:off x="4385717" y="4166245"/>
            <a:ext cx="3420517" cy="1675755"/>
          </a:xfrm>
          <a:prstGeom prst="roundRect">
            <a:avLst>
              <a:gd name="adj" fmla="val 7579"/>
            </a:avLst>
          </a:prstGeom>
          <a:solidFill>
            <a:srgbClr val="FBF9F4"/>
          </a:solidFill>
          <a:ln/>
        </p:spPr>
        <p:txBody>
          <a:bodyPr/>
          <a:lstStyle/>
          <a:p>
            <a:endParaRPr lang="en-US"/>
          </a:p>
        </p:txBody>
      </p:sp>
      <p:sp>
        <p:nvSpPr>
          <p:cNvPr id="21" name="Shape 19"/>
          <p:cNvSpPr/>
          <p:nvPr/>
        </p:nvSpPr>
        <p:spPr>
          <a:xfrm>
            <a:off x="4385717" y="4182120"/>
            <a:ext cx="3420517" cy="0"/>
          </a:xfrm>
          <a:prstGeom prst="line">
            <a:avLst/>
          </a:prstGeom>
          <a:noFill/>
          <a:ln w="31750">
            <a:solidFill>
              <a:srgbClr val="4F7D6A"/>
            </a:solidFill>
            <a:prstDash val="solid"/>
          </a:ln>
        </p:spPr>
        <p:txBody>
          <a:bodyPr/>
          <a:lstStyle/>
          <a:p>
            <a:endParaRPr lang="en-US"/>
          </a:p>
        </p:txBody>
      </p:sp>
      <p:sp>
        <p:nvSpPr>
          <p:cNvPr id="22" name="Text 20"/>
          <p:cNvSpPr/>
          <p:nvPr/>
        </p:nvSpPr>
        <p:spPr>
          <a:xfrm>
            <a:off x="4627017" y="4439295"/>
            <a:ext cx="302605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2A"/>
                </a:solidFill>
                <a:latin typeface="Inter" pitchFamily="34" charset="0"/>
                <a:ea typeface="Inter" pitchFamily="34" charset="-122"/>
                <a:cs typeface="Inter" pitchFamily="34" charset="-120"/>
              </a:rPr>
              <a:t>Looks back</a:t>
            </a:r>
            <a:endParaRPr lang="en-US" sz="1600" dirty="0"/>
          </a:p>
        </p:txBody>
      </p:sp>
      <p:sp>
        <p:nvSpPr>
          <p:cNvPr id="23" name="Text 21"/>
          <p:cNvSpPr/>
          <p:nvPr/>
        </p:nvSpPr>
        <p:spPr>
          <a:xfrm>
            <a:off x="4627017" y="4772025"/>
            <a:ext cx="302605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A Sunday board: habits, what they wrote, and the week ahead with weather and schedule.</a:t>
            </a:r>
            <a:endParaRPr lang="en-US" sz="1500" dirty="0"/>
          </a:p>
        </p:txBody>
      </p:sp>
      <p:sp>
        <p:nvSpPr>
          <p:cNvPr id="24" name="Shape 22"/>
          <p:cNvSpPr/>
          <p:nvPr/>
        </p:nvSpPr>
        <p:spPr>
          <a:xfrm>
            <a:off x="7958634" y="4166245"/>
            <a:ext cx="3420566" cy="1675755"/>
          </a:xfrm>
          <a:prstGeom prst="roundRect">
            <a:avLst>
              <a:gd name="adj" fmla="val 7579"/>
            </a:avLst>
          </a:prstGeom>
          <a:solidFill>
            <a:srgbClr val="1D2B2A"/>
          </a:solidFill>
          <a:ln/>
        </p:spPr>
        <p:txBody>
          <a:bodyPr/>
          <a:lstStyle/>
          <a:p>
            <a:endParaRPr lang="en-US"/>
          </a:p>
        </p:txBody>
      </p:sp>
      <p:sp>
        <p:nvSpPr>
          <p:cNvPr id="25" name="Shape 23"/>
          <p:cNvSpPr/>
          <p:nvPr/>
        </p:nvSpPr>
        <p:spPr>
          <a:xfrm>
            <a:off x="7958634" y="4182120"/>
            <a:ext cx="3420566" cy="0"/>
          </a:xfrm>
          <a:prstGeom prst="line">
            <a:avLst/>
          </a:prstGeom>
          <a:noFill/>
          <a:ln w="31750">
            <a:solidFill>
              <a:srgbClr val="D9975B"/>
            </a:solidFill>
            <a:prstDash val="solid"/>
          </a:ln>
        </p:spPr>
        <p:txBody>
          <a:bodyPr/>
          <a:lstStyle/>
          <a:p>
            <a:endParaRPr lang="en-US"/>
          </a:p>
        </p:txBody>
      </p:sp>
      <p:sp>
        <p:nvSpPr>
          <p:cNvPr id="26" name="Text 24"/>
          <p:cNvSpPr/>
          <p:nvPr/>
        </p:nvSpPr>
        <p:spPr>
          <a:xfrm>
            <a:off x="8199934" y="4439295"/>
            <a:ext cx="302610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D9975B"/>
                </a:solidFill>
                <a:latin typeface="Inter" pitchFamily="34" charset="0"/>
                <a:ea typeface="Inter" pitchFamily="34" charset="-122"/>
                <a:cs typeface="Inter" pitchFamily="34" charset="-120"/>
              </a:rPr>
              <a:t>Hands over</a:t>
            </a:r>
            <a:endParaRPr lang="en-US" sz="1600" dirty="0"/>
          </a:p>
        </p:txBody>
      </p:sp>
      <p:sp>
        <p:nvSpPr>
          <p:cNvPr id="27" name="Text 25"/>
          <p:cNvSpPr/>
          <p:nvPr/>
        </p:nvSpPr>
        <p:spPr>
          <a:xfrm>
            <a:off x="8199934" y="4772025"/>
            <a:ext cx="302610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DCE4E0"/>
                </a:solidFill>
                <a:latin typeface="Inter" pitchFamily="34" charset="0"/>
                <a:ea typeface="Inter" pitchFamily="34" charset="-122"/>
                <a:cs typeface="Inter" pitchFamily="34" charset="-120"/>
              </a:rPr>
              <a:t>Every message is checked for risk first. When it appears, Hio stops helping and points to 113.</a:t>
            </a:r>
            <a:endParaRPr lang="en-US" sz="1500" dirty="0"/>
          </a:p>
        </p:txBody>
      </p:sp>
      <p:sp>
        <p:nvSpPr>
          <p:cNvPr id="28" name="Text 26"/>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Text or voice · any language · nothing to install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WHAT MAKES IT A WELLBEING TOOL</a:t>
            </a:r>
            <a:endParaRPr lang="en-US" sz="1300" dirty="0"/>
          </a:p>
        </p:txBody>
      </p:sp>
      <p:sp>
        <p:nvSpPr>
          <p:cNvPr id="3" name="Text 1"/>
          <p:cNvSpPr/>
          <p:nvPr/>
        </p:nvSpPr>
        <p:spPr>
          <a:xfrm>
            <a:off x="812800" y="1196330"/>
            <a:ext cx="9483725" cy="101848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1D2B2A"/>
                </a:solidFill>
                <a:latin typeface="Fraunces" pitchFamily="34" charset="0"/>
                <a:ea typeface="Fraunces" pitchFamily="34" charset="-122"/>
                <a:cs typeface="Fraunces" pitchFamily="34" charset="-120"/>
              </a:rPr>
              <a:t>Four decisions that separate Hio from a productivity bot</a:t>
            </a:r>
            <a:endParaRPr lang="en-US" sz="3400" dirty="0"/>
          </a:p>
        </p:txBody>
      </p:sp>
      <p:sp>
        <p:nvSpPr>
          <p:cNvPr id="4" name="Shape 2"/>
          <p:cNvSpPr/>
          <p:nvPr/>
        </p:nvSpPr>
        <p:spPr>
          <a:xfrm>
            <a:off x="812800" y="2778820"/>
            <a:ext cx="5200650" cy="1449040"/>
          </a:xfrm>
          <a:prstGeom prst="roundRect">
            <a:avLst>
              <a:gd name="adj" fmla="val 9641"/>
            </a:avLst>
          </a:prstGeom>
          <a:solidFill>
            <a:srgbClr val="FBF9F4"/>
          </a:solidFill>
          <a:ln/>
        </p:spPr>
        <p:txBody>
          <a:bodyPr/>
          <a:lstStyle/>
          <a:p>
            <a:endParaRPr lang="en-US"/>
          </a:p>
        </p:txBody>
      </p:sp>
      <p:sp>
        <p:nvSpPr>
          <p:cNvPr id="5" name="Shape 3"/>
          <p:cNvSpPr/>
          <p:nvPr/>
        </p:nvSpPr>
        <p:spPr>
          <a:xfrm>
            <a:off x="831850" y="2778820"/>
            <a:ext cx="0" cy="1449040"/>
          </a:xfrm>
          <a:prstGeom prst="line">
            <a:avLst/>
          </a:prstGeom>
          <a:noFill/>
          <a:ln w="38100">
            <a:solidFill>
              <a:srgbClr val="4F7D6A"/>
            </a:solidFill>
            <a:prstDash val="solid"/>
          </a:ln>
        </p:spPr>
        <p:txBody>
          <a:bodyPr/>
          <a:lstStyle/>
          <a:p>
            <a:endParaRPr lang="en-US"/>
          </a:p>
        </p:txBody>
      </p:sp>
      <p:sp>
        <p:nvSpPr>
          <p:cNvPr id="6" name="Text 4"/>
          <p:cNvSpPr/>
          <p:nvPr/>
        </p:nvSpPr>
        <p:spPr>
          <a:xfrm>
            <a:off x="1130300" y="3045520"/>
            <a:ext cx="47418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B2A"/>
                </a:solidFill>
                <a:latin typeface="Inter" pitchFamily="34" charset="0"/>
                <a:ea typeface="Inter" pitchFamily="34" charset="-122"/>
                <a:cs typeface="Inter" pitchFamily="34" charset="-120"/>
              </a:rPr>
              <a:t>Help them do less</a:t>
            </a:r>
            <a:endParaRPr lang="en-US" sz="1800" dirty="0"/>
          </a:p>
        </p:txBody>
      </p:sp>
      <p:sp>
        <p:nvSpPr>
          <p:cNvPr id="7" name="Text 5"/>
          <p:cNvSpPr/>
          <p:nvPr/>
        </p:nvSpPr>
        <p:spPr>
          <a:xfrm>
            <a:off x="1130300" y="3408710"/>
            <a:ext cx="4741863"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Hio protects breaks and sleep, and flags a brutal week. It never praises overworking.</a:t>
            </a:r>
            <a:endParaRPr lang="en-US" sz="1500" dirty="0"/>
          </a:p>
        </p:txBody>
      </p:sp>
      <p:sp>
        <p:nvSpPr>
          <p:cNvPr id="8" name="Shape 6"/>
          <p:cNvSpPr/>
          <p:nvPr/>
        </p:nvSpPr>
        <p:spPr>
          <a:xfrm>
            <a:off x="6178550" y="2778820"/>
            <a:ext cx="5200650" cy="1449040"/>
          </a:xfrm>
          <a:prstGeom prst="roundRect">
            <a:avLst>
              <a:gd name="adj" fmla="val 9641"/>
            </a:avLst>
          </a:prstGeom>
          <a:solidFill>
            <a:srgbClr val="FBF9F4"/>
          </a:solidFill>
          <a:ln/>
        </p:spPr>
        <p:txBody>
          <a:bodyPr/>
          <a:lstStyle/>
          <a:p>
            <a:endParaRPr lang="en-US"/>
          </a:p>
        </p:txBody>
      </p:sp>
      <p:sp>
        <p:nvSpPr>
          <p:cNvPr id="9" name="Shape 7"/>
          <p:cNvSpPr/>
          <p:nvPr/>
        </p:nvSpPr>
        <p:spPr>
          <a:xfrm>
            <a:off x="6197600" y="2778820"/>
            <a:ext cx="0" cy="1449040"/>
          </a:xfrm>
          <a:prstGeom prst="line">
            <a:avLst/>
          </a:prstGeom>
          <a:noFill/>
          <a:ln w="38100">
            <a:solidFill>
              <a:srgbClr val="4F7D6A"/>
            </a:solidFill>
            <a:prstDash val="solid"/>
          </a:ln>
        </p:spPr>
        <p:txBody>
          <a:bodyPr/>
          <a:lstStyle/>
          <a:p>
            <a:endParaRPr lang="en-US"/>
          </a:p>
        </p:txBody>
      </p:sp>
      <p:sp>
        <p:nvSpPr>
          <p:cNvPr id="10" name="Text 8"/>
          <p:cNvSpPr/>
          <p:nvPr/>
        </p:nvSpPr>
        <p:spPr>
          <a:xfrm>
            <a:off x="6496050" y="3045520"/>
            <a:ext cx="47418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B2A"/>
                </a:solidFill>
                <a:latin typeface="Inter" pitchFamily="34" charset="0"/>
                <a:ea typeface="Inter" pitchFamily="34" charset="-122"/>
                <a:cs typeface="Inter" pitchFamily="34" charset="-120"/>
              </a:rPr>
              <a:t>No streaks, no scores</a:t>
            </a:r>
            <a:endParaRPr lang="en-US" sz="1800" dirty="0"/>
          </a:p>
        </p:txBody>
      </p:sp>
      <p:sp>
        <p:nvSpPr>
          <p:cNvPr id="11" name="Text 9"/>
          <p:cNvSpPr/>
          <p:nvPr/>
        </p:nvSpPr>
        <p:spPr>
          <a:xfrm>
            <a:off x="6496050" y="3408710"/>
            <a:ext cx="4741863"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For an anxious user, a broken streak is one more failure. A skipped day is just a day.</a:t>
            </a:r>
            <a:endParaRPr lang="en-US" sz="1500" dirty="0"/>
          </a:p>
        </p:txBody>
      </p:sp>
      <p:sp>
        <p:nvSpPr>
          <p:cNvPr id="12" name="Shape 10"/>
          <p:cNvSpPr/>
          <p:nvPr/>
        </p:nvSpPr>
        <p:spPr>
          <a:xfrm>
            <a:off x="812800" y="4392960"/>
            <a:ext cx="5200650" cy="1449040"/>
          </a:xfrm>
          <a:prstGeom prst="roundRect">
            <a:avLst>
              <a:gd name="adj" fmla="val 9641"/>
            </a:avLst>
          </a:prstGeom>
          <a:solidFill>
            <a:srgbClr val="FBF9F4"/>
          </a:solidFill>
          <a:ln/>
        </p:spPr>
        <p:txBody>
          <a:bodyPr/>
          <a:lstStyle/>
          <a:p>
            <a:endParaRPr lang="en-US"/>
          </a:p>
        </p:txBody>
      </p:sp>
      <p:sp>
        <p:nvSpPr>
          <p:cNvPr id="13" name="Shape 11"/>
          <p:cNvSpPr/>
          <p:nvPr/>
        </p:nvSpPr>
        <p:spPr>
          <a:xfrm>
            <a:off x="831850" y="4392960"/>
            <a:ext cx="0" cy="1449040"/>
          </a:xfrm>
          <a:prstGeom prst="line">
            <a:avLst/>
          </a:prstGeom>
          <a:noFill/>
          <a:ln w="38100">
            <a:solidFill>
              <a:srgbClr val="D9975B"/>
            </a:solidFill>
            <a:prstDash val="solid"/>
          </a:ln>
        </p:spPr>
        <p:txBody>
          <a:bodyPr/>
          <a:lstStyle/>
          <a:p>
            <a:endParaRPr lang="en-US"/>
          </a:p>
        </p:txBody>
      </p:sp>
      <p:sp>
        <p:nvSpPr>
          <p:cNvPr id="14" name="Text 12"/>
          <p:cNvSpPr/>
          <p:nvPr/>
        </p:nvSpPr>
        <p:spPr>
          <a:xfrm>
            <a:off x="1130300" y="4659660"/>
            <a:ext cx="47418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B2A"/>
                </a:solidFill>
                <a:latin typeface="Inter" pitchFamily="34" charset="0"/>
                <a:ea typeface="Inter" pitchFamily="34" charset="-122"/>
                <a:cs typeface="Inter" pitchFamily="34" charset="-120"/>
              </a:rPr>
              <a:t>Decide, don't ask</a:t>
            </a:r>
            <a:endParaRPr lang="en-US" sz="1800" dirty="0"/>
          </a:p>
        </p:txBody>
      </p:sp>
      <p:sp>
        <p:nvSpPr>
          <p:cNvPr id="15" name="Text 13"/>
          <p:cNvSpPr/>
          <p:nvPr/>
        </p:nvSpPr>
        <p:spPr>
          <a:xfrm>
            <a:off x="1130300" y="5022850"/>
            <a:ext cx="4741863"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Every question is friction. Hio picks the list, the time and the length itself.</a:t>
            </a:r>
            <a:endParaRPr lang="en-US" sz="1500" dirty="0"/>
          </a:p>
        </p:txBody>
      </p:sp>
      <p:sp>
        <p:nvSpPr>
          <p:cNvPr id="16" name="Shape 14"/>
          <p:cNvSpPr/>
          <p:nvPr/>
        </p:nvSpPr>
        <p:spPr>
          <a:xfrm>
            <a:off x="6178550" y="4392960"/>
            <a:ext cx="5200650" cy="1449040"/>
          </a:xfrm>
          <a:prstGeom prst="roundRect">
            <a:avLst>
              <a:gd name="adj" fmla="val 9641"/>
            </a:avLst>
          </a:prstGeom>
          <a:solidFill>
            <a:srgbClr val="FBF9F4"/>
          </a:solidFill>
          <a:ln/>
        </p:spPr>
        <p:txBody>
          <a:bodyPr/>
          <a:lstStyle/>
          <a:p>
            <a:endParaRPr lang="en-US"/>
          </a:p>
        </p:txBody>
      </p:sp>
      <p:sp>
        <p:nvSpPr>
          <p:cNvPr id="17" name="Shape 15"/>
          <p:cNvSpPr/>
          <p:nvPr/>
        </p:nvSpPr>
        <p:spPr>
          <a:xfrm>
            <a:off x="6197600" y="4392960"/>
            <a:ext cx="0" cy="1449040"/>
          </a:xfrm>
          <a:prstGeom prst="line">
            <a:avLst/>
          </a:prstGeom>
          <a:noFill/>
          <a:ln w="38100">
            <a:solidFill>
              <a:srgbClr val="D9975B"/>
            </a:solidFill>
            <a:prstDash val="solid"/>
          </a:ln>
        </p:spPr>
        <p:txBody>
          <a:bodyPr/>
          <a:lstStyle/>
          <a:p>
            <a:endParaRPr lang="en-US"/>
          </a:p>
        </p:txBody>
      </p:sp>
      <p:sp>
        <p:nvSpPr>
          <p:cNvPr id="18" name="Text 16"/>
          <p:cNvSpPr/>
          <p:nvPr/>
        </p:nvSpPr>
        <p:spPr>
          <a:xfrm>
            <a:off x="6496050" y="4659660"/>
            <a:ext cx="47418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B2A"/>
                </a:solidFill>
                <a:latin typeface="Inter" pitchFamily="34" charset="0"/>
                <a:ea typeface="Inter" pitchFamily="34" charset="-122"/>
                <a:cs typeface="Inter" pitchFamily="34" charset="-120"/>
              </a:rPr>
              <a:t>Their words, not ours</a:t>
            </a:r>
            <a:endParaRPr lang="en-US" sz="1800" dirty="0"/>
          </a:p>
        </p:txBody>
      </p:sp>
      <p:sp>
        <p:nvSpPr>
          <p:cNvPr id="19" name="Text 17"/>
          <p:cNvSpPr/>
          <p:nvPr/>
        </p:nvSpPr>
        <p:spPr>
          <a:xfrm>
            <a:off x="6496050" y="5022850"/>
            <a:ext cx="4741863"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9443F"/>
                </a:solidFill>
                <a:latin typeface="Inter" pitchFamily="34" charset="0"/>
                <a:ea typeface="Inter" pitchFamily="34" charset="-122"/>
                <a:cs typeface="Inter" pitchFamily="34" charset="-120"/>
              </a:rPr>
              <a:t>Users pick their own struggles and habits, in their own words. Hio never diagnoses.</a:t>
            </a:r>
            <a:endParaRPr lang="en-US" sz="1500" dirty="0"/>
          </a:p>
        </p:txBody>
      </p:sp>
      <p:sp>
        <p:nvSpPr>
          <p:cNvPr id="20" name="Text 18"/>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Hio · design principles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2B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D9975B"/>
                </a:solidFill>
                <a:latin typeface="Inter" pitchFamily="34" charset="0"/>
                <a:ea typeface="Inter" pitchFamily="34" charset="-122"/>
                <a:cs typeface="Inter" pitchFamily="34" charset="-120"/>
              </a:rPr>
              <a:t>UNDER THE HOOD</a:t>
            </a:r>
            <a:endParaRPr lang="en-US" sz="1300" dirty="0"/>
          </a:p>
        </p:txBody>
      </p:sp>
      <p:sp>
        <p:nvSpPr>
          <p:cNvPr id="3" name="Text 1"/>
          <p:cNvSpPr/>
          <p:nvPr/>
        </p:nvSpPr>
        <p:spPr>
          <a:xfrm>
            <a:off x="812800" y="1196330"/>
            <a:ext cx="10883392" cy="52194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F3EFE6"/>
                </a:solidFill>
                <a:latin typeface="Fraunces" pitchFamily="34" charset="0"/>
                <a:ea typeface="Fraunces" pitchFamily="34" charset="-122"/>
                <a:cs typeface="Fraunces" pitchFamily="34" charset="-120"/>
              </a:rPr>
              <a:t>One workflow, two triggers</a:t>
            </a:r>
            <a:endParaRPr lang="en-US" sz="3400" dirty="0"/>
          </a:p>
        </p:txBody>
      </p:sp>
      <p:sp>
        <p:nvSpPr>
          <p:cNvPr id="4" name="Shape 2"/>
          <p:cNvSpPr/>
          <p:nvPr/>
        </p:nvSpPr>
        <p:spPr>
          <a:xfrm>
            <a:off x="812800" y="2321570"/>
            <a:ext cx="10566400" cy="1390650"/>
          </a:xfrm>
          <a:prstGeom prst="roundRect">
            <a:avLst>
              <a:gd name="adj" fmla="val 10046"/>
            </a:avLst>
          </a:prstGeom>
          <a:solidFill>
            <a:srgbClr val="25332F"/>
          </a:solidFill>
          <a:ln/>
        </p:spPr>
        <p:txBody>
          <a:bodyPr/>
          <a:lstStyle/>
          <a:p>
            <a:endParaRPr lang="en-US"/>
          </a:p>
        </p:txBody>
      </p:sp>
      <p:sp>
        <p:nvSpPr>
          <p:cNvPr id="5" name="Text 3"/>
          <p:cNvSpPr/>
          <p:nvPr/>
        </p:nvSpPr>
        <p:spPr>
          <a:xfrm>
            <a:off x="1079500" y="2562870"/>
            <a:ext cx="1033399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D9975B"/>
                </a:solidFill>
                <a:latin typeface="Inter" pitchFamily="34" charset="0"/>
                <a:ea typeface="Inter" pitchFamily="34" charset="-122"/>
                <a:cs typeface="Inter" pitchFamily="34" charset="-120"/>
              </a:rPr>
              <a:t>Reactive · a message arrives</a:t>
            </a:r>
            <a:endParaRPr lang="en-US" sz="1500" dirty="0"/>
          </a:p>
        </p:txBody>
      </p:sp>
      <p:sp>
        <p:nvSpPr>
          <p:cNvPr id="6" name="Text 4"/>
          <p:cNvSpPr/>
          <p:nvPr/>
        </p:nvSpPr>
        <p:spPr>
          <a:xfrm>
            <a:off x="1079500" y="2880370"/>
            <a:ext cx="10333990" cy="615950"/>
          </a:xfrm>
          <a:prstGeom prst="rect">
            <a:avLst/>
          </a:prstGeom>
          <a:noFill/>
          <a:ln/>
        </p:spPr>
        <p:txBody>
          <a:bodyPr wrap="square" lIns="0" tIns="0" rIns="0" bIns="0" rtlCol="0" anchor="t">
            <a:normAutofit/>
          </a:bodyPr>
          <a:lstStyle/>
          <a:p>
            <a:pPr marL="0" indent="0" algn="l">
              <a:lnSpc>
                <a:spcPts val="2325"/>
              </a:lnSpc>
              <a:buNone/>
            </a:pPr>
            <a:r>
              <a:rPr lang="en-US" sz="1550" dirty="0">
                <a:solidFill>
                  <a:srgbClr val="DCE4E0"/>
                </a:solidFill>
                <a:latin typeface="Inter" pitchFamily="34" charset="0"/>
                <a:ea typeface="Inter" pitchFamily="34" charset="-122"/>
                <a:cs typeface="Inter" pitchFamily="34" charset="-120"/>
              </a:rPr>
              <a:t>Telegram trigger, then voice transcription if needed, find the user, crisis check, then either onboarding or the Hio agent with its tools, and the reply is split into short bubbles.</a:t>
            </a:r>
            <a:endParaRPr lang="en-US" sz="1550" dirty="0"/>
          </a:p>
        </p:txBody>
      </p:sp>
      <p:sp>
        <p:nvSpPr>
          <p:cNvPr id="7" name="Shape 5"/>
          <p:cNvSpPr/>
          <p:nvPr/>
        </p:nvSpPr>
        <p:spPr>
          <a:xfrm>
            <a:off x="812800" y="3877320"/>
            <a:ext cx="10566400" cy="1390650"/>
          </a:xfrm>
          <a:prstGeom prst="roundRect">
            <a:avLst>
              <a:gd name="adj" fmla="val 10046"/>
            </a:avLst>
          </a:prstGeom>
          <a:solidFill>
            <a:srgbClr val="25332F"/>
          </a:solidFill>
          <a:ln/>
        </p:spPr>
        <p:txBody>
          <a:bodyPr/>
          <a:lstStyle/>
          <a:p>
            <a:endParaRPr lang="en-US"/>
          </a:p>
        </p:txBody>
      </p:sp>
      <p:sp>
        <p:nvSpPr>
          <p:cNvPr id="8" name="Text 6"/>
          <p:cNvSpPr/>
          <p:nvPr/>
        </p:nvSpPr>
        <p:spPr>
          <a:xfrm>
            <a:off x="1079500" y="4118620"/>
            <a:ext cx="1033399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D9975B"/>
                </a:solidFill>
                <a:latin typeface="Inter" pitchFamily="34" charset="0"/>
                <a:ea typeface="Inter" pitchFamily="34" charset="-122"/>
                <a:cs typeface="Inter" pitchFamily="34" charset="-120"/>
              </a:rPr>
              <a:t>Proactive · every hour</a:t>
            </a:r>
            <a:endParaRPr lang="en-US" sz="1500" dirty="0"/>
          </a:p>
        </p:txBody>
      </p:sp>
      <p:sp>
        <p:nvSpPr>
          <p:cNvPr id="9" name="Text 7"/>
          <p:cNvSpPr/>
          <p:nvPr/>
        </p:nvSpPr>
        <p:spPr>
          <a:xfrm>
            <a:off x="1079500" y="4436120"/>
            <a:ext cx="10333990" cy="615950"/>
          </a:xfrm>
          <a:prstGeom prst="rect">
            <a:avLst/>
          </a:prstGeom>
          <a:noFill/>
          <a:ln/>
        </p:spPr>
        <p:txBody>
          <a:bodyPr wrap="square" lIns="0" tIns="0" rIns="0" bIns="0" rtlCol="0" anchor="t">
            <a:normAutofit/>
          </a:bodyPr>
          <a:lstStyle/>
          <a:p>
            <a:pPr marL="0" indent="0" algn="l">
              <a:lnSpc>
                <a:spcPts val="2325"/>
              </a:lnSpc>
              <a:buNone/>
            </a:pPr>
            <a:r>
              <a:rPr lang="en-US" sz="1550" dirty="0">
                <a:solidFill>
                  <a:srgbClr val="DCE4E0"/>
                </a:solidFill>
                <a:latin typeface="Inter" pitchFamily="34" charset="0"/>
                <a:ea typeface="Inter" pitchFamily="34" charset="-122"/>
                <a:cs typeface="Inter" pitchFamily="34" charset="-120"/>
              </a:rPr>
              <a:t>Read the users, work out who is due, read their calendar, add weather, journal history and nearby places, write the message, and on Sunday build and send the weekly board.</a:t>
            </a:r>
            <a:endParaRPr lang="en-US" sz="1550" dirty="0"/>
          </a:p>
        </p:txBody>
      </p:sp>
      <p:sp>
        <p:nvSpPr>
          <p:cNvPr id="10" name="Shape 8"/>
          <p:cNvSpPr/>
          <p:nvPr/>
        </p:nvSpPr>
        <p:spPr>
          <a:xfrm>
            <a:off x="812800" y="5433070"/>
            <a:ext cx="1659235" cy="408930"/>
          </a:xfrm>
          <a:prstGeom prst="roundRect">
            <a:avLst>
              <a:gd name="adj" fmla="val 50000"/>
            </a:avLst>
          </a:prstGeom>
          <a:solidFill>
            <a:schemeClr val="accent2"/>
          </a:solidFill>
          <a:ln/>
        </p:spPr>
        <p:txBody>
          <a:bodyPr/>
          <a:lstStyle/>
          <a:p>
            <a:endParaRPr lang="en-US"/>
          </a:p>
        </p:txBody>
      </p:sp>
      <p:sp>
        <p:nvSpPr>
          <p:cNvPr id="11" name="Text 9"/>
          <p:cNvSpPr/>
          <p:nvPr/>
        </p:nvSpPr>
        <p:spPr>
          <a:xfrm>
            <a:off x="977900" y="5521970"/>
            <a:ext cx="1379835" cy="256530"/>
          </a:xfrm>
          <a:prstGeom prst="rect">
            <a:avLst/>
          </a:prstGeom>
          <a:noFill/>
          <a:ln/>
        </p:spPr>
        <p:txBody>
          <a:bodyPr wrap="square" lIns="0" tIns="0" rIns="0" bIns="0" rtlCol="0" anchor="t">
            <a:normAutofit/>
          </a:bodyPr>
          <a:lstStyle/>
          <a:p>
            <a:pPr marL="0" indent="0" algn="l">
              <a:lnSpc>
                <a:spcPts val="1820"/>
              </a:lnSpc>
              <a:buNone/>
            </a:pPr>
            <a:r>
              <a:rPr lang="en-US" sz="1300" dirty="0">
                <a:ln>
                  <a:solidFill>
                    <a:schemeClr val="bg1"/>
                  </a:solidFill>
                </a:ln>
                <a:solidFill>
                  <a:schemeClr val="bg1"/>
                </a:solidFill>
                <a:latin typeface="Inter" pitchFamily="34" charset="0"/>
                <a:ea typeface="Inter" pitchFamily="34" charset="-122"/>
                <a:cs typeface="Inter" pitchFamily="34" charset="-120"/>
              </a:rPr>
              <a:t>Claude Haiku 4.5</a:t>
            </a:r>
            <a:endParaRPr lang="en-US" sz="1300" dirty="0">
              <a:ln>
                <a:solidFill>
                  <a:schemeClr val="bg1"/>
                </a:solidFill>
              </a:ln>
              <a:solidFill>
                <a:schemeClr val="bg1"/>
              </a:solidFill>
            </a:endParaRPr>
          </a:p>
        </p:txBody>
      </p:sp>
      <p:sp>
        <p:nvSpPr>
          <p:cNvPr id="12" name="Shape 10"/>
          <p:cNvSpPr/>
          <p:nvPr/>
        </p:nvSpPr>
        <p:spPr>
          <a:xfrm>
            <a:off x="2599035" y="5433070"/>
            <a:ext cx="977156" cy="408930"/>
          </a:xfrm>
          <a:prstGeom prst="roundRect">
            <a:avLst>
              <a:gd name="adj" fmla="val 50000"/>
            </a:avLst>
          </a:prstGeom>
          <a:solidFill>
            <a:schemeClr val="accent2"/>
          </a:solidFill>
          <a:ln/>
        </p:spPr>
        <p:txBody>
          <a:bodyPr/>
          <a:lstStyle/>
          <a:p>
            <a:endParaRPr lang="en-US"/>
          </a:p>
        </p:txBody>
      </p:sp>
      <p:sp>
        <p:nvSpPr>
          <p:cNvPr id="13" name="Text 11"/>
          <p:cNvSpPr/>
          <p:nvPr/>
        </p:nvSpPr>
        <p:spPr>
          <a:xfrm>
            <a:off x="2764135" y="5521970"/>
            <a:ext cx="697756" cy="256530"/>
          </a:xfrm>
          <a:prstGeom prst="rect">
            <a:avLst/>
          </a:prstGeom>
          <a:noFill/>
          <a:ln/>
        </p:spPr>
        <p:txBody>
          <a:bodyPr wrap="square" lIns="0" tIns="0" rIns="0" bIns="0" rtlCol="0" anchor="t">
            <a:normAutofit/>
          </a:bodyPr>
          <a:lstStyle/>
          <a:p>
            <a:pPr marL="0" indent="0" algn="l">
              <a:lnSpc>
                <a:spcPts val="1820"/>
              </a:lnSpc>
              <a:buNone/>
            </a:pPr>
            <a:r>
              <a:rPr lang="en-US" sz="1300" dirty="0">
                <a:ln>
                  <a:solidFill>
                    <a:schemeClr val="bg1"/>
                  </a:solidFill>
                </a:ln>
                <a:solidFill>
                  <a:schemeClr val="bg1"/>
                </a:solidFill>
                <a:latin typeface="Inter" pitchFamily="34" charset="0"/>
                <a:ea typeface="Inter" pitchFamily="34" charset="-122"/>
                <a:cs typeface="Inter" pitchFamily="34" charset="-120"/>
              </a:rPr>
              <a:t>Whisper</a:t>
            </a:r>
            <a:endParaRPr lang="en-US" sz="1300" dirty="0">
              <a:ln>
                <a:solidFill>
                  <a:schemeClr val="bg1"/>
                </a:solidFill>
              </a:ln>
              <a:solidFill>
                <a:schemeClr val="bg1"/>
              </a:solidFill>
            </a:endParaRPr>
          </a:p>
        </p:txBody>
      </p:sp>
      <p:sp>
        <p:nvSpPr>
          <p:cNvPr id="14" name="Shape 12"/>
          <p:cNvSpPr/>
          <p:nvPr/>
        </p:nvSpPr>
        <p:spPr>
          <a:xfrm>
            <a:off x="3703191" y="5433070"/>
            <a:ext cx="2803723" cy="408930"/>
          </a:xfrm>
          <a:prstGeom prst="roundRect">
            <a:avLst>
              <a:gd name="adj" fmla="val 50000"/>
            </a:avLst>
          </a:prstGeom>
          <a:solidFill>
            <a:schemeClr val="accent2"/>
          </a:solidFill>
          <a:ln/>
        </p:spPr>
        <p:txBody>
          <a:bodyPr/>
          <a:lstStyle/>
          <a:p>
            <a:endParaRPr lang="en-US"/>
          </a:p>
        </p:txBody>
      </p:sp>
      <p:sp>
        <p:nvSpPr>
          <p:cNvPr id="15" name="Text 13"/>
          <p:cNvSpPr/>
          <p:nvPr/>
        </p:nvSpPr>
        <p:spPr>
          <a:xfrm>
            <a:off x="3868291" y="5521970"/>
            <a:ext cx="2547729" cy="256530"/>
          </a:xfrm>
          <a:prstGeom prst="rect">
            <a:avLst/>
          </a:prstGeom>
          <a:noFill/>
          <a:ln/>
        </p:spPr>
        <p:txBody>
          <a:bodyPr wrap="square" lIns="0" tIns="0" rIns="0" bIns="0" rtlCol="0" anchor="t">
            <a:normAutofit/>
          </a:bodyPr>
          <a:lstStyle/>
          <a:p>
            <a:pPr marL="0" indent="0" algn="l">
              <a:lnSpc>
                <a:spcPts val="1820"/>
              </a:lnSpc>
              <a:buNone/>
            </a:pPr>
            <a:r>
              <a:rPr lang="en-US" sz="1300" dirty="0">
                <a:ln>
                  <a:solidFill>
                    <a:schemeClr val="bg1"/>
                  </a:solidFill>
                </a:ln>
                <a:solidFill>
                  <a:schemeClr val="bg1"/>
                </a:solidFill>
                <a:latin typeface="Inter" pitchFamily="34" charset="0"/>
                <a:ea typeface="Inter" pitchFamily="34" charset="-122"/>
                <a:cs typeface="Inter" pitchFamily="34" charset="-120"/>
              </a:rPr>
              <a:t>Google Calendar, Tasks, Sheets</a:t>
            </a:r>
            <a:endParaRPr lang="en-US" sz="1300" dirty="0">
              <a:ln>
                <a:solidFill>
                  <a:schemeClr val="bg1"/>
                </a:solidFill>
              </a:ln>
              <a:solidFill>
                <a:schemeClr val="bg1"/>
              </a:solidFill>
            </a:endParaRPr>
          </a:p>
        </p:txBody>
      </p:sp>
      <p:sp>
        <p:nvSpPr>
          <p:cNvPr id="16" name="Shape 14"/>
          <p:cNvSpPr/>
          <p:nvPr/>
        </p:nvSpPr>
        <p:spPr>
          <a:xfrm>
            <a:off x="6633914" y="5433070"/>
            <a:ext cx="1320354" cy="408930"/>
          </a:xfrm>
          <a:prstGeom prst="roundRect">
            <a:avLst>
              <a:gd name="adj" fmla="val 50000"/>
            </a:avLst>
          </a:prstGeom>
          <a:solidFill>
            <a:schemeClr val="accent2"/>
          </a:solidFill>
          <a:ln/>
        </p:spPr>
        <p:txBody>
          <a:bodyPr/>
          <a:lstStyle/>
          <a:p>
            <a:endParaRPr lang="en-US"/>
          </a:p>
        </p:txBody>
      </p:sp>
      <p:sp>
        <p:nvSpPr>
          <p:cNvPr id="17" name="Text 15"/>
          <p:cNvSpPr/>
          <p:nvPr/>
        </p:nvSpPr>
        <p:spPr>
          <a:xfrm>
            <a:off x="6799014" y="5521970"/>
            <a:ext cx="1040954" cy="256530"/>
          </a:xfrm>
          <a:prstGeom prst="rect">
            <a:avLst/>
          </a:prstGeom>
          <a:noFill/>
          <a:ln/>
        </p:spPr>
        <p:txBody>
          <a:bodyPr wrap="square" lIns="0" tIns="0" rIns="0" bIns="0" rtlCol="0" anchor="t">
            <a:normAutofit/>
          </a:bodyPr>
          <a:lstStyle/>
          <a:p>
            <a:pPr marL="0" indent="0" algn="l">
              <a:lnSpc>
                <a:spcPts val="1820"/>
              </a:lnSpc>
              <a:buNone/>
            </a:pPr>
            <a:r>
              <a:rPr lang="en-US" sz="1300" dirty="0">
                <a:ln>
                  <a:solidFill>
                    <a:schemeClr val="bg1"/>
                  </a:solidFill>
                </a:ln>
                <a:solidFill>
                  <a:schemeClr val="bg1"/>
                </a:solidFill>
                <a:latin typeface="Inter" pitchFamily="34" charset="0"/>
                <a:ea typeface="Inter" pitchFamily="34" charset="-122"/>
                <a:cs typeface="Inter" pitchFamily="34" charset="-120"/>
              </a:rPr>
              <a:t>Open-Meteo</a:t>
            </a:r>
            <a:endParaRPr lang="en-US" sz="1300" dirty="0">
              <a:ln>
                <a:solidFill>
                  <a:schemeClr val="bg1"/>
                </a:solidFill>
              </a:ln>
              <a:solidFill>
                <a:schemeClr val="bg1"/>
              </a:solidFill>
            </a:endParaRPr>
          </a:p>
        </p:txBody>
      </p:sp>
      <p:sp>
        <p:nvSpPr>
          <p:cNvPr id="18" name="Shape 16"/>
          <p:cNvSpPr/>
          <p:nvPr/>
        </p:nvSpPr>
        <p:spPr>
          <a:xfrm>
            <a:off x="8081268" y="5433070"/>
            <a:ext cx="1560165" cy="408930"/>
          </a:xfrm>
          <a:prstGeom prst="roundRect">
            <a:avLst>
              <a:gd name="adj" fmla="val 50000"/>
            </a:avLst>
          </a:prstGeom>
          <a:solidFill>
            <a:schemeClr val="accent2"/>
          </a:solidFill>
          <a:ln/>
        </p:spPr>
        <p:txBody>
          <a:bodyPr/>
          <a:lstStyle/>
          <a:p>
            <a:endParaRPr lang="en-US"/>
          </a:p>
        </p:txBody>
      </p:sp>
      <p:sp>
        <p:nvSpPr>
          <p:cNvPr id="19" name="Text 17"/>
          <p:cNvSpPr/>
          <p:nvPr/>
        </p:nvSpPr>
        <p:spPr>
          <a:xfrm>
            <a:off x="8246368" y="5521970"/>
            <a:ext cx="1280765" cy="256530"/>
          </a:xfrm>
          <a:prstGeom prst="rect">
            <a:avLst/>
          </a:prstGeom>
          <a:noFill/>
          <a:ln/>
        </p:spPr>
        <p:txBody>
          <a:bodyPr wrap="square" lIns="0" tIns="0" rIns="0" bIns="0" rtlCol="0" anchor="t">
            <a:normAutofit/>
          </a:bodyPr>
          <a:lstStyle/>
          <a:p>
            <a:pPr marL="0" indent="0" algn="l">
              <a:lnSpc>
                <a:spcPts val="1820"/>
              </a:lnSpc>
              <a:buNone/>
            </a:pPr>
            <a:r>
              <a:rPr lang="en-US" sz="1300" dirty="0">
                <a:ln>
                  <a:solidFill>
                    <a:schemeClr val="bg1"/>
                  </a:solidFill>
                </a:ln>
                <a:solidFill>
                  <a:schemeClr val="bg1"/>
                </a:solidFill>
                <a:latin typeface="Inter" pitchFamily="34" charset="0"/>
                <a:ea typeface="Inter" pitchFamily="34" charset="-122"/>
                <a:cs typeface="Inter" pitchFamily="34" charset="-120"/>
              </a:rPr>
              <a:t>OpenStreetMap</a:t>
            </a:r>
            <a:endParaRPr lang="en-US" sz="1300" dirty="0">
              <a:ln>
                <a:solidFill>
                  <a:schemeClr val="bg1"/>
                </a:solidFill>
              </a:ln>
              <a:solidFill>
                <a:schemeClr val="bg1"/>
              </a:solidFill>
            </a:endParaRPr>
          </a:p>
        </p:txBody>
      </p:sp>
      <p:sp>
        <p:nvSpPr>
          <p:cNvPr id="20" name="Text 18"/>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7C4BF"/>
                </a:solidFill>
                <a:latin typeface="Inter" pitchFamily="34" charset="0"/>
                <a:ea typeface="Inter" pitchFamily="34" charset="-122"/>
                <a:cs typeface="Inter" pitchFamily="34" charset="-120"/>
              </a:rPr>
              <a:t>Around 40 nodes · 4 AI nodes · 10 agent tools</a:t>
            </a:r>
            <a:endParaRPr lang="en-US" sz="1300" dirty="0"/>
          </a:p>
        </p:txBody>
      </p:sp>
      <p:sp>
        <p:nvSpPr>
          <p:cNvPr id="21" name="Shape 16">
            <a:extLst>
              <a:ext uri="{FF2B5EF4-FFF2-40B4-BE49-F238E27FC236}">
                <a16:creationId xmlns:a16="http://schemas.microsoft.com/office/drawing/2014/main" id="{E76384C7-C02D-98C0-58F4-A496CF4A33E2}"/>
              </a:ext>
            </a:extLst>
          </p:cNvPr>
          <p:cNvSpPr/>
          <p:nvPr/>
        </p:nvSpPr>
        <p:spPr>
          <a:xfrm>
            <a:off x="9768433" y="5417840"/>
            <a:ext cx="1560165" cy="408930"/>
          </a:xfrm>
          <a:prstGeom prst="roundRect">
            <a:avLst>
              <a:gd name="adj" fmla="val 50000"/>
            </a:avLst>
          </a:prstGeom>
          <a:solidFill>
            <a:schemeClr val="accent2"/>
          </a:solidFill>
          <a:ln/>
        </p:spPr>
        <p:txBody>
          <a:bodyPr/>
          <a:lstStyle/>
          <a:p>
            <a:endParaRPr lang="en-US"/>
          </a:p>
        </p:txBody>
      </p:sp>
      <p:sp>
        <p:nvSpPr>
          <p:cNvPr id="22" name="Text 17">
            <a:extLst>
              <a:ext uri="{FF2B5EF4-FFF2-40B4-BE49-F238E27FC236}">
                <a16:creationId xmlns:a16="http://schemas.microsoft.com/office/drawing/2014/main" id="{E47B5D14-8172-60AC-A40F-2C0624B412CF}"/>
              </a:ext>
            </a:extLst>
          </p:cNvPr>
          <p:cNvSpPr/>
          <p:nvPr/>
        </p:nvSpPr>
        <p:spPr>
          <a:xfrm>
            <a:off x="9969662" y="5508005"/>
            <a:ext cx="1280765" cy="256530"/>
          </a:xfrm>
          <a:prstGeom prst="rect">
            <a:avLst/>
          </a:prstGeom>
          <a:noFill/>
          <a:ln/>
        </p:spPr>
        <p:txBody>
          <a:bodyPr wrap="square" lIns="0" tIns="0" rIns="0" bIns="0" rtlCol="0" anchor="t">
            <a:normAutofit fontScale="70000" lnSpcReduction="20000"/>
          </a:bodyPr>
          <a:lstStyle/>
          <a:p>
            <a:pPr>
              <a:lnSpc>
                <a:spcPts val="1820"/>
              </a:lnSpc>
            </a:pPr>
            <a:r>
              <a:rPr lang="en-US" b="1" dirty="0" err="1">
                <a:solidFill>
                  <a:schemeClr val="bg1"/>
                </a:solidFill>
              </a:rPr>
              <a:t>Tavily</a:t>
            </a:r>
            <a:r>
              <a:rPr lang="en-US" b="1" dirty="0">
                <a:solidFill>
                  <a:schemeClr val="bg1"/>
                </a:solidFill>
              </a:rPr>
              <a:t> web search</a:t>
            </a:r>
            <a:endParaRPr lang="en-US" sz="1300" dirty="0">
              <a:ln>
                <a:solidFill>
                  <a:schemeClr val="bg1"/>
                </a:solidFill>
              </a:ln>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THE BRIEF</a:t>
            </a:r>
            <a:endParaRPr lang="en-US" sz="1300" dirty="0"/>
          </a:p>
        </p:txBody>
      </p:sp>
      <p:sp>
        <p:nvSpPr>
          <p:cNvPr id="3" name="Text 1"/>
          <p:cNvSpPr/>
          <p:nvPr/>
        </p:nvSpPr>
        <p:spPr>
          <a:xfrm>
            <a:off x="812800" y="1196330"/>
            <a:ext cx="10883392" cy="52194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1D2B2A"/>
                </a:solidFill>
                <a:latin typeface="Fraunces" pitchFamily="34" charset="0"/>
                <a:ea typeface="Fraunces" pitchFamily="34" charset="-122"/>
                <a:cs typeface="Fraunces" pitchFamily="34" charset="-120"/>
              </a:rPr>
              <a:t>How Hio meets it</a:t>
            </a:r>
            <a:endParaRPr lang="en-US" sz="3400" dirty="0"/>
          </a:p>
        </p:txBody>
      </p:sp>
      <p:sp>
        <p:nvSpPr>
          <p:cNvPr id="4" name="Shape 2"/>
          <p:cNvSpPr/>
          <p:nvPr/>
        </p:nvSpPr>
        <p:spPr>
          <a:xfrm>
            <a:off x="812800" y="2387600"/>
            <a:ext cx="10566400" cy="609600"/>
          </a:xfrm>
          <a:prstGeom prst="roundRect">
            <a:avLst>
              <a:gd name="adj" fmla="val 18750"/>
            </a:avLst>
          </a:prstGeom>
          <a:solidFill>
            <a:srgbClr val="FBF9F4"/>
          </a:solidFill>
          <a:ln/>
        </p:spPr>
        <p:txBody>
          <a:bodyPr/>
          <a:lstStyle/>
          <a:p>
            <a:endParaRPr lang="en-US"/>
          </a:p>
        </p:txBody>
      </p:sp>
      <p:sp>
        <p:nvSpPr>
          <p:cNvPr id="5" name="Shape 3"/>
          <p:cNvSpPr/>
          <p:nvPr/>
        </p:nvSpPr>
        <p:spPr>
          <a:xfrm>
            <a:off x="1016000" y="2552700"/>
            <a:ext cx="279400" cy="279400"/>
          </a:xfrm>
          <a:prstGeom prst="roundRect">
            <a:avLst>
              <a:gd name="adj" fmla="val 50000"/>
            </a:avLst>
          </a:prstGeom>
          <a:solidFill>
            <a:srgbClr val="4F7D6A"/>
          </a:solidFill>
          <a:ln/>
        </p:spPr>
        <p:txBody>
          <a:bodyPr/>
          <a:lstStyle/>
          <a:p>
            <a:endParaRPr lang="en-US"/>
          </a:p>
        </p:txBody>
      </p:sp>
      <p:sp>
        <p:nvSpPr>
          <p:cNvPr id="6" name="Text 4"/>
          <p:cNvSpPr/>
          <p:nvPr/>
        </p:nvSpPr>
        <p:spPr>
          <a:xfrm>
            <a:off x="1079798" y="2576810"/>
            <a:ext cx="20260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p>
        </p:txBody>
      </p:sp>
      <p:sp>
        <p:nvSpPr>
          <p:cNvPr id="7" name="Text 5"/>
          <p:cNvSpPr/>
          <p:nvPr/>
        </p:nvSpPr>
        <p:spPr>
          <a:xfrm>
            <a:off x="1473200" y="2554585"/>
            <a:ext cx="3074035" cy="300980"/>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D2B2A"/>
                </a:solidFill>
                <a:latin typeface="Inter" pitchFamily="34" charset="0"/>
                <a:ea typeface="Inter" pitchFamily="34" charset="-122"/>
                <a:cs typeface="Inter" pitchFamily="34" charset="-120"/>
              </a:rPr>
              <a:t>6+ connected nodes</a:t>
            </a:r>
            <a:endParaRPr lang="en-US" sz="1550" dirty="0"/>
          </a:p>
        </p:txBody>
      </p:sp>
      <p:sp>
        <p:nvSpPr>
          <p:cNvPr id="8" name="Text 6"/>
          <p:cNvSpPr/>
          <p:nvPr/>
        </p:nvSpPr>
        <p:spPr>
          <a:xfrm>
            <a:off x="4635500" y="2554585"/>
            <a:ext cx="6736715" cy="300980"/>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39443F"/>
                </a:solidFill>
                <a:latin typeface="Inter" pitchFamily="34" charset="0"/>
                <a:ea typeface="Inter" pitchFamily="34" charset="-122"/>
                <a:cs typeface="Inter" pitchFamily="34" charset="-120"/>
              </a:rPr>
              <a:t>Around 40, across two branches</a:t>
            </a:r>
            <a:endParaRPr lang="en-US" sz="1550" dirty="0"/>
          </a:p>
        </p:txBody>
      </p:sp>
      <p:sp>
        <p:nvSpPr>
          <p:cNvPr id="9" name="Shape 7"/>
          <p:cNvSpPr/>
          <p:nvPr/>
        </p:nvSpPr>
        <p:spPr>
          <a:xfrm>
            <a:off x="812800" y="3098800"/>
            <a:ext cx="10566400" cy="609600"/>
          </a:xfrm>
          <a:prstGeom prst="roundRect">
            <a:avLst>
              <a:gd name="adj" fmla="val 18750"/>
            </a:avLst>
          </a:prstGeom>
          <a:solidFill>
            <a:srgbClr val="FBF9F4"/>
          </a:solidFill>
          <a:ln/>
        </p:spPr>
        <p:txBody>
          <a:bodyPr/>
          <a:lstStyle/>
          <a:p>
            <a:endParaRPr lang="en-US"/>
          </a:p>
        </p:txBody>
      </p:sp>
      <p:sp>
        <p:nvSpPr>
          <p:cNvPr id="10" name="Shape 8"/>
          <p:cNvSpPr/>
          <p:nvPr/>
        </p:nvSpPr>
        <p:spPr>
          <a:xfrm>
            <a:off x="1016000" y="3263900"/>
            <a:ext cx="279400" cy="279400"/>
          </a:xfrm>
          <a:prstGeom prst="roundRect">
            <a:avLst>
              <a:gd name="adj" fmla="val 50000"/>
            </a:avLst>
          </a:prstGeom>
          <a:solidFill>
            <a:srgbClr val="4F7D6A"/>
          </a:solidFill>
          <a:ln/>
        </p:spPr>
        <p:txBody>
          <a:bodyPr/>
          <a:lstStyle/>
          <a:p>
            <a:endParaRPr lang="en-US"/>
          </a:p>
        </p:txBody>
      </p:sp>
      <p:sp>
        <p:nvSpPr>
          <p:cNvPr id="11" name="Text 9"/>
          <p:cNvSpPr/>
          <p:nvPr/>
        </p:nvSpPr>
        <p:spPr>
          <a:xfrm>
            <a:off x="1079798" y="3288010"/>
            <a:ext cx="20260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p>
        </p:txBody>
      </p:sp>
      <p:sp>
        <p:nvSpPr>
          <p:cNvPr id="12" name="Text 10"/>
          <p:cNvSpPr/>
          <p:nvPr/>
        </p:nvSpPr>
        <p:spPr>
          <a:xfrm>
            <a:off x="1473200" y="3265785"/>
            <a:ext cx="3074035" cy="300980"/>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D2B2A"/>
                </a:solidFill>
                <a:latin typeface="Inter" pitchFamily="34" charset="0"/>
                <a:ea typeface="Inter" pitchFamily="34" charset="-122"/>
                <a:cs typeface="Inter" pitchFamily="34" charset="-120"/>
              </a:rPr>
              <a:t>At least one AI node</a:t>
            </a:r>
            <a:endParaRPr lang="en-US" sz="1550" dirty="0"/>
          </a:p>
        </p:txBody>
      </p:sp>
      <p:sp>
        <p:nvSpPr>
          <p:cNvPr id="13" name="Text 11"/>
          <p:cNvSpPr/>
          <p:nvPr/>
        </p:nvSpPr>
        <p:spPr>
          <a:xfrm>
            <a:off x="4635500" y="3265785"/>
            <a:ext cx="6736715" cy="300980"/>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39443F"/>
                </a:solidFill>
                <a:latin typeface="Inter" pitchFamily="34" charset="0"/>
                <a:ea typeface="Inter" pitchFamily="34" charset="-122"/>
                <a:cs typeface="Inter" pitchFamily="34" charset="-120"/>
              </a:rPr>
              <a:t>Four, plus Whisper for voice</a:t>
            </a:r>
            <a:endParaRPr lang="en-US" sz="1550" dirty="0"/>
          </a:p>
        </p:txBody>
      </p:sp>
      <p:sp>
        <p:nvSpPr>
          <p:cNvPr id="14" name="Shape 12"/>
          <p:cNvSpPr/>
          <p:nvPr/>
        </p:nvSpPr>
        <p:spPr>
          <a:xfrm>
            <a:off x="812800" y="3810000"/>
            <a:ext cx="10566400" cy="609600"/>
          </a:xfrm>
          <a:prstGeom prst="roundRect">
            <a:avLst>
              <a:gd name="adj" fmla="val 18750"/>
            </a:avLst>
          </a:prstGeom>
          <a:solidFill>
            <a:srgbClr val="FBF9F4"/>
          </a:solidFill>
          <a:ln/>
        </p:spPr>
        <p:txBody>
          <a:bodyPr/>
          <a:lstStyle/>
          <a:p>
            <a:endParaRPr lang="en-US"/>
          </a:p>
        </p:txBody>
      </p:sp>
      <p:sp>
        <p:nvSpPr>
          <p:cNvPr id="15" name="Shape 13"/>
          <p:cNvSpPr/>
          <p:nvPr/>
        </p:nvSpPr>
        <p:spPr>
          <a:xfrm>
            <a:off x="1016000" y="3975100"/>
            <a:ext cx="279400" cy="279400"/>
          </a:xfrm>
          <a:prstGeom prst="roundRect">
            <a:avLst>
              <a:gd name="adj" fmla="val 50000"/>
            </a:avLst>
          </a:prstGeom>
          <a:solidFill>
            <a:srgbClr val="4F7D6A"/>
          </a:solidFill>
          <a:ln/>
        </p:spPr>
        <p:txBody>
          <a:bodyPr/>
          <a:lstStyle/>
          <a:p>
            <a:endParaRPr lang="en-US"/>
          </a:p>
        </p:txBody>
      </p:sp>
      <p:sp>
        <p:nvSpPr>
          <p:cNvPr id="16" name="Text 14"/>
          <p:cNvSpPr/>
          <p:nvPr/>
        </p:nvSpPr>
        <p:spPr>
          <a:xfrm>
            <a:off x="1079798" y="3999210"/>
            <a:ext cx="20260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p>
        </p:txBody>
      </p:sp>
      <p:sp>
        <p:nvSpPr>
          <p:cNvPr id="17" name="Text 15"/>
          <p:cNvSpPr/>
          <p:nvPr/>
        </p:nvSpPr>
        <p:spPr>
          <a:xfrm>
            <a:off x="1473200" y="3976985"/>
            <a:ext cx="3074035" cy="300980"/>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D2B2A"/>
                </a:solidFill>
                <a:latin typeface="Inter" pitchFamily="34" charset="0"/>
                <a:ea typeface="Inter" pitchFamily="34" charset="-122"/>
                <a:cs typeface="Inter" pitchFamily="34" charset="-120"/>
              </a:rPr>
              <a:t>Runs automatically</a:t>
            </a:r>
            <a:endParaRPr lang="en-US" sz="1550" dirty="0"/>
          </a:p>
        </p:txBody>
      </p:sp>
      <p:sp>
        <p:nvSpPr>
          <p:cNvPr id="18" name="Text 16"/>
          <p:cNvSpPr/>
          <p:nvPr/>
        </p:nvSpPr>
        <p:spPr>
          <a:xfrm>
            <a:off x="4635500" y="3976985"/>
            <a:ext cx="6736715" cy="300980"/>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39443F"/>
                </a:solidFill>
                <a:latin typeface="Inter" pitchFamily="34" charset="0"/>
                <a:ea typeface="Inter" pitchFamily="34" charset="-122"/>
                <a:cs typeface="Inter" pitchFamily="34" charset="-120"/>
              </a:rPr>
              <a:t>Messages, and an hourly schedule</a:t>
            </a:r>
            <a:endParaRPr lang="en-US" sz="1550" dirty="0"/>
          </a:p>
        </p:txBody>
      </p:sp>
      <p:sp>
        <p:nvSpPr>
          <p:cNvPr id="19" name="Shape 17"/>
          <p:cNvSpPr/>
          <p:nvPr/>
        </p:nvSpPr>
        <p:spPr>
          <a:xfrm>
            <a:off x="812800" y="4521200"/>
            <a:ext cx="10566400" cy="609600"/>
          </a:xfrm>
          <a:prstGeom prst="roundRect">
            <a:avLst>
              <a:gd name="adj" fmla="val 18750"/>
            </a:avLst>
          </a:prstGeom>
          <a:solidFill>
            <a:srgbClr val="FBF9F4"/>
          </a:solidFill>
          <a:ln/>
        </p:spPr>
        <p:txBody>
          <a:bodyPr/>
          <a:lstStyle/>
          <a:p>
            <a:endParaRPr lang="en-US"/>
          </a:p>
        </p:txBody>
      </p:sp>
      <p:sp>
        <p:nvSpPr>
          <p:cNvPr id="20" name="Shape 18"/>
          <p:cNvSpPr/>
          <p:nvPr/>
        </p:nvSpPr>
        <p:spPr>
          <a:xfrm>
            <a:off x="1016000" y="4686300"/>
            <a:ext cx="279400" cy="279400"/>
          </a:xfrm>
          <a:prstGeom prst="roundRect">
            <a:avLst>
              <a:gd name="adj" fmla="val 50000"/>
            </a:avLst>
          </a:prstGeom>
          <a:solidFill>
            <a:srgbClr val="4F7D6A"/>
          </a:solidFill>
          <a:ln/>
        </p:spPr>
        <p:txBody>
          <a:bodyPr/>
          <a:lstStyle/>
          <a:p>
            <a:endParaRPr lang="en-US"/>
          </a:p>
        </p:txBody>
      </p:sp>
      <p:sp>
        <p:nvSpPr>
          <p:cNvPr id="21" name="Text 19"/>
          <p:cNvSpPr/>
          <p:nvPr/>
        </p:nvSpPr>
        <p:spPr>
          <a:xfrm>
            <a:off x="1079798" y="4710410"/>
            <a:ext cx="20260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Inter" pitchFamily="34" charset="0"/>
                <a:ea typeface="Inter" pitchFamily="34" charset="-122"/>
                <a:cs typeface="Inter" pitchFamily="34" charset="-120"/>
              </a:rPr>
              <a:t>✓</a:t>
            </a:r>
            <a:endParaRPr lang="en-US" sz="1300" dirty="0"/>
          </a:p>
        </p:txBody>
      </p:sp>
      <p:sp>
        <p:nvSpPr>
          <p:cNvPr id="22" name="Text 20"/>
          <p:cNvSpPr/>
          <p:nvPr/>
        </p:nvSpPr>
        <p:spPr>
          <a:xfrm>
            <a:off x="1473200" y="4688185"/>
            <a:ext cx="3074035" cy="300980"/>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1D2B2A"/>
                </a:solidFill>
                <a:latin typeface="Inter" pitchFamily="34" charset="0"/>
                <a:ea typeface="Inter" pitchFamily="34" charset="-122"/>
                <a:cs typeface="Inter" pitchFamily="34" charset="-120"/>
              </a:rPr>
              <a:t>A real SDG 3 need</a:t>
            </a:r>
            <a:endParaRPr lang="en-US" sz="1550" dirty="0"/>
          </a:p>
        </p:txBody>
      </p:sp>
      <p:sp>
        <p:nvSpPr>
          <p:cNvPr id="23" name="Text 21"/>
          <p:cNvSpPr/>
          <p:nvPr/>
        </p:nvSpPr>
        <p:spPr>
          <a:xfrm>
            <a:off x="4635500" y="4688185"/>
            <a:ext cx="6736715" cy="300980"/>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39443F"/>
                </a:solidFill>
                <a:latin typeface="Inter" pitchFamily="34" charset="0"/>
                <a:ea typeface="Inter" pitchFamily="34" charset="-122"/>
                <a:cs typeface="Inter" pitchFamily="34" charset="-120"/>
              </a:rPr>
              <a:t>Overwhelm, isolation, lost structure</a:t>
            </a:r>
            <a:endParaRPr lang="en-US" sz="1550" dirty="0"/>
          </a:p>
        </p:txBody>
      </p:sp>
      <p:sp>
        <p:nvSpPr>
          <p:cNvPr id="24" name="Shape 22"/>
          <p:cNvSpPr/>
          <p:nvPr/>
        </p:nvSpPr>
        <p:spPr>
          <a:xfrm>
            <a:off x="812800" y="5232400"/>
            <a:ext cx="10566400" cy="609600"/>
          </a:xfrm>
          <a:prstGeom prst="roundRect">
            <a:avLst>
              <a:gd name="adj" fmla="val 18750"/>
            </a:avLst>
          </a:prstGeom>
          <a:solidFill>
            <a:srgbClr val="1D2B2A"/>
          </a:solidFill>
          <a:ln/>
        </p:spPr>
        <p:txBody>
          <a:bodyPr/>
          <a:lstStyle/>
          <a:p>
            <a:endParaRPr lang="en-US"/>
          </a:p>
        </p:txBody>
      </p:sp>
      <p:sp>
        <p:nvSpPr>
          <p:cNvPr id="25" name="Shape 23"/>
          <p:cNvSpPr/>
          <p:nvPr/>
        </p:nvSpPr>
        <p:spPr>
          <a:xfrm>
            <a:off x="1016000" y="5397500"/>
            <a:ext cx="279400" cy="279400"/>
          </a:xfrm>
          <a:prstGeom prst="roundRect">
            <a:avLst>
              <a:gd name="adj" fmla="val 50000"/>
            </a:avLst>
          </a:prstGeom>
          <a:solidFill>
            <a:srgbClr val="D9975B"/>
          </a:solidFill>
          <a:ln/>
        </p:spPr>
        <p:txBody>
          <a:bodyPr/>
          <a:lstStyle/>
          <a:p>
            <a:endParaRPr lang="en-US"/>
          </a:p>
        </p:txBody>
      </p:sp>
      <p:sp>
        <p:nvSpPr>
          <p:cNvPr id="26" name="Text 24"/>
          <p:cNvSpPr/>
          <p:nvPr/>
        </p:nvSpPr>
        <p:spPr>
          <a:xfrm>
            <a:off x="1079798" y="5421610"/>
            <a:ext cx="20260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2A"/>
                </a:solidFill>
                <a:latin typeface="Inter" pitchFamily="34" charset="0"/>
                <a:ea typeface="Inter" pitchFamily="34" charset="-122"/>
                <a:cs typeface="Inter" pitchFamily="34" charset="-120"/>
              </a:rPr>
              <a:t>✓</a:t>
            </a:r>
            <a:endParaRPr lang="en-US" sz="1300" dirty="0"/>
          </a:p>
        </p:txBody>
      </p:sp>
      <p:sp>
        <p:nvSpPr>
          <p:cNvPr id="27" name="Text 25"/>
          <p:cNvSpPr/>
          <p:nvPr/>
        </p:nvSpPr>
        <p:spPr>
          <a:xfrm>
            <a:off x="1473200" y="5399385"/>
            <a:ext cx="3074035" cy="300980"/>
          </a:xfrm>
          <a:prstGeom prst="rect">
            <a:avLst/>
          </a:prstGeom>
          <a:noFill/>
          <a:ln/>
        </p:spPr>
        <p:txBody>
          <a:bodyPr wrap="square" lIns="0" tIns="0" rIns="0" bIns="0" rtlCol="0" anchor="t">
            <a:normAutofit/>
          </a:bodyPr>
          <a:lstStyle/>
          <a:p>
            <a:pPr marL="0" indent="0" algn="l">
              <a:lnSpc>
                <a:spcPts val="2170"/>
              </a:lnSpc>
              <a:buNone/>
            </a:pPr>
            <a:r>
              <a:rPr lang="en-US" sz="1550" b="1" dirty="0">
                <a:solidFill>
                  <a:srgbClr val="F3EFE6"/>
                </a:solidFill>
                <a:latin typeface="Inter" pitchFamily="34" charset="0"/>
                <a:ea typeface="Inter" pitchFamily="34" charset="-122"/>
                <a:cs typeface="Inter" pitchFamily="34" charset="-120"/>
              </a:rPr>
              <a:t>Working, not a mock-up</a:t>
            </a:r>
            <a:endParaRPr lang="en-US" sz="1550" dirty="0"/>
          </a:p>
        </p:txBody>
      </p:sp>
      <p:sp>
        <p:nvSpPr>
          <p:cNvPr id="28" name="Text 26"/>
          <p:cNvSpPr/>
          <p:nvPr/>
        </p:nvSpPr>
        <p:spPr>
          <a:xfrm>
            <a:off x="4635500" y="5399385"/>
            <a:ext cx="6736715" cy="300980"/>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DCE4E0"/>
                </a:solidFill>
                <a:latin typeface="Inter" pitchFamily="34" charset="0"/>
                <a:ea typeface="Inter" pitchFamily="34" charset="-122"/>
                <a:cs typeface="Inter" pitchFamily="34" charset="-120"/>
              </a:rPr>
              <a:t>Live bot, real calendar, real entries</a:t>
            </a:r>
            <a:endParaRPr lang="en-US" sz="1550" dirty="0"/>
          </a:p>
        </p:txBody>
      </p:sp>
      <p:sp>
        <p:nvSpPr>
          <p:cNvPr id="29" name="Text 27"/>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Hio · built in n8n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B2A"/>
        </a:solidFill>
        <a:effectLst/>
      </p:bgPr>
    </p:bg>
    <p:spTree>
      <p:nvGrpSpPr>
        <p:cNvPr id="1" name=""/>
        <p:cNvGrpSpPr/>
        <p:nvPr/>
      </p:nvGrpSpPr>
      <p:grpSpPr>
        <a:xfrm>
          <a:off x="0" y="0"/>
          <a:ext cx="0" cy="0"/>
          <a:chOff x="0" y="0"/>
          <a:chExt cx="0" cy="0"/>
        </a:xfrm>
      </p:grpSpPr>
      <p:sp>
        <p:nvSpPr>
          <p:cNvPr id="2" name="Text 0"/>
          <p:cNvSpPr/>
          <p:nvPr/>
        </p:nvSpPr>
        <p:spPr>
          <a:xfrm>
            <a:off x="812800" y="1391295"/>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D9975B"/>
                </a:solidFill>
                <a:latin typeface="Inter" pitchFamily="34" charset="0"/>
                <a:ea typeface="Inter" pitchFamily="34" charset="-122"/>
                <a:cs typeface="Inter" pitchFamily="34" charset="-120"/>
              </a:rPr>
              <a:t>DEMO</a:t>
            </a:r>
            <a:endParaRPr lang="en-US" sz="1300" dirty="0"/>
          </a:p>
        </p:txBody>
      </p:sp>
      <p:sp>
        <p:nvSpPr>
          <p:cNvPr id="3" name="Text 1"/>
          <p:cNvSpPr/>
          <p:nvPr/>
        </p:nvSpPr>
        <p:spPr>
          <a:xfrm>
            <a:off x="812800" y="1952625"/>
            <a:ext cx="10883392" cy="758825"/>
          </a:xfrm>
          <a:prstGeom prst="rect">
            <a:avLst/>
          </a:prstGeom>
          <a:noFill/>
          <a:ln/>
        </p:spPr>
        <p:txBody>
          <a:bodyPr wrap="square" lIns="0" tIns="0" rIns="0" bIns="0" rtlCol="0" anchor="t">
            <a:normAutofit/>
          </a:bodyPr>
          <a:lstStyle/>
          <a:p>
            <a:pPr marL="0" indent="0" algn="l">
              <a:lnSpc>
                <a:spcPts val="5775"/>
              </a:lnSpc>
              <a:buNone/>
            </a:pPr>
            <a:r>
              <a:rPr lang="en-US" sz="5500" dirty="0">
                <a:solidFill>
                  <a:srgbClr val="F3EFE6"/>
                </a:solidFill>
                <a:latin typeface="Fraunces" pitchFamily="34" charset="0"/>
                <a:ea typeface="Fraunces" pitchFamily="34" charset="-122"/>
                <a:cs typeface="Fraunces" pitchFamily="34" charset="-120"/>
              </a:rPr>
              <a:t>A heavy week, handled</a:t>
            </a:r>
            <a:endParaRPr lang="en-US" sz="5500" dirty="0"/>
          </a:p>
        </p:txBody>
      </p:sp>
      <p:sp>
        <p:nvSpPr>
          <p:cNvPr id="4" name="Text 2"/>
          <p:cNvSpPr/>
          <p:nvPr/>
        </p:nvSpPr>
        <p:spPr>
          <a:xfrm>
            <a:off x="812800" y="3016250"/>
            <a:ext cx="8829675" cy="1914525"/>
          </a:xfrm>
          <a:prstGeom prst="rect">
            <a:avLst/>
          </a:prstGeom>
          <a:noFill/>
          <a:ln/>
        </p:spPr>
        <p:txBody>
          <a:bodyPr wrap="square" lIns="0" tIns="0" rIns="0" bIns="0" rtlCol="0" anchor="t">
            <a:normAutofit/>
          </a:bodyPr>
          <a:lstStyle/>
          <a:p>
            <a:pPr marL="342900" indent="-342900" algn="l">
              <a:lnSpc>
                <a:spcPts val="2975"/>
              </a:lnSpc>
              <a:buSzPct val="100000"/>
              <a:buFont typeface="+mj-lt"/>
              <a:buAutoNum type="arabicPeriod"/>
            </a:pPr>
            <a:r>
              <a:rPr lang="en-US" sz="1700" dirty="0">
                <a:solidFill>
                  <a:srgbClr val="DCE4E0"/>
                </a:solidFill>
                <a:latin typeface="Inter" pitchFamily="34" charset="0"/>
                <a:ea typeface="Inter" pitchFamily="34" charset="-122"/>
                <a:cs typeface="Inter" pitchFamily="34" charset="-120"/>
              </a:rPr>
              <a:t>A new user says hi, and Hio sets them up in conversation</a:t>
            </a:r>
            <a:endParaRPr lang="en-US" sz="1700" dirty="0"/>
          </a:p>
          <a:p>
            <a:pPr marL="342900" indent="-342900" algn="l">
              <a:lnSpc>
                <a:spcPts val="2975"/>
              </a:lnSpc>
              <a:buSzPct val="100000"/>
              <a:buFont typeface="+mj-lt"/>
              <a:buAutoNum type="arabicPeriod"/>
            </a:pPr>
            <a:r>
              <a:rPr lang="en-US" sz="1700" dirty="0">
                <a:solidFill>
                  <a:srgbClr val="DCE4E0"/>
                </a:solidFill>
                <a:latin typeface="Inter" pitchFamily="34" charset="0"/>
                <a:ea typeface="Inter" pitchFamily="34" charset="-122"/>
                <a:cs typeface="Inter" pitchFamily="34" charset="-120"/>
              </a:rPr>
              <a:t>"add gym sat 3pm" lands in the real calendar, and a clash gets caught</a:t>
            </a:r>
            <a:endParaRPr lang="en-US" sz="1700" dirty="0"/>
          </a:p>
          <a:p>
            <a:pPr marL="342900" indent="-342900" algn="l">
              <a:lnSpc>
                <a:spcPts val="2975"/>
              </a:lnSpc>
              <a:buSzPct val="100000"/>
              <a:buFont typeface="+mj-lt"/>
              <a:buAutoNum type="arabicPeriod"/>
            </a:pPr>
            <a:r>
              <a:rPr lang="en-US" sz="1700" dirty="0">
                <a:solidFill>
                  <a:srgbClr val="DCE4E0"/>
                </a:solidFill>
                <a:latin typeface="Inter" pitchFamily="34" charset="0"/>
                <a:ea typeface="Inter" pitchFamily="34" charset="-122"/>
                <a:cs typeface="Inter" pitchFamily="34" charset="-120"/>
              </a:rPr>
              <a:t>A voice note becomes a journal entry, opened with a quote</a:t>
            </a:r>
            <a:endParaRPr lang="en-US" sz="1700" dirty="0"/>
          </a:p>
          <a:p>
            <a:pPr marL="342900" indent="-342900" algn="l">
              <a:lnSpc>
                <a:spcPts val="2975"/>
              </a:lnSpc>
              <a:buSzPct val="100000"/>
              <a:buFont typeface="+mj-lt"/>
              <a:buAutoNum type="arabicPeriod"/>
            </a:pPr>
            <a:r>
              <a:rPr lang="en-US" sz="1700" dirty="0">
                <a:solidFill>
                  <a:srgbClr val="DCE4E0"/>
                </a:solidFill>
                <a:latin typeface="Inter" pitchFamily="34" charset="0"/>
                <a:ea typeface="Inter" pitchFamily="34" charset="-122"/>
                <a:cs typeface="Inter" pitchFamily="34" charset="-120"/>
              </a:rPr>
              <a:t>A check-in arrives without anyone asking for it</a:t>
            </a:r>
            <a:endParaRPr lang="en-US" sz="1700" dirty="0"/>
          </a:p>
          <a:p>
            <a:pPr marL="342900" indent="-342900" algn="l">
              <a:lnSpc>
                <a:spcPts val="2975"/>
              </a:lnSpc>
              <a:buSzPct val="100000"/>
              <a:buFont typeface="+mj-lt"/>
              <a:buAutoNum type="arabicPeriod"/>
            </a:pPr>
            <a:r>
              <a:rPr lang="en-US" sz="1700" dirty="0">
                <a:solidFill>
                  <a:srgbClr val="DCE4E0"/>
                </a:solidFill>
                <a:latin typeface="Inter" pitchFamily="34" charset="0"/>
                <a:ea typeface="Inter" pitchFamily="34" charset="-122"/>
                <a:cs typeface="Inter" pitchFamily="34" charset="-120"/>
              </a:rPr>
              <a:t>A worrying message stops everything and hands over to 113</a:t>
            </a:r>
            <a:endParaRPr lang="en-US" sz="1700" dirty="0"/>
          </a:p>
        </p:txBody>
      </p:sp>
      <p:sp>
        <p:nvSpPr>
          <p:cNvPr id="5" name="Text 3"/>
          <p:cNvSpPr/>
          <p:nvPr/>
        </p:nvSpPr>
        <p:spPr>
          <a:xfrm>
            <a:off x="812800" y="5235575"/>
            <a:ext cx="10883392" cy="256530"/>
          </a:xfrm>
          <a:prstGeom prst="rect">
            <a:avLst/>
          </a:prstGeom>
          <a:noFill/>
          <a:ln/>
        </p:spPr>
        <p:txBody>
          <a:bodyPr wrap="square" lIns="0" tIns="0" rIns="0" bIns="0" rtlCol="0" anchor="t">
            <a:normAutofit/>
          </a:bodyPr>
          <a:lstStyle/>
          <a:p>
            <a:pPr marL="0" indent="0" algn="l">
              <a:lnSpc>
                <a:spcPts val="1820"/>
              </a:lnSpc>
              <a:buNone/>
            </a:pPr>
            <a:r>
              <a:rPr lang="en-US" sz="1300">
                <a:solidFill>
                  <a:srgbClr val="B7C4BF"/>
                </a:solidFill>
                <a:latin typeface="Inter" pitchFamily="34" charset="0"/>
                <a:ea typeface="Inter" pitchFamily="34" charset="-122"/>
                <a:cs typeface="Inter" pitchFamily="34" charset="-120"/>
              </a:rPr>
              <a:t>Telegram :</a:t>
            </a:r>
            <a:r>
              <a:rPr lang="en-US" sz="1300" dirty="0">
                <a:solidFill>
                  <a:srgbClr val="B7C4BF"/>
                </a:solidFill>
                <a:latin typeface="Inter" pitchFamily="34" charset="0"/>
                <a:ea typeface="Inter" pitchFamily="34" charset="-122"/>
                <a:cs typeface="Inter" pitchFamily="34" charset="-120"/>
              </a:rPr>
              <a:t> </a:t>
            </a:r>
            <a:r>
              <a:rPr lang="en-US" sz="1300">
                <a:solidFill>
                  <a:srgbClr val="B7C4BF"/>
                </a:solidFill>
                <a:latin typeface="Inter" pitchFamily="34" charset="0"/>
                <a:ea typeface="Inter" pitchFamily="34" charset="-122"/>
                <a:cs typeface="Inter" pitchFamily="34" charset="-120"/>
              </a:rPr>
              <a:t>@</a:t>
            </a:r>
            <a:r>
              <a:rPr lang="en-US" sz="1300" dirty="0" err="1">
                <a:solidFill>
                  <a:srgbClr val="B7C4BF"/>
                </a:solidFill>
                <a:latin typeface="Inter" pitchFamily="34" charset="0"/>
                <a:ea typeface="Inter" pitchFamily="34" charset="-122"/>
                <a:cs typeface="Inter" pitchFamily="34" charset="-120"/>
              </a:rPr>
              <a:t>hoinibot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7EC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ETHICAL REFLECTION</a:t>
            </a:r>
            <a:endParaRPr lang="en-US" sz="1300" dirty="0"/>
          </a:p>
        </p:txBody>
      </p:sp>
      <p:sp>
        <p:nvSpPr>
          <p:cNvPr id="3" name="Text 1"/>
          <p:cNvSpPr/>
          <p:nvPr/>
        </p:nvSpPr>
        <p:spPr>
          <a:xfrm>
            <a:off x="812800" y="1196330"/>
            <a:ext cx="10883392" cy="52194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1D2B2A"/>
                </a:solidFill>
                <a:latin typeface="Fraunces" pitchFamily="34" charset="0"/>
                <a:ea typeface="Fraunces" pitchFamily="34" charset="-122"/>
                <a:cs typeface="Fraunces" pitchFamily="34" charset="-120"/>
              </a:rPr>
              <a:t>Three risks we can name honestly</a:t>
            </a:r>
            <a:endParaRPr lang="en-US" sz="3400" dirty="0"/>
          </a:p>
        </p:txBody>
      </p:sp>
      <p:sp>
        <p:nvSpPr>
          <p:cNvPr id="4" name="Shape 2"/>
          <p:cNvSpPr/>
          <p:nvPr/>
        </p:nvSpPr>
        <p:spPr>
          <a:xfrm>
            <a:off x="812800" y="2608610"/>
            <a:ext cx="3412034" cy="3233390"/>
          </a:xfrm>
          <a:prstGeom prst="roundRect">
            <a:avLst>
              <a:gd name="adj" fmla="val 4713"/>
            </a:avLst>
          </a:prstGeom>
          <a:solidFill>
            <a:srgbClr val="FBF9F4"/>
          </a:solidFill>
          <a:ln/>
        </p:spPr>
        <p:txBody>
          <a:bodyPr/>
          <a:lstStyle/>
          <a:p>
            <a:endParaRPr lang="en-US"/>
          </a:p>
        </p:txBody>
      </p:sp>
      <p:sp>
        <p:nvSpPr>
          <p:cNvPr id="5" name="Text 3"/>
          <p:cNvSpPr/>
          <p:nvPr/>
        </p:nvSpPr>
        <p:spPr>
          <a:xfrm>
            <a:off x="1092200" y="2888010"/>
            <a:ext cx="293883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3F6B5A"/>
                </a:solidFill>
                <a:latin typeface="Inter" pitchFamily="34" charset="0"/>
                <a:ea typeface="Inter" pitchFamily="34" charset="-122"/>
                <a:cs typeface="Inter" pitchFamily="34" charset="-120"/>
              </a:rPr>
              <a:t>Privacy</a:t>
            </a:r>
            <a:endParaRPr lang="en-US" sz="1800" dirty="0"/>
          </a:p>
        </p:txBody>
      </p:sp>
      <p:sp>
        <p:nvSpPr>
          <p:cNvPr id="6" name="Text 4"/>
          <p:cNvSpPr/>
          <p:nvPr/>
        </p:nvSpPr>
        <p:spPr>
          <a:xfrm>
            <a:off x="1092200" y="3276600"/>
            <a:ext cx="2938831" cy="23114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39443F"/>
                </a:solidFill>
                <a:latin typeface="Inter" pitchFamily="34" charset="0"/>
                <a:ea typeface="Inter" pitchFamily="34" charset="-122"/>
                <a:cs typeface="Inter" pitchFamily="34" charset="-120"/>
              </a:rPr>
              <a:t>Hio holds what someone wrote at 3am, their calendar, their habits. More revealing than a medical file, because it covers what they did and how they felt about it. Here it sits in a Google Sheet, and every conversation is logged in plain text.</a:t>
            </a:r>
            <a:endParaRPr lang="en-US" sz="1500" dirty="0"/>
          </a:p>
        </p:txBody>
      </p:sp>
      <p:sp>
        <p:nvSpPr>
          <p:cNvPr id="7" name="Shape 5"/>
          <p:cNvSpPr/>
          <p:nvPr/>
        </p:nvSpPr>
        <p:spPr>
          <a:xfrm>
            <a:off x="4389934" y="2608610"/>
            <a:ext cx="3412083" cy="3233390"/>
          </a:xfrm>
          <a:prstGeom prst="roundRect">
            <a:avLst>
              <a:gd name="adj" fmla="val 4713"/>
            </a:avLst>
          </a:prstGeom>
          <a:solidFill>
            <a:srgbClr val="FBF9F4"/>
          </a:solidFill>
          <a:ln/>
        </p:spPr>
        <p:txBody>
          <a:bodyPr/>
          <a:lstStyle/>
          <a:p>
            <a:endParaRPr lang="en-US"/>
          </a:p>
        </p:txBody>
      </p:sp>
      <p:sp>
        <p:nvSpPr>
          <p:cNvPr id="8" name="Text 6"/>
          <p:cNvSpPr/>
          <p:nvPr/>
        </p:nvSpPr>
        <p:spPr>
          <a:xfrm>
            <a:off x="4669334" y="2888010"/>
            <a:ext cx="29388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3F6B5A"/>
                </a:solidFill>
                <a:latin typeface="Inter" pitchFamily="34" charset="0"/>
                <a:ea typeface="Inter" pitchFamily="34" charset="-122"/>
                <a:cs typeface="Inter" pitchFamily="34" charset="-120"/>
              </a:rPr>
              <a:t>Dependency</a:t>
            </a:r>
            <a:endParaRPr lang="en-US" sz="1800" dirty="0"/>
          </a:p>
        </p:txBody>
      </p:sp>
      <p:sp>
        <p:nvSpPr>
          <p:cNvPr id="9" name="Text 7"/>
          <p:cNvSpPr/>
          <p:nvPr/>
        </p:nvSpPr>
        <p:spPr>
          <a:xfrm>
            <a:off x="4669334" y="3276600"/>
            <a:ext cx="2938882" cy="2025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39443F"/>
                </a:solidFill>
                <a:latin typeface="Inter" pitchFamily="34" charset="0"/>
                <a:ea typeface="Inter" pitchFamily="34" charset="-122"/>
                <a:cs typeface="Inter" pitchFamily="34" charset="-120"/>
              </a:rPr>
              <a:t>We made Hio warm, funny and awake at any hour. For someone isolated, that is exactly the risk. Easier than people is not better than people, and it has no real understanding of them.</a:t>
            </a:r>
            <a:endParaRPr lang="en-US" sz="1500" dirty="0"/>
          </a:p>
        </p:txBody>
      </p:sp>
      <p:sp>
        <p:nvSpPr>
          <p:cNvPr id="10" name="Shape 8"/>
          <p:cNvSpPr/>
          <p:nvPr/>
        </p:nvSpPr>
        <p:spPr>
          <a:xfrm>
            <a:off x="7967117" y="2608610"/>
            <a:ext cx="3412083" cy="3233390"/>
          </a:xfrm>
          <a:prstGeom prst="roundRect">
            <a:avLst>
              <a:gd name="adj" fmla="val 4713"/>
            </a:avLst>
          </a:prstGeom>
          <a:solidFill>
            <a:srgbClr val="1D2B2A"/>
          </a:solidFill>
          <a:ln/>
        </p:spPr>
        <p:txBody>
          <a:bodyPr/>
          <a:lstStyle/>
          <a:p>
            <a:endParaRPr lang="en-US"/>
          </a:p>
        </p:txBody>
      </p:sp>
      <p:sp>
        <p:nvSpPr>
          <p:cNvPr id="11" name="Text 9"/>
          <p:cNvSpPr/>
          <p:nvPr/>
        </p:nvSpPr>
        <p:spPr>
          <a:xfrm>
            <a:off x="8246517" y="2888010"/>
            <a:ext cx="29388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D9975B"/>
                </a:solidFill>
                <a:latin typeface="Inter" pitchFamily="34" charset="0"/>
                <a:ea typeface="Inter" pitchFamily="34" charset="-122"/>
                <a:cs typeface="Inter" pitchFamily="34" charset="-120"/>
              </a:rPr>
              <a:t>Accountability</a:t>
            </a:r>
            <a:endParaRPr lang="en-US" sz="1800" dirty="0"/>
          </a:p>
        </p:txBody>
      </p:sp>
      <p:sp>
        <p:nvSpPr>
          <p:cNvPr id="12" name="Text 10"/>
          <p:cNvSpPr/>
          <p:nvPr/>
        </p:nvSpPr>
        <p:spPr>
          <a:xfrm>
            <a:off x="8246517" y="3276600"/>
            <a:ext cx="2938882" cy="2025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DCE4E0"/>
                </a:solidFill>
                <a:latin typeface="Inter" pitchFamily="34" charset="0"/>
                <a:ea typeface="Inter" pitchFamily="34" charset="-122"/>
                <a:cs typeface="Inter" pitchFamily="34" charset="-120"/>
              </a:rPr>
              <a:t>While building this, Hio told me a task was ticked off. It wasn't, and it said so twice, with full confidence. Harmless here. Scale that to "you seem better this week" and nobody is responsible.</a:t>
            </a:r>
            <a:endParaRPr lang="en-US" sz="1500" dirty="0"/>
          </a:p>
        </p:txBody>
      </p:sp>
      <p:sp>
        <p:nvSpPr>
          <p:cNvPr id="13" name="Text 11"/>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Health data under the GDPR · fine for a prototype, not for a real user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3F6B5A"/>
                </a:solidFill>
                <a:latin typeface="Inter" pitchFamily="34" charset="0"/>
                <a:ea typeface="Inter" pitchFamily="34" charset="-122"/>
                <a:cs typeface="Inter" pitchFamily="34" charset="-120"/>
              </a:rPr>
              <a:t>WHERE AUTOMATION STOPS</a:t>
            </a:r>
            <a:endParaRPr lang="en-US" sz="1300" dirty="0"/>
          </a:p>
        </p:txBody>
      </p:sp>
      <p:sp>
        <p:nvSpPr>
          <p:cNvPr id="3" name="Text 1"/>
          <p:cNvSpPr/>
          <p:nvPr/>
        </p:nvSpPr>
        <p:spPr>
          <a:xfrm>
            <a:off x="812800" y="1196330"/>
            <a:ext cx="9483725" cy="1018480"/>
          </a:xfrm>
          <a:prstGeom prst="rect">
            <a:avLst/>
          </a:prstGeom>
          <a:noFill/>
          <a:ln/>
        </p:spPr>
        <p:txBody>
          <a:bodyPr wrap="square" lIns="0" tIns="0" rIns="0" bIns="0" rtlCol="0" anchor="t">
            <a:normAutofit/>
          </a:bodyPr>
          <a:lstStyle/>
          <a:p>
            <a:pPr marL="0" indent="0" algn="l">
              <a:lnSpc>
                <a:spcPts val="3910"/>
              </a:lnSpc>
              <a:buNone/>
            </a:pPr>
            <a:r>
              <a:rPr lang="en-US" sz="3400" dirty="0">
                <a:solidFill>
                  <a:srgbClr val="1D2B2A"/>
                </a:solidFill>
                <a:latin typeface="Fraunces" pitchFamily="34" charset="0"/>
                <a:ea typeface="Fraunces" pitchFamily="34" charset="-122"/>
                <a:cs typeface="Fraunces" pitchFamily="34" charset="-120"/>
              </a:rPr>
              <a:t>The moment risk appears, Hio stops being useful</a:t>
            </a:r>
            <a:endParaRPr lang="en-US" sz="3400" dirty="0"/>
          </a:p>
        </p:txBody>
      </p:sp>
      <p:sp>
        <p:nvSpPr>
          <p:cNvPr id="4" name="Shape 2"/>
          <p:cNvSpPr/>
          <p:nvPr/>
        </p:nvSpPr>
        <p:spPr>
          <a:xfrm>
            <a:off x="812800" y="2846536"/>
            <a:ext cx="3098800" cy="1858814"/>
          </a:xfrm>
          <a:prstGeom prst="roundRect">
            <a:avLst>
              <a:gd name="adj" fmla="val 6832"/>
            </a:avLst>
          </a:prstGeom>
          <a:solidFill>
            <a:srgbClr val="FBF9F4"/>
          </a:solidFill>
          <a:ln/>
        </p:spPr>
        <p:txBody>
          <a:bodyPr/>
          <a:lstStyle/>
          <a:p>
            <a:endParaRPr lang="en-US"/>
          </a:p>
        </p:txBody>
      </p:sp>
      <p:sp>
        <p:nvSpPr>
          <p:cNvPr id="5" name="Text 3"/>
          <p:cNvSpPr/>
          <p:nvPr/>
        </p:nvSpPr>
        <p:spPr>
          <a:xfrm>
            <a:off x="1054100" y="3062436"/>
            <a:ext cx="2694686" cy="1452414"/>
          </a:xfrm>
          <a:prstGeom prst="rect">
            <a:avLst/>
          </a:prstGeom>
          <a:noFill/>
          <a:ln/>
        </p:spPr>
        <p:txBody>
          <a:bodyPr wrap="square" lIns="0" tIns="0" rIns="0" bIns="0" rtlCol="0" anchor="t">
            <a:normAutofit/>
          </a:bodyPr>
          <a:lstStyle/>
          <a:p>
            <a:pPr marL="0" indent="0" algn="l">
              <a:lnSpc>
                <a:spcPts val="2248"/>
              </a:lnSpc>
              <a:buNone/>
            </a:pPr>
            <a:r>
              <a:rPr lang="en-US" sz="1550" dirty="0">
                <a:solidFill>
                  <a:srgbClr val="39443F"/>
                </a:solidFill>
                <a:latin typeface="Inter" pitchFamily="34" charset="0"/>
                <a:ea typeface="Inter" pitchFamily="34" charset="-122"/>
                <a:cs typeface="Inter" pitchFamily="34" charset="-120"/>
              </a:rPr>
              <a:t>Every message is classified before anything else runs, at temperature zero so the same message always gets the same verdict</a:t>
            </a:r>
            <a:endParaRPr lang="en-US" sz="1550" dirty="0"/>
          </a:p>
        </p:txBody>
      </p:sp>
      <p:pic>
        <p:nvPicPr>
          <p:cNvPr id="6" name="Image 0" descr="arrow-right"/>
          <p:cNvPicPr>
            <a:picLocks noChangeAspect="1"/>
          </p:cNvPicPr>
          <p:nvPr/>
        </p:nvPicPr>
        <p:blipFill>
          <a:blip r:embed="rId3"/>
          <a:srcRect/>
          <a:stretch/>
        </p:blipFill>
        <p:spPr>
          <a:xfrm>
            <a:off x="4002532" y="3674318"/>
            <a:ext cx="355600" cy="228600"/>
          </a:xfrm>
          <a:prstGeom prst="rect">
            <a:avLst/>
          </a:prstGeom>
        </p:spPr>
      </p:pic>
      <p:sp>
        <p:nvSpPr>
          <p:cNvPr id="7" name="Shape 4"/>
          <p:cNvSpPr/>
          <p:nvPr/>
        </p:nvSpPr>
        <p:spPr>
          <a:xfrm>
            <a:off x="4391914" y="2846536"/>
            <a:ext cx="3408172" cy="1858814"/>
          </a:xfrm>
          <a:prstGeom prst="roundRect">
            <a:avLst>
              <a:gd name="adj" fmla="val 9860"/>
            </a:avLst>
          </a:prstGeom>
          <a:solidFill>
            <a:srgbClr val="FBF9F4"/>
          </a:solidFill>
          <a:ln/>
        </p:spPr>
        <p:txBody>
          <a:bodyPr/>
          <a:lstStyle/>
          <a:p>
            <a:endParaRPr lang="en-US"/>
          </a:p>
        </p:txBody>
      </p:sp>
      <p:sp>
        <p:nvSpPr>
          <p:cNvPr id="8" name="Text 5"/>
          <p:cNvSpPr/>
          <p:nvPr/>
        </p:nvSpPr>
        <p:spPr>
          <a:xfrm>
            <a:off x="4787900" y="3347839"/>
            <a:ext cx="2694686" cy="881608"/>
          </a:xfrm>
          <a:prstGeom prst="rect">
            <a:avLst/>
          </a:prstGeom>
          <a:noFill/>
          <a:ln/>
        </p:spPr>
        <p:txBody>
          <a:bodyPr wrap="square" lIns="0" tIns="0" rIns="0" bIns="0" rtlCol="0" anchor="t">
            <a:normAutofit/>
          </a:bodyPr>
          <a:lstStyle/>
          <a:p>
            <a:pPr marL="0" indent="0" algn="l">
              <a:lnSpc>
                <a:spcPts val="2248"/>
              </a:lnSpc>
              <a:buNone/>
            </a:pPr>
            <a:r>
              <a:rPr lang="en-US" dirty="0">
                <a:solidFill>
                  <a:srgbClr val="39443F"/>
                </a:solidFill>
                <a:latin typeface="Inter" pitchFamily="34" charset="0"/>
                <a:ea typeface="Inter" pitchFamily="34" charset="-122"/>
                <a:cs typeface="Inter" pitchFamily="34" charset="-120"/>
              </a:rPr>
              <a:t>Tuned to over-trigger, because a false alarm costs far less than a missed one</a:t>
            </a:r>
            <a:endParaRPr lang="en-US" dirty="0"/>
          </a:p>
        </p:txBody>
      </p:sp>
      <p:pic>
        <p:nvPicPr>
          <p:cNvPr id="9" name="Image 1" descr="arrow-right"/>
          <p:cNvPicPr>
            <a:picLocks noChangeAspect="1"/>
          </p:cNvPicPr>
          <p:nvPr/>
        </p:nvPicPr>
        <p:blipFill>
          <a:blip r:embed="rId3"/>
          <a:srcRect/>
          <a:stretch/>
        </p:blipFill>
        <p:spPr>
          <a:xfrm>
            <a:off x="7867650" y="3661618"/>
            <a:ext cx="355600" cy="228600"/>
          </a:xfrm>
          <a:prstGeom prst="rect">
            <a:avLst/>
          </a:prstGeom>
        </p:spPr>
      </p:pic>
      <p:sp>
        <p:nvSpPr>
          <p:cNvPr id="10" name="Shape 6"/>
          <p:cNvSpPr/>
          <p:nvPr/>
        </p:nvSpPr>
        <p:spPr>
          <a:xfrm>
            <a:off x="8280400" y="2989213"/>
            <a:ext cx="3098800" cy="1573411"/>
          </a:xfrm>
          <a:prstGeom prst="roundRect">
            <a:avLst>
              <a:gd name="adj" fmla="val 8072"/>
            </a:avLst>
          </a:prstGeom>
          <a:solidFill>
            <a:srgbClr val="1D2B2A"/>
          </a:solidFill>
          <a:ln/>
        </p:spPr>
        <p:txBody>
          <a:bodyPr/>
          <a:lstStyle/>
          <a:p>
            <a:endParaRPr lang="en-US"/>
          </a:p>
        </p:txBody>
      </p:sp>
      <p:sp>
        <p:nvSpPr>
          <p:cNvPr id="11" name="Text 7"/>
          <p:cNvSpPr/>
          <p:nvPr/>
        </p:nvSpPr>
        <p:spPr>
          <a:xfrm>
            <a:off x="8521700" y="3205113"/>
            <a:ext cx="2694686" cy="1167011"/>
          </a:xfrm>
          <a:prstGeom prst="rect">
            <a:avLst/>
          </a:prstGeom>
          <a:noFill/>
          <a:ln/>
        </p:spPr>
        <p:txBody>
          <a:bodyPr wrap="square" lIns="0" tIns="0" rIns="0" bIns="0" rtlCol="0" anchor="t">
            <a:normAutofit/>
          </a:bodyPr>
          <a:lstStyle/>
          <a:p>
            <a:pPr marL="0" indent="0" algn="l">
              <a:lnSpc>
                <a:spcPts val="2248"/>
              </a:lnSpc>
              <a:buNone/>
            </a:pPr>
            <a:r>
              <a:rPr lang="en-US" sz="1550" dirty="0">
                <a:solidFill>
                  <a:srgbClr val="DCE4E0"/>
                </a:solidFill>
                <a:latin typeface="Inter" pitchFamily="34" charset="0"/>
                <a:ea typeface="Inter" pitchFamily="34" charset="-122"/>
                <a:cs typeface="Inter" pitchFamily="34" charset="-120"/>
              </a:rPr>
              <a:t>Hio says plainly that it is an AI and cannot give what is needed, then hands over to 113</a:t>
            </a:r>
            <a:endParaRPr lang="en-US" sz="1550" dirty="0"/>
          </a:p>
        </p:txBody>
      </p:sp>
      <p:sp>
        <p:nvSpPr>
          <p:cNvPr id="12" name="Shape 8"/>
          <p:cNvSpPr/>
          <p:nvPr/>
        </p:nvSpPr>
        <p:spPr>
          <a:xfrm>
            <a:off x="812800" y="4845050"/>
            <a:ext cx="10566400" cy="996950"/>
          </a:xfrm>
          <a:prstGeom prst="roundRect">
            <a:avLst>
              <a:gd name="adj" fmla="val 12739"/>
            </a:avLst>
          </a:prstGeom>
          <a:solidFill>
            <a:srgbClr val="F7E9D8"/>
          </a:solidFill>
          <a:ln/>
        </p:spPr>
        <p:txBody>
          <a:bodyPr/>
          <a:lstStyle/>
          <a:p>
            <a:endParaRPr lang="en-US"/>
          </a:p>
        </p:txBody>
      </p:sp>
      <p:sp>
        <p:nvSpPr>
          <p:cNvPr id="13" name="Text 9"/>
          <p:cNvSpPr/>
          <p:nvPr/>
        </p:nvSpPr>
        <p:spPr>
          <a:xfrm>
            <a:off x="1054100" y="5048250"/>
            <a:ext cx="10386314" cy="615950"/>
          </a:xfrm>
          <a:prstGeom prst="rect">
            <a:avLst/>
          </a:prstGeom>
          <a:noFill/>
          <a:ln/>
        </p:spPr>
        <p:txBody>
          <a:bodyPr wrap="square" lIns="0" tIns="0" rIns="0" bIns="0" rtlCol="0" anchor="t">
            <a:normAutofit/>
          </a:bodyPr>
          <a:lstStyle/>
          <a:p>
            <a:pPr marL="0" indent="0" algn="l">
              <a:lnSpc>
                <a:spcPts val="2325"/>
              </a:lnSpc>
              <a:buNone/>
            </a:pPr>
            <a:r>
              <a:rPr lang="en-US" sz="1550" dirty="0">
                <a:solidFill>
                  <a:srgbClr val="7A4F18"/>
                </a:solidFill>
                <a:latin typeface="Inter" pitchFamily="34" charset="0"/>
                <a:ea typeface="Inter" pitchFamily="34" charset="-122"/>
                <a:cs typeface="Inter" pitchFamily="34" charset="-120"/>
              </a:rPr>
              <a:t>The crisis numbers are written into the workflow, not generated by the model. If the AI fails completely, they still go out unchanged. Hio does not coach, assess or try to talk anyone down.</a:t>
            </a:r>
            <a:endParaRPr lang="en-US" sz="1550" dirty="0"/>
          </a:p>
        </p:txBody>
      </p:sp>
      <p:sp>
        <p:nvSpPr>
          <p:cNvPr id="14" name="Text 10"/>
          <p:cNvSpPr/>
          <p:nvPr/>
        </p:nvSpPr>
        <p:spPr>
          <a:xfrm>
            <a:off x="812800" y="6071096"/>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663"/>
                </a:solidFill>
                <a:latin typeface="Inter" pitchFamily="34" charset="0"/>
                <a:ea typeface="Inter" pitchFamily="34" charset="-122"/>
                <a:cs typeface="Inter" pitchFamily="34" charset="-120"/>
              </a:rPr>
              <a:t>Would I trust it for my own health? For planning and journaling, yes. For a crisis, never on its own.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2B2A"/>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9207500" y="762000"/>
            <a:ext cx="2159000" cy="2159000"/>
          </a:xfrm>
          <a:prstGeom prst="rect">
            <a:avLst/>
          </a:prstGeom>
        </p:spPr>
      </p:pic>
      <p:sp>
        <p:nvSpPr>
          <p:cNvPr id="3" name="Text 0"/>
          <p:cNvSpPr/>
          <p:nvPr/>
        </p:nvSpPr>
        <p:spPr>
          <a:xfrm>
            <a:off x="623937" y="1968500"/>
            <a:ext cx="10883392" cy="977900"/>
          </a:xfrm>
          <a:prstGeom prst="rect">
            <a:avLst/>
          </a:prstGeom>
          <a:noFill/>
          <a:ln/>
        </p:spPr>
        <p:txBody>
          <a:bodyPr wrap="square" lIns="0" tIns="0" rIns="0" bIns="0" rtlCol="0" anchor="t">
            <a:normAutofit/>
          </a:bodyPr>
          <a:lstStyle/>
          <a:p>
            <a:pPr marL="0" indent="0" algn="l">
              <a:lnSpc>
                <a:spcPts val="7500"/>
              </a:lnSpc>
              <a:buNone/>
            </a:pPr>
            <a:r>
              <a:rPr lang="en-US" sz="7500" dirty="0">
                <a:solidFill>
                  <a:srgbClr val="F3EFE6"/>
                </a:solidFill>
                <a:latin typeface="Fraunces" pitchFamily="34" charset="0"/>
                <a:ea typeface="Fraunces" pitchFamily="34" charset="-122"/>
                <a:cs typeface="Fraunces" pitchFamily="34" charset="-120"/>
              </a:rPr>
              <a:t>Thank you</a:t>
            </a:r>
            <a:endParaRPr lang="en-US" sz="7500" dirty="0"/>
          </a:p>
        </p:txBody>
      </p:sp>
      <p:sp>
        <p:nvSpPr>
          <p:cNvPr id="4" name="Text 1"/>
          <p:cNvSpPr/>
          <p:nvPr/>
        </p:nvSpPr>
        <p:spPr>
          <a:xfrm>
            <a:off x="812800" y="3378200"/>
            <a:ext cx="8502650" cy="772120"/>
          </a:xfrm>
          <a:prstGeom prst="rect">
            <a:avLst/>
          </a:prstGeom>
          <a:noFill/>
          <a:ln/>
        </p:spPr>
        <p:txBody>
          <a:bodyPr wrap="square" lIns="0" tIns="0" rIns="0" bIns="0" rtlCol="0" anchor="t">
            <a:normAutofit/>
          </a:bodyPr>
          <a:lstStyle/>
          <a:p>
            <a:pPr marL="0" indent="0" algn="l">
              <a:lnSpc>
                <a:spcPts val="2940"/>
              </a:lnSpc>
              <a:buNone/>
            </a:pPr>
            <a:r>
              <a:rPr lang="en-US" sz="2100" dirty="0">
                <a:solidFill>
                  <a:srgbClr val="DCE4E0"/>
                </a:solidFill>
                <a:latin typeface="Inter" pitchFamily="34" charset="0"/>
                <a:ea typeface="Inter" pitchFamily="34" charset="-122"/>
                <a:cs typeface="Inter" pitchFamily="34" charset="-120"/>
              </a:rPr>
              <a:t>A companion for ordinary days, with a clear exit to humans for the days that are not.</a:t>
            </a:r>
            <a:endParaRPr lang="en-US" sz="2100" dirty="0"/>
          </a:p>
        </p:txBody>
      </p:sp>
      <p:sp>
        <p:nvSpPr>
          <p:cNvPr id="5" name="Text 2"/>
          <p:cNvSpPr/>
          <p:nvPr/>
        </p:nvSpPr>
        <p:spPr>
          <a:xfrm>
            <a:off x="812800" y="5742980"/>
            <a:ext cx="1187648"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DCE4E0"/>
                </a:solidFill>
                <a:latin typeface="Inter" pitchFamily="34" charset="0"/>
                <a:ea typeface="Inter" pitchFamily="34" charset="-122"/>
                <a:cs typeface="Inter" pitchFamily="34" charset="-120"/>
              </a:rPr>
              <a:t>Questions?</a:t>
            </a:r>
            <a:endParaRPr lang="en-US" sz="1700" dirty="0"/>
          </a:p>
        </p:txBody>
      </p:sp>
      <p:sp>
        <p:nvSpPr>
          <p:cNvPr id="6" name="Text 3"/>
          <p:cNvSpPr/>
          <p:nvPr/>
        </p:nvSpPr>
        <p:spPr>
          <a:xfrm>
            <a:off x="9015313" y="5814070"/>
            <a:ext cx="243480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7C4BF"/>
                </a:solidFill>
                <a:latin typeface="Inter" pitchFamily="34" charset="0"/>
                <a:ea typeface="Inter" pitchFamily="34" charset="-122"/>
                <a:cs typeface="Inter" pitchFamily="34" charset="-120"/>
              </a:rPr>
              <a:t>Majed Al-Sakkaf · SDG 3 · n8n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1402</Words>
  <Application>Microsoft Macintosh PowerPoint</Application>
  <PresentationFormat>Widescreen</PresentationFormat>
  <Paragraphs>141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Fraunces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Hio — SDG 3 n8n project</dc:title>
  <dc:subject>PptxGenJS Presentation</dc:subject>
  <dc:creator>PptxGenJS</dc:creator>
  <cp:lastModifiedBy>Majed Al-Sakkaf (23121386)</cp:lastModifiedBy>
  <cp:revision>2</cp:revision>
  <dcterms:created xsi:type="dcterms:W3CDTF">2026-09-18T03:12:07Z</dcterms:created>
  <dcterms:modified xsi:type="dcterms:W3CDTF">2026-09-18T06:14:04Z</dcterms:modified>
</cp:coreProperties>
</file>